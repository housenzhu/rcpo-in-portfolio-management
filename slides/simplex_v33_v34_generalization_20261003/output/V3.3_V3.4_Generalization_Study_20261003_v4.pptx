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2d46c92276428a" /><Relationship Type="http://schemas.openxmlformats.org/officeDocument/2006/relationships/extended-properties" Target="/docProps/app.xml" Id="R1999b7b1df304fce" /><Relationship Type="http://schemas.openxmlformats.org/officeDocument/2006/relationships/officeDocument" Target="/ppt/presentation.xml" Id="Ra3b256d5f062496f" /></Relationships>
</file>

<file path=ppt/presentation.xml><?xml version="1.0" encoding="utf-8"?>
<p:presentation xmlns:p="http://schemas.openxmlformats.org/presentationml/2006/main">
  <p:sldMasterIdLst>
    <p:sldMasterId xmlns:r="http://schemas.openxmlformats.org/officeDocument/2006/relationships" id="2147483648" r:id="Rc25d6e3199044cfd"/>
  </p:sldMasterIdLst>
  <p:notesMasterIdLst>
    <p:notesMasterId xmlns:r="http://schemas.openxmlformats.org/officeDocument/2006/relationships" r:id="R674c7acf37564854"/>
  </p:notesMasterIdLst>
  <p:sldIdLst>
    <p:sldId xmlns:r="http://schemas.openxmlformats.org/officeDocument/2006/relationships" id="256" r:id="R49ab8451dde14d04"/>
    <p:sldId xmlns:r="http://schemas.openxmlformats.org/officeDocument/2006/relationships" id="257" r:id="R95ad69f578fd4970"/>
    <p:sldId xmlns:r="http://schemas.openxmlformats.org/officeDocument/2006/relationships" id="258" r:id="R38514330bd184340"/>
    <p:sldId xmlns:r="http://schemas.openxmlformats.org/officeDocument/2006/relationships" id="259" r:id="Rc21b723feacb412f"/>
    <p:sldId xmlns:r="http://schemas.openxmlformats.org/officeDocument/2006/relationships" id="260" r:id="R5192bccb6cb24343"/>
    <p:sldId xmlns:r="http://schemas.openxmlformats.org/officeDocument/2006/relationships" id="261" r:id="Rb1c39d4b7a624bbb"/>
    <p:sldId xmlns:r="http://schemas.openxmlformats.org/officeDocument/2006/relationships" id="262" r:id="R48f107d8a9e4402e"/>
    <p:sldId xmlns:r="http://schemas.openxmlformats.org/officeDocument/2006/relationships" id="263" r:id="Rba6b877995364975"/>
    <p:sldId xmlns:r="http://schemas.openxmlformats.org/officeDocument/2006/relationships" id="264" r:id="R1553c8dc9d8143ea"/>
    <p:sldId xmlns:r="http://schemas.openxmlformats.org/officeDocument/2006/relationships" id="265" r:id="R03aa225a34c34ce5"/>
    <p:sldId xmlns:r="http://schemas.openxmlformats.org/officeDocument/2006/relationships" id="266" r:id="R60c700682f2d4f78"/>
    <p:sldId xmlns:r="http://schemas.openxmlformats.org/officeDocument/2006/relationships" id="267" r:id="R82d4015dfd3143be"/>
    <p:sldId xmlns:r="http://schemas.openxmlformats.org/officeDocument/2006/relationships" id="268" r:id="R8066647563f347f8"/>
    <p:sldId xmlns:r="http://schemas.openxmlformats.org/officeDocument/2006/relationships" id="269" r:id="R681201afe2184fa1"/>
    <p:sldId xmlns:r="http://schemas.openxmlformats.org/officeDocument/2006/relationships" id="270" r:id="Rbc23311458474f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24f05b94644ec6" /><Relationship Type="http://schemas.openxmlformats.org/officeDocument/2006/relationships/slideMaster" Target="/ppt/slideMasters/slideMaster1.xml" Id="Rc25d6e3199044cfd" /><Relationship Type="http://schemas.openxmlformats.org/officeDocument/2006/relationships/notesMaster" Target="/ppt/notesMasters/notesMaster1.xml" Id="R674c7acf37564854" /><Relationship Type="http://schemas.openxmlformats.org/officeDocument/2006/relationships/presProps" Target="/ppt/presProps.xml" Id="Rb71991bc91394105" /><Relationship Type="http://schemas.openxmlformats.org/officeDocument/2006/relationships/tableStyles" Target="/ppt/tableStyles.xml" Id="Rca6de3c745834ae8" /><Relationship Type="http://schemas.openxmlformats.org/officeDocument/2006/relationships/slide" Target="/ppt/slides/slide1.xml" Id="R49ab8451dde14d04" /><Relationship Type="http://schemas.openxmlformats.org/officeDocument/2006/relationships/slide" Target="/ppt/slides/slide2.xml" Id="R95ad69f578fd4970" /><Relationship Type="http://schemas.openxmlformats.org/officeDocument/2006/relationships/slide" Target="/ppt/slides/slide3.xml" Id="R38514330bd184340" /><Relationship Type="http://schemas.openxmlformats.org/officeDocument/2006/relationships/slide" Target="/ppt/slides/slide4.xml" Id="Rc21b723feacb412f" /><Relationship Type="http://schemas.openxmlformats.org/officeDocument/2006/relationships/slide" Target="/ppt/slides/slide5.xml" Id="R5192bccb6cb24343" /><Relationship Type="http://schemas.openxmlformats.org/officeDocument/2006/relationships/slide" Target="/ppt/slides/slide6.xml" Id="Rb1c39d4b7a624bbb" /><Relationship Type="http://schemas.openxmlformats.org/officeDocument/2006/relationships/slide" Target="/ppt/slides/slide7.xml" Id="R48f107d8a9e4402e" /><Relationship Type="http://schemas.openxmlformats.org/officeDocument/2006/relationships/slide" Target="/ppt/slides/slide8.xml" Id="Rba6b877995364975" /><Relationship Type="http://schemas.openxmlformats.org/officeDocument/2006/relationships/slide" Target="/ppt/slides/slide9.xml" Id="R1553c8dc9d8143ea" /><Relationship Type="http://schemas.openxmlformats.org/officeDocument/2006/relationships/slide" Target="/ppt/slides/slide10.xml" Id="R03aa225a34c34ce5" /><Relationship Type="http://schemas.openxmlformats.org/officeDocument/2006/relationships/slide" Target="/ppt/slides/slide11.xml" Id="R60c700682f2d4f78" /><Relationship Type="http://schemas.openxmlformats.org/officeDocument/2006/relationships/slide" Target="/ppt/slides/slide12.xml" Id="R82d4015dfd3143be" /><Relationship Type="http://schemas.openxmlformats.org/officeDocument/2006/relationships/slide" Target="/ppt/slides/slide13.xml" Id="R8066647563f347f8" /><Relationship Type="http://schemas.openxmlformats.org/officeDocument/2006/relationships/slide" Target="/ppt/slides/slide14.xml" Id="R681201afe2184fa1" /><Relationship Type="http://schemas.openxmlformats.org/officeDocument/2006/relationships/slide" Target="/ppt/slides/slide15.xml" Id="Rbc23311458474f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d72321af8042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Warm Research">
      <a:dk1>
        <a:srgbClr val="000000"/>
      </a:dk1>
      <a:lt1>
        <a:srgbClr val="FFFFFF"/>
      </a:lt1>
      <a:dk2>
        <a:srgbClr val="25343D"/>
      </a:dk2>
      <a:lt2>
        <a:srgbClr val="F7F4EC"/>
      </a:lt2>
      <a:accent1>
        <a:srgbClr val="1F6F68"/>
      </a:accent1>
      <a:accent2>
        <a:srgbClr val="A84632"/>
      </a:accent2>
      <a:accent3>
        <a:srgbClr val="C46A2B"/>
      </a:accent3>
      <a:accent4>
        <a:srgbClr val="315F8D"/>
      </a:accent4>
      <a:accent5>
        <a:srgbClr val="D39A24"/>
      </a:accent5>
      <a:accent6>
        <a:srgbClr val="596979"/>
      </a:accent6>
      <a:hlink>
        <a:srgbClr val="315F8D"/>
      </a:hlink>
      <a:folHlink>
        <a:srgbClr val="A84632"/>
      </a:folHlink>
    </a:clrScheme>
    <a:fontScheme name="Office">
      <a:majorFont>
        <a:latin typeface="Calibri Light"/>
        <a:ea typeface="Calibri Light"/>
        <a:cs typeface="Calibri Light"/>
      </a:majorFont>
      <a:minorFont>
        <a:latin typeface="Calibri"/>
        <a:ea typeface="Calibri"/>
        <a:cs typeface="Calibri"/>
      </a:minorFont>
    </a:fontScheme>
    <a:fmtScheme name="Warm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db2c684563472b" /><Relationship Type="http://schemas.openxmlformats.org/officeDocument/2006/relationships/notesMaster" Target="/ppt/notesMasters/notesMaster1.xml" Id="R78af62b7dafb43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de1b06c5b54b3a" /><Relationship Type="http://schemas.openxmlformats.org/officeDocument/2006/relationships/notesMaster" Target="/ppt/notesMasters/notesMaster1.xml" Id="Ra5ac3ec900de46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f3731f0b704458" /><Relationship Type="http://schemas.openxmlformats.org/officeDocument/2006/relationships/notesMaster" Target="/ppt/notesMasters/notesMaster1.xml" Id="R2f54fbe45c3749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be19b4eda248f9" /><Relationship Type="http://schemas.openxmlformats.org/officeDocument/2006/relationships/notesMaster" Target="/ppt/notesMasters/notesMaster1.xml" Id="R22efe628b95943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3b64e83f6e4912" /><Relationship Type="http://schemas.openxmlformats.org/officeDocument/2006/relationships/notesMaster" Target="/ppt/notesMasters/notesMaster1.xml" Id="Rc0ecc8c6a9e64c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aab4239ac04797" /><Relationship Type="http://schemas.openxmlformats.org/officeDocument/2006/relationships/notesMaster" Target="/ppt/notesMasters/notesMaster1.xml" Id="R6ec042df2f0648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1a25258f5045d6" /><Relationship Type="http://schemas.openxmlformats.org/officeDocument/2006/relationships/notesMaster" Target="/ppt/notesMasters/notesMaster1.xml" Id="Racd9a71ac7284b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c8df61bfb34370" /><Relationship Type="http://schemas.openxmlformats.org/officeDocument/2006/relationships/notesMaster" Target="/ppt/notesMasters/notesMaster1.xml" Id="R9f947d402e8245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084774f8a2449f" /><Relationship Type="http://schemas.openxmlformats.org/officeDocument/2006/relationships/notesMaster" Target="/ppt/notesMasters/notesMaster1.xml" Id="R244acef06b154c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72cc191ee64772" /><Relationship Type="http://schemas.openxmlformats.org/officeDocument/2006/relationships/notesMaster" Target="/ppt/notesMasters/notesMaster1.xml" Id="R7bd5cf5aa62d4d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7380a56c5c439f" /><Relationship Type="http://schemas.openxmlformats.org/officeDocument/2006/relationships/notesMaster" Target="/ppt/notesMasters/notesMaster1.xml" Id="R9191ba0bdfb142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cbd5f2ba704c88" /><Relationship Type="http://schemas.openxmlformats.org/officeDocument/2006/relationships/notesMaster" Target="/ppt/notesMasters/notesMaster1.xml" Id="Rf7ca37a3ae9544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3ef88d61784f91" /><Relationship Type="http://schemas.openxmlformats.org/officeDocument/2006/relationships/notesMaster" Target="/ppt/notesMasters/notesMaster1.xml" Id="R507e8ff6159345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a3b33155064d2a" /><Relationship Type="http://schemas.openxmlformats.org/officeDocument/2006/relationships/notesMaster" Target="/ppt/notesMasters/notesMaster1.xml" Id="Ra53fe7f5baad4c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09260e87024cd1" /><Relationship Type="http://schemas.openxmlformats.org/officeDocument/2006/relationships/notesMaster" Target="/ppt/notesMasters/notesMaster1.xml" Id="R243a62ec676e4f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focus on generalization rather than the highest validation score. In V3.3 I explored several changes to the training market and policy. Those results suggested useful directions, but most comparisons used one seed and changed more than one factor. V3.4 therefore used paired experiments and three training seeds for the central questions. I then evaluated every policy on the same 100 independent one-year markets. This gives us stronger evidence about which effects repeat and which effects remain uncertain.</a:t>
            </a:r>
          </a:p>
          <a:p xmlns:a="http://schemas.openxmlformats.org/drawingml/2006/main">
            <a:r>
              <a:t/>
            </a:r>
          </a:p>
          <a:p xmlns:a="http://schemas.openxmlformats.org/drawingml/2006/main">
            <a:r>
              <a:t>Sources:</a:t>
            </a:r>
          </a:p>
          <a:p xmlns:a="http://schemas.openxmlformats.org/drawingml/2006/main">
            <a:r>
              <a:t>- reports/simplex_v33_v34_generalization_meeting_20261003.md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first explain what changed, before showing any evaluation result. In V3.3, I tested the idea that fewer but longer training markets might improve generalization. The market-design cases changed the number of markets between two and eight and the market length from 5,040 to 10,080 or 20,160 steps. I also explored policy and constraint variants, including Gaussian versus Dirichlet simplex policies, PPO versus RCPO, counterfactual reward, and a soft allocation-penalty comparison. These eleven configurations used only one training seed each, so they were intended to generate hypotheses rather than establish a robust winner.</a:t>
            </a:r>
          </a:p>
          <a:p xmlns:a="http://schemas.openxmlformats.org/drawingml/2006/main">
            <a:r>
              <a:t/>
            </a:r>
          </a:p>
          <a:p xmlns:a="http://schemas.openxmlformats.org/drawingml/2006/main">
            <a:r>
              <a:t>Sources:</a:t>
            </a:r>
          </a:p>
          <a:p xmlns:a="http://schemas.openxmlformats.org/drawingml/2006/main">
            <a:r>
              <a:t>- evaluation/v3.3_v3.4_professor_meeting/evaluation_manifest.csv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V3.4 changes the experimental design rather than replacing the core portfolio algorithm. The central comparison is a two-by-two factorial: two or eight markets, crossed with three or four optimizer epochs. Each cell uses seeds zero, one, and two, with market paths paired where the factor permits. I then compare the standalone branch reward with counterfactual branch reward under both epoch settings. The window and drawdown-margin sweeps test separate ideas, but each has one seed and therefore remains exploratory. This creates twenty-two new seed-runs and reuses two exact V3.3 controls. The purpose is to isolate effects and measure whether they repeat across seeds.</a:t>
            </a:r>
          </a:p>
          <a:p xmlns:a="http://schemas.openxmlformats.org/drawingml/2006/main">
            <a:r>
              <a:t/>
            </a:r>
          </a:p>
          <a:p xmlns:a="http://schemas.openxmlformats.org/drawingml/2006/main">
            <a:r>
              <a:t>Sources:</a:t>
            </a:r>
          </a:p>
          <a:p xmlns:a="http://schemas.openxmlformats.org/drawingml/2006/main">
            <a:r>
              <a:t>- evaluation/v3.3_v3.4_professor_meeting/evaluation_manifest.csv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V3.4 design is a two-by-two factorial experiment. I compare two versus eight training markets and three versus four optimization epochs. Each of the four conditions uses the same three seeds. I also compare standalone branch reward against counterfactual branch reward at both epoch settings. Finally, I run smaller exploratory sweeps for the observation window and drawdown margin. These last two sweeps have one seed, so I treat them as hypotheses rather than stable recommendations.</a:t>
            </a:r>
          </a:p>
          <a:p xmlns:a="http://schemas.openxmlformats.org/drawingml/2006/main">
            <a:r>
              <a:t/>
            </a:r>
          </a:p>
          <a:p xmlns:a="http://schemas.openxmlformats.org/drawingml/2006/main">
            <a:r>
              <a:t>Sources:</a:t>
            </a:r>
          </a:p>
          <a:p xmlns:a="http://schemas.openxmlformats.org/drawingml/2006/main">
            <a:r>
              <a:t>- evaluation/v3.3_v3.4_professor_meeting/evaluation_manifest.csv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discussing V3.3 and V3.4, I want to make the earlier training groups explicit. V2.6 used eight training markets of 5,040 steps, a 20-step lookback, and 60,000 updates. Four simplex arms crossed PPO or RCPO with Gaussian or Dirichlet policies. Two additional softmax RCPO arms penalized allocation violations, either alone or together with drawdown. V3.2 kept the same market design and focused on credit assignment. For Gaussian and Dirichlet RCPO, I tested counterfactual reward, counterfactual cost, and both together. The relevant comparator is the V2.6 standalone-reward, global-cost policy of the same distribution. Gaussian used three optimizer epochs and Dirichlet four, so a cross-distribution difference is not a pure distribution effect.</a:t>
            </a:r>
          </a:p>
          <a:p xmlns:a="http://schemas.openxmlformats.org/drawingml/2006/main">
            <a:r>
              <a:t/>
            </a:r>
          </a:p>
          <a:p xmlns:a="http://schemas.openxmlformats.org/drawingml/2006/main">
            <a:r>
              <a:t>Sources:</a:t>
            </a:r>
          </a:p>
          <a:p xmlns:a="http://schemas.openxmlformats.org/drawingml/2006/main">
            <a:r>
              <a:t>- evaluation/v3.3_v3.4_professor_meeting/evaluation_manifest.csv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summarizes the question asked by each version. V2.6 established the simplex and soft-penalty baselines. V3.2 changed the branch credit signal while keeping the market design fixed. V3.3 then tested the professor's market-diversity and market-length ideas, alongside a few method probes, but only at seed zero. V3.4 selected the most important questions for a more controlled study: a two-by-two market-count and epoch factorial with three matched seeds, a paired counterfactual-reward test, and separate single-seed lookback and drawdown-margin sweeps. The portfolio universe and hard allocation constraints remain the same. This sequence tells us which results are algorithm comparisons, which are market-design comparisons, and which have replicated evidence.</a:t>
            </a:r>
          </a:p>
          <a:p xmlns:a="http://schemas.openxmlformats.org/drawingml/2006/main">
            <a:r>
              <a:t/>
            </a:r>
          </a:p>
          <a:p xmlns:a="http://schemas.openxmlformats.org/drawingml/2006/main">
            <a:r>
              <a:t>Sources:</a:t>
            </a:r>
          </a:p>
          <a:p xmlns:a="http://schemas.openxmlformats.org/drawingml/2006/main">
            <a:r>
              <a:t>- evaluation/v3.3_v3.4_professor_meeting/evaluation_manifest.csv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uses a shared set of future markets. For each of five anchor histories, I generate 20 independent one-year continuations. Every policy sees exactly the same risky-asset returns. Return is reported relative to the constrained-neutral CAOSD baseline, which already satisfies the hard allocation constraints. For risk, I recompute every policy under one common drawdown rule so that different training margins remain comparable. I evaluate the return-selected and robust-feasible-selected checkpoints separately. The robust label refers to validation selection and is not a safety guarantee on unseen markets.</a:t>
            </a:r>
          </a:p>
          <a:p xmlns:a="http://schemas.openxmlformats.org/drawingml/2006/main">
            <a:r>
              <a:t/>
            </a:r>
          </a:p>
          <a:p xmlns:a="http://schemas.openxmlformats.org/drawingml/2006/main">
            <a:r>
              <a:t>Sources:</a:t>
            </a:r>
          </a:p>
          <a:p xmlns:a="http://schemas.openxmlformats.org/drawingml/2006/main">
            <a:r>
              <a:t>- evaluation/v3.3_v3.4_professor_meeting/comparison_summary.json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V3.3 first tested the professor's suggestion to use fewer but longer markets. With two markets, moving from 5,040 to 10,080 steps improved holdout return from 8.13 to 9.17 percent. Extending again to 20,160 steps reduced return to 7.74 percent. Therefore, longer training histories did not provide a monotonic benefit. The eight-market, 10,080-step condition produced a more favorable risk profile, with 42 percent common feasibility and 14.17 percent mean maximum drawdown. However, these are one-seed findings, so I use them to motivate V3.4 rather than rank final models.</a:t>
            </a:r>
          </a:p>
          <a:p xmlns:a="http://schemas.openxmlformats.org/drawingml/2006/main">
            <a:r>
              <a:t/>
            </a:r>
          </a:p>
          <a:p xmlns:a="http://schemas.openxmlformats.org/drawingml/2006/main">
            <a:r>
              <a:t>Sources:</a:t>
            </a:r>
          </a:p>
          <a:p xmlns:a="http://schemas.openxmlformats.org/drawingml/2006/main">
            <a:r>
              <a:t>- evaluation/v3.3_v3.4_professor_meeting/v33_01_market_design_return.png</a:t>
            </a:r>
          </a:p>
          <a:p xmlns:a="http://schemas.openxmlformats.org/drawingml/2006/main">
            <a:r>
              <a:t>- evaluation/v3.3_v3.4_professor_meeting/v33_02_market_design_risk.png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three-seed factorial does not identify one setting that dominates all metrics. Eight markets with three epochs produces the highest mean return at 8.06 percent, while two markets with four epochs is very close at 8.03 percent. Eight markets with four epochs has the lowest return at 7.01 percent, but its common feasibility is slightly higher. The seed points matter because the condition differences are often smaller than the spread between seeds. I therefore focus on paired effects rather than selecting the largest mean alone.</a:t>
            </a:r>
          </a:p>
          <a:p xmlns:a="http://schemas.openxmlformats.org/drawingml/2006/main">
            <a:r>
              <a:t/>
            </a:r>
          </a:p>
          <a:p xmlns:a="http://schemas.openxmlformats.org/drawingml/2006/main">
            <a:r>
              <a:t>Sources:</a:t>
            </a:r>
          </a:p>
          <a:p xmlns:a="http://schemas.openxmlformats.org/drawingml/2006/main">
            <a:r>
              <a:t>- evaluation/v3.3_v3.4_professor_meeting/v34_01_factorial_best_return.png</a:t>
            </a:r>
          </a:p>
          <a:p xmlns:a="http://schemas.openxmlformats.org/drawingml/2006/main">
            <a:r>
              <a:t>- evaluation/v3.3_v3.4_professor_meeting/seed_summary.csv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analysis changes the interpretation. At three epochs, increasing the market count from two to eight improves return for all three seeds, but the average gain is only 0.40 percentage points. At four epochs, the same market-count change reduces return by 1.02 percentage points. The fourth epoch gives a small average gain with two markets, but only one seed improves. With eight markets, all three seeds become worse. This suggests an interaction between data diversity and optimization intensity. A fourth epoch is not a generally better setting.</a:t>
            </a:r>
          </a:p>
          <a:p xmlns:a="http://schemas.openxmlformats.org/drawingml/2006/main">
            <a:r>
              <a:t/>
            </a:r>
          </a:p>
          <a:p xmlns:a="http://schemas.openxmlformats.org/drawingml/2006/main">
            <a:r>
              <a:t>Sources:</a:t>
            </a:r>
          </a:p>
          <a:p xmlns:a="http://schemas.openxmlformats.org/drawingml/2006/main">
            <a:r>
              <a:t>- evaluation/v3.3_v3.4_professor_meeting/v34_04_factorial_paired_effects.png</a:t>
            </a:r>
          </a:p>
          <a:p xmlns:a="http://schemas.openxmlformats.org/drawingml/2006/main">
            <a:r>
              <a:t>- evaluation/v3.3_v3.4_professor_meeting/paired_effects.csv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counterfactual reward experiment tests whether branch-specific marginal reward improves credit assignment. It does not produce a replicated return gain. At three epochs, all three seeds lose return and the mean reduction is 1.20 percentage points. At the same time, common feasibility improves by 6.7 percentage points and maximum drawdown decreases by 0.68 percentage points. At four epochs, the return cost is smaller but still negative for all seeds, while risk changes are inconsistent. I interpret this as a return-risk trade-off, not evidence that the present counterfactual method learns a better return policy.</a:t>
            </a:r>
          </a:p>
          <a:p xmlns:a="http://schemas.openxmlformats.org/drawingml/2006/main">
            <a:r>
              <a:t/>
            </a:r>
          </a:p>
          <a:p xmlns:a="http://schemas.openxmlformats.org/drawingml/2006/main">
            <a:r>
              <a:t>Sources:</a:t>
            </a:r>
          </a:p>
          <a:p xmlns:a="http://schemas.openxmlformats.org/drawingml/2006/main">
            <a:r>
              <a:t>- evaluation/v3.3_v3.4_professor_meeting/v34_05_credit_return.png</a:t>
            </a:r>
          </a:p>
          <a:p xmlns:a="http://schemas.openxmlformats.org/drawingml/2006/main">
            <a:r>
              <a:t>- evaluation/v3.3_v3.4_professor_meeting/v34_06_credit_risk.png</a:t>
            </a:r>
          </a:p>
          <a:p xmlns:a="http://schemas.openxmlformats.org/drawingml/2006/main">
            <a:r>
              <a:t>- evaluation/v3.3_v3.4_professor_meeting/paired_effects.csv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Checkpoint selection creates the clearest return-risk trade-off in the study. Return-selected checkpoints average 7.49 percent relative wealth and 30.7 percent common feasibility. Robust-feasible-selected checkpoints average 3.58 percent relative wealth and 45.4 percent feasibility, with lower mean maximum drawdown. This shows that validation-based risk selection has some transfer value. However, fewer than half of the holdout branches satisfy the common rule, so I should not call these checkpoints feasible without qualification. The correct label is robust-feasible-selected.</a:t>
            </a:r>
          </a:p>
          <a:p xmlns:a="http://schemas.openxmlformats.org/drawingml/2006/main">
            <a:r>
              <a:t/>
            </a:r>
          </a:p>
          <a:p xmlns:a="http://schemas.openxmlformats.org/drawingml/2006/main">
            <a:r>
              <a:t>Sources:</a:t>
            </a:r>
          </a:p>
          <a:p xmlns:a="http://schemas.openxmlformats.org/drawingml/2006/main">
            <a:r>
              <a:t>- evaluation/v3.3_v3.4_professor_meeting/overview_02_checkpoint_tradeoff.png</a:t>
            </a:r>
          </a:p>
          <a:p xmlns:a="http://schemas.openxmlformats.org/drawingml/2006/main">
            <a:r>
              <a:t>- evaluation/v3.3_v3.4_professor_meeting/comparison_summary.json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observation-window sweep suggests that more history can increase return, but the policy also becomes riskier. The 60-step model reaches 8.85 percent relative wealth, while maximum drawdown rises to 16.15 percent and common feasibility falls to 24 percent. The margin sweep gives another caution. Training with stricter margins of 0.85 or 0.80 does not improve feasibility when every model is evaluated under the same 0.90 rule. The stricter settings also reduce return. Because both sweeps use one seed, I treat these patterns as hypotheses for a later replicated study.</a:t>
            </a:r>
          </a:p>
          <a:p xmlns:a="http://schemas.openxmlformats.org/drawingml/2006/main">
            <a:r>
              <a:t/>
            </a:r>
          </a:p>
          <a:p xmlns:a="http://schemas.openxmlformats.org/drawingml/2006/main">
            <a:r>
              <a:t>Sources:</a:t>
            </a:r>
          </a:p>
          <a:p xmlns:a="http://schemas.openxmlformats.org/drawingml/2006/main">
            <a:r>
              <a:t>- evaluation/v3.3_v3.4_professor_meeting/v34_08_window_sweep.png</a:t>
            </a:r>
          </a:p>
          <a:p xmlns:a="http://schemas.openxmlformats.org/drawingml/2006/main">
            <a:r>
              <a:t>- evaluation/v3.3_v3.4_professor_meeting/v34_09_margin_sweep.png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broader comparison shows that the validation-to-holdout gap persists across versions. V2.6, V3.2, and V3.3 lose about 1.7 to 2.0 percentage points when moving from selected validation performance to the independent holdout. V3.4 loses 3.50 percentage points on average. The more rigorous V3.4 experiment therefore improves our confidence in the diagnosis, but it does not solve checkpoint-selection optimism. The next design should consider rotating validation anchors, a larger checkpoint-selection set, or a selection criterion that explicitly balances return and risk across independent branches.</a:t>
            </a:r>
          </a:p>
          <a:p xmlns:a="http://schemas.openxmlformats.org/drawingml/2006/main">
            <a:r>
              <a:t/>
            </a:r>
          </a:p>
          <a:p xmlns:a="http://schemas.openxmlformats.org/drawingml/2006/main">
            <a:r>
              <a:t>Sources:</a:t>
            </a:r>
          </a:p>
          <a:p xmlns:a="http://schemas.openxmlformats.org/drawingml/2006/main">
            <a:r>
              <a:t>- evaluation/v3.3_v3.4_professor_meeting/diagnostics_03_validation_to_holdout_gap.png</a:t>
            </a:r>
          </a:p>
          <a:p xmlns:a="http://schemas.openxmlformats.org/drawingml/2006/main">
            <a:r>
              <a:t>- evaluation/v3.3_v3.4_professor_meeting/overview_01_cross_version_return_risk.png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current conclusion is that the main algorithm can beat the constrained-neutral baseline on average, but the training choices have conditional effects and the risk constraint does not transfer strongly enough. The most repeatable market-count result appears at three epochs, where all three seeds improve when moving from two to eight markets, although the gain is small. Four epochs do not provide a stable advantage. Counterfactual reward reduces return in every paired seed, but it may be useful as a risk-oriented credit mechanism at three epochs. The largest remaining methodological issue is checkpoint selection. I would like to discuss whether the next experiment should first improve the validation and selection protocol, refine the counterfactual credit design, or begin a carefully controlled real-market study.</a:t>
            </a:r>
          </a:p>
          <a:p xmlns:a="http://schemas.openxmlformats.org/drawingml/2006/main">
            <a:r>
              <a:t/>
            </a:r>
          </a:p>
          <a:p xmlns:a="http://schemas.openxmlformats.org/drawingml/2006/main">
            <a:r>
              <a:t>Sources:</a:t>
            </a:r>
          </a:p>
          <a:p xmlns:a="http://schemas.openxmlformats.org/drawingml/2006/main">
            <a:r>
              <a:t>- reports/simplex_v33_v34_generalization_meeting_20261003.md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c0d9eb1a8e48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bdab7e02ef4de4" /><Relationship Type="http://schemas.openxmlformats.org/officeDocument/2006/relationships/slideLayout" Target="/ppt/slideLayouts/slideLayout1.xml" Id="Rb3b564e9225c4d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564e9225c4d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Warm Research">
      <a:dk1>
        <a:srgbClr val="000000"/>
      </a:dk1>
      <a:lt1>
        <a:srgbClr val="FFFFFF"/>
      </a:lt1>
      <a:dk2>
        <a:srgbClr val="25343D"/>
      </a:dk2>
      <a:lt2>
        <a:srgbClr val="F7F4EC"/>
      </a:lt2>
      <a:accent1>
        <a:srgbClr val="1F6F68"/>
      </a:accent1>
      <a:accent2>
        <a:srgbClr val="A84632"/>
      </a:accent2>
      <a:accent3>
        <a:srgbClr val="C46A2B"/>
      </a:accent3>
      <a:accent4>
        <a:srgbClr val="315F8D"/>
      </a:accent4>
      <a:accent5>
        <a:srgbClr val="D39A24"/>
      </a:accent5>
      <a:accent6>
        <a:srgbClr val="596979"/>
      </a:accent6>
      <a:hlink>
        <a:srgbClr val="315F8D"/>
      </a:hlink>
      <a:folHlink>
        <a:srgbClr val="A84632"/>
      </a:folHlink>
    </a:clrScheme>
    <a:fontScheme name="Office">
      <a:majorFont>
        <a:latin typeface="Calibri Light"/>
        <a:ea typeface="Calibri Light"/>
        <a:cs typeface="Calibri Light"/>
      </a:majorFont>
      <a:minorFont>
        <a:latin typeface="Calibri"/>
        <a:ea typeface="Calibri"/>
        <a:cs typeface="Calibri"/>
      </a:minorFont>
    </a:fontScheme>
    <a:fmtScheme name="Warm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b910de7f3843ee" /><Relationship Type="http://schemas.openxmlformats.org/officeDocument/2006/relationships/notesSlide" Target="/ppt/notesSlides/notesSlide1.xml" Id="Rd83997f482b94a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abfbe686f84f75" /><Relationship Type="http://schemas.openxmlformats.org/officeDocument/2006/relationships/notesSlide" Target="/ppt/notesSlides/notesSlide2.xml" Id="Rfafff69b0f444f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ff5044d91f4498" /><Relationship Type="http://schemas.openxmlformats.org/officeDocument/2006/relationships/notesSlide" Target="/ppt/notesSlides/notesSlide3.xml" Id="Reb70e807293348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acd469efae44c3" /><Relationship Type="http://schemas.openxmlformats.org/officeDocument/2006/relationships/notesSlide" Target="/ppt/notesSlides/notesSlide4.xml" Id="R36d0f1232f184f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cb45cb6c20420a" /><Relationship Type="http://schemas.openxmlformats.org/officeDocument/2006/relationships/notesSlide" Target="/ppt/notesSlides/notesSlide5.xml" Id="Raff64a29140444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de06a512674f4e" /><Relationship Type="http://schemas.openxmlformats.org/officeDocument/2006/relationships/notesSlide" Target="/ppt/notesSlides/notesSlide6.xml" Id="Rfc8031e6014c48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6a2801be72492a" /><Relationship Type="http://schemas.openxmlformats.org/officeDocument/2006/relationships/notesSlide" Target="/ppt/notesSlides/notesSlide7.xml" Id="Rc89aadc439684b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321e97a95f4796" /><Relationship Type="http://schemas.openxmlformats.org/officeDocument/2006/relationships/image" Target="/ppt/media/image.png" Id="R96ded6b97d5d4f62" /><Relationship Type="http://schemas.openxmlformats.org/officeDocument/2006/relationships/notesSlide" Target="/ppt/notesSlides/notesSlide8.xml" Id="R0bd4cfeff4ad49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0b8b77591d4251" /><Relationship Type="http://schemas.openxmlformats.org/officeDocument/2006/relationships/image" Target="/ppt/media/image2.png" Id="Rb6cbd0114082413b" /><Relationship Type="http://schemas.openxmlformats.org/officeDocument/2006/relationships/notesSlide" Target="/ppt/notesSlides/notesSlide9.xml" Id="R27faf738112840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c767847ef3416c" /><Relationship Type="http://schemas.openxmlformats.org/officeDocument/2006/relationships/image" Target="/ppt/media/image3.png" Id="R10eb76b953a7412c" /><Relationship Type="http://schemas.openxmlformats.org/officeDocument/2006/relationships/notesSlide" Target="/ppt/notesSlides/notesSlide10.xml" Id="Rf1f0761f14c04a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6e90b383c946fd" /><Relationship Type="http://schemas.openxmlformats.org/officeDocument/2006/relationships/image" Target="/ppt/media/image4.png" Id="R7676beb5dbbb4b6a" /><Relationship Type="http://schemas.openxmlformats.org/officeDocument/2006/relationships/image" Target="/ppt/media/image5.png" Id="R682dafe7c45e4aa5" /><Relationship Type="http://schemas.openxmlformats.org/officeDocument/2006/relationships/notesSlide" Target="/ppt/notesSlides/notesSlide11.xml" Id="Rf0edeadc30194c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b30c87615c4db6" /><Relationship Type="http://schemas.openxmlformats.org/officeDocument/2006/relationships/image" Target="/ppt/media/image6.png" Id="R37dbde98e3424e26" /><Relationship Type="http://schemas.openxmlformats.org/officeDocument/2006/relationships/notesSlide" Target="/ppt/notesSlides/notesSlide12.xml" Id="Rba96d748df6345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3571d53224441a3" /><Relationship Type="http://schemas.openxmlformats.org/officeDocument/2006/relationships/image" Target="/ppt/media/image7.png" Id="Rbfb9828ba4dc4b54" /><Relationship Type="http://schemas.openxmlformats.org/officeDocument/2006/relationships/image" Target="/ppt/media/image8.png" Id="R88e892446659478e" /><Relationship Type="http://schemas.openxmlformats.org/officeDocument/2006/relationships/notesSlide" Target="/ppt/notesSlides/notesSlide13.xml" Id="R799386d532da44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17f1558d174fbe" /><Relationship Type="http://schemas.openxmlformats.org/officeDocument/2006/relationships/image" Target="/ppt/media/image9.png" Id="Rb537b34d7c744559" /><Relationship Type="http://schemas.openxmlformats.org/officeDocument/2006/relationships/image" Target="/ppt/media/image10.png" Id="R93891f0e2754408d" /><Relationship Type="http://schemas.openxmlformats.org/officeDocument/2006/relationships/notesSlide" Target="/ppt/notesSlides/notesSlide14.xml" Id="Rfce8e6757bba43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f6da4e947e448b" /><Relationship Type="http://schemas.openxmlformats.org/officeDocument/2006/relationships/notesSlide" Target="/ppt/notesSlides/notesSlide15.xml" Id="R91771769ac1a47e2" /></Relationships>
</file>

<file path=ppt/slides/slide1.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3A9BAD9-B587-4A2B-95DA-FE1CE65A0468}"/>
              </a:ext>
            </a:extLst>
          </p:cNvPr>
          <p:cNvSpPr>
            <a:spLocks xmlns:a="http://schemas.openxmlformats.org/drawingml/2006/main" noGrp="1"/>
          </p:cNvSpPr>
          <p:nvPr/>
        </p:nvSpPr>
        <p:spPr>
          <a:xfrm xmlns:a="http://schemas.openxmlformats.org/drawingml/2006/main">
            <a:off x="762000" y="1009650"/>
            <a:ext cx="581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825" b="1" i="0">
                <a:solidFill>
                  <a:srgbClr val="17202A"/>
                </a:solidFill>
                <a:latin typeface="Aptos"/>
                <a:ea typeface="Aptos"/>
                <a:cs typeface="Aptos"/>
              </a:defRPr>
            </a:pPr>
            <a:r>
              <a:rPr sz="3825" b="1" i="0">
                <a:solidFill>
                  <a:srgbClr val="17202A"/>
                </a:solidFill>
                <a:latin typeface="Aptos"/>
                <a:ea typeface="Aptos"/>
                <a:cs typeface="Aptos"/>
              </a:rPr>
              <a:t>V3.3-V3.4</a:t>
            </a:r>
          </a:p>
          <a:p xmlns:a="http://schemas.openxmlformats.org/drawingml/2006/main">
            <a:pPr>
              <a:defRPr sz="3825" b="1" i="0">
                <a:solidFill>
                  <a:srgbClr val="17202A"/>
                </a:solidFill>
                <a:latin typeface="Aptos"/>
                <a:ea typeface="Aptos"/>
                <a:cs typeface="Aptos"/>
              </a:defRPr>
            </a:pPr>
            <a:r>
              <a:rPr sz="3825" b="1" i="0">
                <a:solidFill>
                  <a:srgbClr val="17202A"/>
                </a:solidFill>
                <a:latin typeface="Aptos"/>
                <a:ea typeface="Aptos"/>
                <a:cs typeface="Aptos"/>
              </a:rPr>
              <a:t>Generalization Study</a:t>
            </a:r>
          </a:p>
        </p:txBody>
      </p:sp>
      <p:sp>
        <p:nvSpPr>
          <p:cNvPr id="2" name="">
            <a:extLst xmlns:a="http://schemas.openxmlformats.org/drawingml/2006/main">
              <a:ext uri="{FF2B5EF4-FFF2-40B4-BE49-F238E27FC236}">
                <a16:creationId xmlns:a16="http://schemas.microsoft.com/office/drawing/2014/main" id="{D3DB6E4D-5AD2-4BA4-8CD8-3CCF760214D4}"/>
              </a:ext>
            </a:extLst>
          </p:cNvPr>
          <p:cNvSpPr>
            <a:spLocks xmlns:a="http://schemas.openxmlformats.org/drawingml/2006/main" noGrp="1"/>
          </p:cNvSpPr>
          <p:nvPr/>
        </p:nvSpPr>
        <p:spPr>
          <a:xfrm xmlns:a="http://schemas.openxmlformats.org/drawingml/2006/main">
            <a:off x="685800" y="2628900"/>
            <a:ext cx="2400300" cy="47625"/>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1FB3E5-0351-4A2F-89F7-5829C77BAAC4}"/>
              </a:ext>
            </a:extLst>
          </p:cNvPr>
          <p:cNvSpPr>
            <a:spLocks xmlns:a="http://schemas.openxmlformats.org/drawingml/2006/main" noGrp="1"/>
          </p:cNvSpPr>
          <p:nvPr/>
        </p:nvSpPr>
        <p:spPr>
          <a:xfrm xmlns:a="http://schemas.openxmlformats.org/drawingml/2006/main">
            <a:off x="781050" y="3028950"/>
            <a:ext cx="547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i="0">
                <a:solidFill>
                  <a:srgbClr val="596979"/>
                </a:solidFill>
                <a:latin typeface="Aptos"/>
                <a:ea typeface="Aptos"/>
                <a:cs typeface="Aptos"/>
              </a:defRPr>
            </a:pPr>
            <a:r>
              <a:rPr sz="1725" b="0" i="0">
                <a:solidFill>
                  <a:srgbClr val="596979"/>
                </a:solidFill>
                <a:latin typeface="Aptos"/>
                <a:ea typeface="Aptos"/>
                <a:cs typeface="Aptos"/>
              </a:rPr>
              <a:t>Replicated evidence on training diversity, branch credit, and drawdown control</a:t>
            </a:r>
          </a:p>
        </p:txBody>
      </p:sp>
      <p:sp>
        <p:nvSpPr>
          <p:cNvPr id="4" name="">
            <a:extLst xmlns:a="http://schemas.openxmlformats.org/drawingml/2006/main">
              <a:ext uri="{FF2B5EF4-FFF2-40B4-BE49-F238E27FC236}">
                <a16:creationId xmlns:a16="http://schemas.microsoft.com/office/drawing/2014/main" id="{7E218654-B515-4AA4-A0BC-AF1149DE1681}"/>
              </a:ext>
            </a:extLst>
          </p:cNvPr>
          <p:cNvSpPr>
            <a:spLocks xmlns:a="http://schemas.openxmlformats.org/drawingml/2006/main" noGrp="1"/>
          </p:cNvSpPr>
          <p:nvPr/>
        </p:nvSpPr>
        <p:spPr>
          <a:xfrm xmlns:a="http://schemas.openxmlformats.org/drawingml/2006/main">
            <a:off x="781050" y="38290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0" i="0">
                <a:solidFill>
                  <a:srgbClr val="596979"/>
                </a:solidFill>
                <a:latin typeface="Aptos"/>
                <a:ea typeface="Aptos"/>
                <a:cs typeface="Aptos"/>
              </a:defRPr>
            </a:pPr>
            <a:r>
              <a:rPr sz="1200" b="0" i="0">
                <a:solidFill>
                  <a:srgbClr val="596979"/>
                </a:solidFill>
                <a:latin typeface="Aptos"/>
                <a:ea typeface="Aptos"/>
                <a:cs typeface="Aptos"/>
              </a:rPr>
              <a:t>Weekly meeting update | 3 October 2026</a:t>
            </a:r>
          </a:p>
        </p:txBody>
      </p:sp>
      <p:sp>
        <p:nvSpPr>
          <p:cNvPr id="5" name="">
            <a:extLst xmlns:a="http://schemas.openxmlformats.org/drawingml/2006/main">
              <a:ext uri="{FF2B5EF4-FFF2-40B4-BE49-F238E27FC236}">
                <a16:creationId xmlns:a16="http://schemas.microsoft.com/office/drawing/2014/main" id="{F8226B01-0297-4998-914D-592A997AFE29}"/>
              </a:ext>
            </a:extLst>
          </p:cNvPr>
          <p:cNvSpPr>
            <a:spLocks xmlns:a="http://schemas.openxmlformats.org/drawingml/2006/main" noGrp="1"/>
          </p:cNvSpPr>
          <p:nvPr/>
        </p:nvSpPr>
        <p:spPr>
          <a:xfrm xmlns:a="http://schemas.openxmlformats.org/drawingml/2006/main">
            <a:off x="7334250" y="1143000"/>
            <a:ext cx="3857625" cy="1676400"/>
          </a:xfrm>
          <a:prstGeom xmlns:a="http://schemas.openxmlformats.org/drawingml/2006/main" prst="roundRect">
            <a:avLst>
              <a:gd name="adj" fmla="val 6818"/>
            </a:avLst>
          </a:prstGeom>
          <a:solidFill xmlns:a="http://schemas.openxmlformats.org/drawingml/2006/main">
            <a:srgbClr val="FFFAF1"/>
          </a:solidFill>
          <a:ln xmlns:a="http://schemas.openxmlformats.org/drawingml/2006/main" w="9525">
            <a:solidFill>
              <a:srgbClr val="DDCFBA"/>
            </a:solidFill>
            <a:prstDash val="solid"/>
          </a:ln>
        </p:spPr>
      </p:sp>
      <p:sp>
        <p:nvSpPr>
          <p:cNvPr id="6" name="">
            <a:extLst xmlns:a="http://schemas.openxmlformats.org/drawingml/2006/main">
              <a:ext uri="{FF2B5EF4-FFF2-40B4-BE49-F238E27FC236}">
                <a16:creationId xmlns:a16="http://schemas.microsoft.com/office/drawing/2014/main" id="{E5573AB7-5427-4CB1-94EE-CEE94A7F7A75}"/>
              </a:ext>
            </a:extLst>
          </p:cNvPr>
          <p:cNvSpPr>
            <a:spLocks xmlns:a="http://schemas.openxmlformats.org/drawingml/2006/main" noGrp="1"/>
          </p:cNvSpPr>
          <p:nvPr/>
        </p:nvSpPr>
        <p:spPr>
          <a:xfrm xmlns:a="http://schemas.openxmlformats.org/drawingml/2006/main">
            <a:off x="7334250" y="1143000"/>
            <a:ext cx="66675" cy="167640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287E1-3D9C-4A30-955B-999A7E9BAA40}"/>
              </a:ext>
            </a:extLst>
          </p:cNvPr>
          <p:cNvSpPr>
            <a:spLocks xmlns:a="http://schemas.openxmlformats.org/drawingml/2006/main" noGrp="1"/>
          </p:cNvSpPr>
          <p:nvPr/>
        </p:nvSpPr>
        <p:spPr>
          <a:xfrm xmlns:a="http://schemas.openxmlformats.org/drawingml/2006/main">
            <a:off x="7600950" y="1352550"/>
            <a:ext cx="3400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Meeting question</a:t>
            </a:r>
          </a:p>
        </p:txBody>
      </p:sp>
      <p:sp>
        <p:nvSpPr>
          <p:cNvPr id="8" name="">
            <a:extLst xmlns:a="http://schemas.openxmlformats.org/drawingml/2006/main">
              <a:ext uri="{FF2B5EF4-FFF2-40B4-BE49-F238E27FC236}">
                <a16:creationId xmlns:a16="http://schemas.microsoft.com/office/drawing/2014/main" id="{B7E384C4-A6A5-473A-A36C-7140C12D8C24}"/>
              </a:ext>
            </a:extLst>
          </p:cNvPr>
          <p:cNvSpPr>
            <a:spLocks xmlns:a="http://schemas.openxmlformats.org/drawingml/2006/main" noGrp="1"/>
          </p:cNvSpPr>
          <p:nvPr/>
        </p:nvSpPr>
        <p:spPr>
          <a:xfrm xmlns:a="http://schemas.openxmlformats.org/drawingml/2006/main">
            <a:off x="7600950" y="1762125"/>
            <a:ext cx="33623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7202A"/>
                </a:solidFill>
                <a:latin typeface="Aptos"/>
                <a:ea typeface="Aptos"/>
                <a:cs typeface="Aptos"/>
              </a:defRPr>
            </a:pPr>
            <a:r>
              <a:rPr sz="1425" b="0" i="0">
                <a:solidFill>
                  <a:srgbClr val="17202A"/>
                </a:solidFill>
                <a:latin typeface="Aptos"/>
                <a:ea typeface="Aptos"/>
                <a:cs typeface="Aptos"/>
              </a:rPr>
              <a:t>Which training changes improve performance across independent seeds and future markets?</a:t>
            </a:r>
          </a:p>
        </p:txBody>
      </p:sp>
      <p:sp>
        <p:nvSpPr>
          <p:cNvPr id="9" name="">
            <a:extLst xmlns:a="http://schemas.openxmlformats.org/drawingml/2006/main">
              <a:ext uri="{FF2B5EF4-FFF2-40B4-BE49-F238E27FC236}">
                <a16:creationId xmlns:a16="http://schemas.microsoft.com/office/drawing/2014/main" id="{06040E0F-A099-4EB0-9E05-EBBCEDFFB841}"/>
              </a:ext>
            </a:extLst>
          </p:cNvPr>
          <p:cNvSpPr>
            <a:spLocks xmlns:a="http://schemas.openxmlformats.org/drawingml/2006/main" noGrp="1"/>
          </p:cNvSpPr>
          <p:nvPr/>
        </p:nvSpPr>
        <p:spPr>
          <a:xfrm xmlns:a="http://schemas.openxmlformats.org/drawingml/2006/main">
            <a:off x="7334250" y="3238500"/>
            <a:ext cx="3857625" cy="1428750"/>
          </a:xfrm>
          <a:prstGeom xmlns:a="http://schemas.openxmlformats.org/drawingml/2006/main" prst="roundRect">
            <a:avLst>
              <a:gd name="adj" fmla="val 8000"/>
            </a:avLst>
          </a:prstGeom>
          <a:solidFill xmlns:a="http://schemas.openxmlformats.org/drawingml/2006/main">
            <a:srgbClr val="FFFAF1"/>
          </a:solidFill>
          <a:ln xmlns:a="http://schemas.openxmlformats.org/drawingml/2006/main" w="9525">
            <a:solidFill>
              <a:srgbClr val="DDCFBA"/>
            </a:solidFill>
            <a:prstDash val="solid"/>
          </a:ln>
        </p:spPr>
      </p:sp>
      <p:sp>
        <p:nvSpPr>
          <p:cNvPr id="10" name="">
            <a:extLst xmlns:a="http://schemas.openxmlformats.org/drawingml/2006/main">
              <a:ext uri="{FF2B5EF4-FFF2-40B4-BE49-F238E27FC236}">
                <a16:creationId xmlns:a16="http://schemas.microsoft.com/office/drawing/2014/main" id="{889FE966-E798-4492-AD84-E2C013E8E045}"/>
              </a:ext>
            </a:extLst>
          </p:cNvPr>
          <p:cNvSpPr>
            <a:spLocks xmlns:a="http://schemas.openxmlformats.org/drawingml/2006/main" noGrp="1"/>
          </p:cNvSpPr>
          <p:nvPr/>
        </p:nvSpPr>
        <p:spPr>
          <a:xfrm xmlns:a="http://schemas.openxmlformats.org/drawingml/2006/main">
            <a:off x="7334250" y="3238500"/>
            <a:ext cx="66675" cy="142875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AAAD16-145E-48A8-8CE0-86D470438704}"/>
              </a:ext>
            </a:extLst>
          </p:cNvPr>
          <p:cNvSpPr>
            <a:spLocks xmlns:a="http://schemas.openxmlformats.org/drawingml/2006/main" noGrp="1"/>
          </p:cNvSpPr>
          <p:nvPr/>
        </p:nvSpPr>
        <p:spPr>
          <a:xfrm xmlns:a="http://schemas.openxmlformats.org/drawingml/2006/main">
            <a:off x="7600950" y="3448050"/>
            <a:ext cx="3400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Evidence base</a:t>
            </a:r>
          </a:p>
        </p:txBody>
      </p:sp>
      <p:sp>
        <p:nvSpPr>
          <p:cNvPr id="12" name="">
            <a:extLst xmlns:a="http://schemas.openxmlformats.org/drawingml/2006/main">
              <a:ext uri="{FF2B5EF4-FFF2-40B4-BE49-F238E27FC236}">
                <a16:creationId xmlns:a16="http://schemas.microsoft.com/office/drawing/2014/main" id="{66D27B0A-D544-435D-B7C5-AF6B94675DCE}"/>
              </a:ext>
            </a:extLst>
          </p:cNvPr>
          <p:cNvSpPr>
            <a:spLocks xmlns:a="http://schemas.openxmlformats.org/drawingml/2006/main" noGrp="1"/>
          </p:cNvSpPr>
          <p:nvPr/>
        </p:nvSpPr>
        <p:spPr>
          <a:xfrm xmlns:a="http://schemas.openxmlformats.org/drawingml/2006/main">
            <a:off x="7600950" y="3857625"/>
            <a:ext cx="3362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919"/>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Three-seed V3.4 comparisons and 100 matched one-year holdout markets per checkpoint.</a:t>
            </a:r>
          </a:p>
        </p:txBody>
      </p:sp>
      <p:sp>
        <p:nvSpPr>
          <p:cNvPr id="13" name="">
            <a:extLst xmlns:a="http://schemas.openxmlformats.org/drawingml/2006/main">
              <a:ext uri="{FF2B5EF4-FFF2-40B4-BE49-F238E27FC236}">
                <a16:creationId xmlns:a16="http://schemas.microsoft.com/office/drawing/2014/main" id="{8C7A6F2A-00BE-45E3-AF79-D5A19C59F86A}"/>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14" name="">
            <a:extLst xmlns:a="http://schemas.openxmlformats.org/drawingml/2006/main">
              <a:ext uri="{FF2B5EF4-FFF2-40B4-BE49-F238E27FC236}">
                <a16:creationId xmlns:a16="http://schemas.microsoft.com/office/drawing/2014/main" id="{48AC857F-6899-487B-8D0C-E408BB0F6ECA}"/>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a:t>
            </a:r>
          </a:p>
        </p:txBody>
      </p:sp>
    </p:spTree>
    <p:extLst>
      <p:ext uri="{BB962C8B-B14F-4D97-AF65-F5344CB8AC3E}">
        <p14:creationId xmlns:p14="http://schemas.microsoft.com/office/powerpoint/2010/main" val="1707182971"/>
      </p:ext>
    </p:extLst>
  </p:cSld>
</p:sld>
</file>

<file path=ppt/slides/slide2.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C42498-81A8-432E-A301-43800DED848C}"/>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WHAT CHANGED: V3.3</a:t>
            </a:r>
          </a:p>
        </p:txBody>
      </p:sp>
      <p:sp>
        <p:nvSpPr>
          <p:cNvPr id="2" name="">
            <a:extLst xmlns:a="http://schemas.openxmlformats.org/drawingml/2006/main">
              <a:ext uri="{FF2B5EF4-FFF2-40B4-BE49-F238E27FC236}">
                <a16:creationId xmlns:a16="http://schemas.microsoft.com/office/drawing/2014/main" id="{FB88A9F7-9DB9-487A-9B7F-85DB812E086A}"/>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First, vary the training data and policy design</a:t>
            </a:r>
          </a:p>
        </p:txBody>
      </p:sp>
      <p:sp>
        <p:nvSpPr>
          <p:cNvPr id="3" name="">
            <a:extLst xmlns:a="http://schemas.openxmlformats.org/drawingml/2006/main">
              <a:ext uri="{FF2B5EF4-FFF2-40B4-BE49-F238E27FC236}">
                <a16:creationId xmlns:a16="http://schemas.microsoft.com/office/drawing/2014/main" id="{045FB244-2A72-4087-B7B1-D2DE2A8BC5BB}"/>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883633-8DDE-4C86-A842-370687D6F634}"/>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840B4458-FFC5-479C-BE38-4293229F66D5}"/>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2</a:t>
            </a:r>
          </a:p>
        </p:txBody>
      </p:sp>
      <p:sp>
        <p:nvSpPr>
          <p:cNvPr id="6" name="">
            <a:extLst xmlns:a="http://schemas.openxmlformats.org/drawingml/2006/main">
              <a:ext uri="{FF2B5EF4-FFF2-40B4-BE49-F238E27FC236}">
                <a16:creationId xmlns:a16="http://schemas.microsoft.com/office/drawing/2014/main" id="{5FF6F599-048D-4BE3-ACD1-F16593296D42}"/>
              </a:ext>
            </a:extLst>
          </p:cNvPr>
          <p:cNvSpPr>
            <a:spLocks xmlns:a="http://schemas.openxmlformats.org/drawingml/2006/main" noGrp="1"/>
          </p:cNvSpPr>
          <p:nvPr/>
        </p:nvSpPr>
        <p:spPr>
          <a:xfrm xmlns:a="http://schemas.openxmlformats.org/drawingml/2006/main">
            <a:off x="762000" y="1809750"/>
            <a:ext cx="5143500" cy="1666875"/>
          </a:xfrm>
          <a:prstGeom xmlns:a="http://schemas.openxmlformats.org/drawingml/2006/main" prst="roundRect">
            <a:avLst>
              <a:gd name="adj" fmla="val 6857"/>
            </a:avLst>
          </a:prstGeom>
          <a:solidFill xmlns:a="http://schemas.openxmlformats.org/drawingml/2006/main">
            <a:srgbClr val="FFFAF1"/>
          </a:solidFill>
          <a:ln xmlns:a="http://schemas.openxmlformats.org/drawingml/2006/main" w="9525">
            <a:solidFill>
              <a:srgbClr val="DDCFBA"/>
            </a:solidFill>
            <a:prstDash val="solid"/>
          </a:ln>
        </p:spPr>
      </p:sp>
      <p:sp>
        <p:nvSpPr>
          <p:cNvPr id="7" name="">
            <a:extLst xmlns:a="http://schemas.openxmlformats.org/drawingml/2006/main">
              <a:ext uri="{FF2B5EF4-FFF2-40B4-BE49-F238E27FC236}">
                <a16:creationId xmlns:a16="http://schemas.microsoft.com/office/drawing/2014/main" id="{358B8AEE-0969-458D-9028-0FAA3F6D717F}"/>
              </a:ext>
            </a:extLst>
          </p:cNvPr>
          <p:cNvSpPr>
            <a:spLocks xmlns:a="http://schemas.openxmlformats.org/drawingml/2006/main" noGrp="1"/>
          </p:cNvSpPr>
          <p:nvPr/>
        </p:nvSpPr>
        <p:spPr>
          <a:xfrm xmlns:a="http://schemas.openxmlformats.org/drawingml/2006/main">
            <a:off x="762000" y="1809750"/>
            <a:ext cx="66675" cy="1666875"/>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7E6F8EC-C7C0-403D-8AF0-FC8D7B9D4BC6}"/>
              </a:ext>
            </a:extLst>
          </p:cNvPr>
          <p:cNvSpPr>
            <a:spLocks xmlns:a="http://schemas.openxmlformats.org/drawingml/2006/main" noGrp="1"/>
          </p:cNvSpPr>
          <p:nvPr/>
        </p:nvSpPr>
        <p:spPr>
          <a:xfrm xmlns:a="http://schemas.openxmlformats.org/drawingml/2006/main">
            <a:off x="1028700" y="2019300"/>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Market exposure</a:t>
            </a:r>
          </a:p>
        </p:txBody>
      </p:sp>
      <p:sp>
        <p:nvSpPr>
          <p:cNvPr id="9" name="">
            <a:extLst xmlns:a="http://schemas.openxmlformats.org/drawingml/2006/main">
              <a:ext uri="{FF2B5EF4-FFF2-40B4-BE49-F238E27FC236}">
                <a16:creationId xmlns:a16="http://schemas.microsoft.com/office/drawing/2014/main" id="{89B0BF14-567B-42FD-839A-F8AC4736D022}"/>
              </a:ext>
            </a:extLst>
          </p:cNvPr>
          <p:cNvSpPr>
            <a:spLocks xmlns:a="http://schemas.openxmlformats.org/drawingml/2006/main" noGrp="1"/>
          </p:cNvSpPr>
          <p:nvPr/>
        </p:nvSpPr>
        <p:spPr>
          <a:xfrm xmlns:a="http://schemas.openxmlformats.org/drawingml/2006/main">
            <a:off x="1028700" y="2428875"/>
            <a:ext cx="4648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Compare 2 versus 8 training markets and 5,040, 10,080, or 20,160 steps per market. Test the professor's fewer-but-longer-market hypothesis.</a:t>
            </a:r>
          </a:p>
        </p:txBody>
      </p:sp>
      <p:sp>
        <p:nvSpPr>
          <p:cNvPr id="10" name="">
            <a:extLst xmlns:a="http://schemas.openxmlformats.org/drawingml/2006/main">
              <a:ext uri="{FF2B5EF4-FFF2-40B4-BE49-F238E27FC236}">
                <a16:creationId xmlns:a16="http://schemas.microsoft.com/office/drawing/2014/main" id="{CBD4FDED-E9F6-45EC-A023-50B8E8793169}"/>
              </a:ext>
            </a:extLst>
          </p:cNvPr>
          <p:cNvSpPr>
            <a:spLocks xmlns:a="http://schemas.openxmlformats.org/drawingml/2006/main" noGrp="1"/>
          </p:cNvSpPr>
          <p:nvPr/>
        </p:nvSpPr>
        <p:spPr>
          <a:xfrm xmlns:a="http://schemas.openxmlformats.org/drawingml/2006/main">
            <a:off x="6286500" y="1809750"/>
            <a:ext cx="5143500" cy="1666875"/>
          </a:xfrm>
          <a:prstGeom xmlns:a="http://schemas.openxmlformats.org/drawingml/2006/main" prst="roundRect">
            <a:avLst>
              <a:gd name="adj" fmla="val 6857"/>
            </a:avLst>
          </a:prstGeom>
          <a:solidFill xmlns:a="http://schemas.openxmlformats.org/drawingml/2006/main">
            <a:srgbClr val="FFFAF1"/>
          </a:solidFill>
          <a:ln xmlns:a="http://schemas.openxmlformats.org/drawingml/2006/main" w="9525">
            <a:solidFill>
              <a:srgbClr val="DDCFBA"/>
            </a:solidFill>
            <a:prstDash val="solid"/>
          </a:ln>
        </p:spPr>
      </p:sp>
      <p:sp>
        <p:nvSpPr>
          <p:cNvPr id="11" name="">
            <a:extLst xmlns:a="http://schemas.openxmlformats.org/drawingml/2006/main">
              <a:ext uri="{FF2B5EF4-FFF2-40B4-BE49-F238E27FC236}">
                <a16:creationId xmlns:a16="http://schemas.microsoft.com/office/drawing/2014/main" id="{DDE2B7BA-39E3-42BE-9669-E4BDEB135FB2}"/>
              </a:ext>
            </a:extLst>
          </p:cNvPr>
          <p:cNvSpPr>
            <a:spLocks xmlns:a="http://schemas.openxmlformats.org/drawingml/2006/main" noGrp="1"/>
          </p:cNvSpPr>
          <p:nvPr/>
        </p:nvSpPr>
        <p:spPr>
          <a:xfrm xmlns:a="http://schemas.openxmlformats.org/drawingml/2006/main">
            <a:off x="6286500" y="1809750"/>
            <a:ext cx="66675" cy="1666875"/>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7C6925-9FC4-4BA9-853C-1D745CD475C0}"/>
              </a:ext>
            </a:extLst>
          </p:cNvPr>
          <p:cNvSpPr>
            <a:spLocks xmlns:a="http://schemas.openxmlformats.org/drawingml/2006/main" noGrp="1"/>
          </p:cNvSpPr>
          <p:nvPr/>
        </p:nvSpPr>
        <p:spPr>
          <a:xfrm xmlns:a="http://schemas.openxmlformats.org/drawingml/2006/main">
            <a:off x="6553200" y="2019300"/>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315F8D"/>
                </a:solidFill>
                <a:latin typeface="Aptos"/>
                <a:ea typeface="Aptos"/>
                <a:cs typeface="Aptos"/>
              </a:defRPr>
            </a:pPr>
            <a:r>
              <a:rPr sz="1500" b="1" i="0">
                <a:solidFill>
                  <a:srgbClr val="315F8D"/>
                </a:solidFill>
                <a:latin typeface="Aptos"/>
                <a:ea typeface="Aptos"/>
                <a:cs typeface="Aptos"/>
              </a:rPr>
              <a:t>Algorithm variants</a:t>
            </a:r>
          </a:p>
        </p:txBody>
      </p:sp>
      <p:sp>
        <p:nvSpPr>
          <p:cNvPr id="13" name="">
            <a:extLst xmlns:a="http://schemas.openxmlformats.org/drawingml/2006/main">
              <a:ext uri="{FF2B5EF4-FFF2-40B4-BE49-F238E27FC236}">
                <a16:creationId xmlns:a16="http://schemas.microsoft.com/office/drawing/2014/main" id="{5EA6C02F-B95C-4722-B629-004468E43D5E}"/>
              </a:ext>
            </a:extLst>
          </p:cNvPr>
          <p:cNvSpPr>
            <a:spLocks xmlns:a="http://schemas.openxmlformats.org/drawingml/2006/main" noGrp="1"/>
          </p:cNvSpPr>
          <p:nvPr/>
        </p:nvSpPr>
        <p:spPr>
          <a:xfrm xmlns:a="http://schemas.openxmlformats.org/drawingml/2006/main">
            <a:off x="6553200" y="2428875"/>
            <a:ext cx="4648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Explore Gaussian and Dirichlet simplex policies, PPO and RCPO, plus counterfactual-reward and soft allocation-penalty variants.</a:t>
            </a:r>
          </a:p>
        </p:txBody>
      </p:sp>
      <p:sp>
        <p:nvSpPr>
          <p:cNvPr id="14" name="">
            <a:extLst xmlns:a="http://schemas.openxmlformats.org/drawingml/2006/main">
              <a:ext uri="{FF2B5EF4-FFF2-40B4-BE49-F238E27FC236}">
                <a16:creationId xmlns:a16="http://schemas.microsoft.com/office/drawing/2014/main" id="{1AB83A8B-2442-4F66-88CC-CB427C36B51A}"/>
              </a:ext>
            </a:extLst>
          </p:cNvPr>
          <p:cNvSpPr>
            <a:spLocks xmlns:a="http://schemas.openxmlformats.org/drawingml/2006/main" noGrp="1"/>
          </p:cNvSpPr>
          <p:nvPr/>
        </p:nvSpPr>
        <p:spPr>
          <a:xfrm xmlns:a="http://schemas.openxmlformats.org/drawingml/2006/main">
            <a:off x="762000" y="3857625"/>
            <a:ext cx="10668000" cy="1476375"/>
          </a:xfrm>
          <a:prstGeom xmlns:a="http://schemas.openxmlformats.org/drawingml/2006/main" prst="roundRect">
            <a:avLst>
              <a:gd name="adj" fmla="val 7742"/>
            </a:avLst>
          </a:prstGeom>
          <a:solidFill xmlns:a="http://schemas.openxmlformats.org/drawingml/2006/main">
            <a:srgbClr val="F7F4EC"/>
          </a:solidFill>
          <a:ln xmlns:a="http://schemas.openxmlformats.org/drawingml/2006/main" w="9525">
            <a:solidFill>
              <a:srgbClr val="DDCFBA"/>
            </a:solidFill>
            <a:prstDash val="solid"/>
          </a:ln>
        </p:spPr>
      </p:sp>
      <p:sp>
        <p:nvSpPr>
          <p:cNvPr id="15" name="">
            <a:extLst xmlns:a="http://schemas.openxmlformats.org/drawingml/2006/main">
              <a:ext uri="{FF2B5EF4-FFF2-40B4-BE49-F238E27FC236}">
                <a16:creationId xmlns:a16="http://schemas.microsoft.com/office/drawing/2014/main" id="{B10D880D-1599-4877-AC91-7B1A1FE44558}"/>
              </a:ext>
            </a:extLst>
          </p:cNvPr>
          <p:cNvSpPr>
            <a:spLocks xmlns:a="http://schemas.openxmlformats.org/drawingml/2006/main" noGrp="1"/>
          </p:cNvSpPr>
          <p:nvPr/>
        </p:nvSpPr>
        <p:spPr>
          <a:xfrm xmlns:a="http://schemas.openxmlformats.org/drawingml/2006/main">
            <a:off x="1047750" y="41719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defRPr sz="1875" b="1" i="0">
                <a:solidFill>
                  <a:srgbClr val="A84632"/>
                </a:solidFill>
                <a:latin typeface="Aptos"/>
                <a:ea typeface="Aptos"/>
                <a:cs typeface="Aptos"/>
              </a:defRPr>
            </a:pPr>
            <a:r>
              <a:rPr sz="1875" b="1" i="0">
                <a:solidFill>
                  <a:srgbClr val="A84632"/>
                </a:solidFill>
                <a:latin typeface="Aptos"/>
                <a:ea typeface="Aptos"/>
                <a:cs typeface="Aptos"/>
              </a:rPr>
              <a:t>11 configurations  |  one training seed each</a:t>
            </a:r>
          </a:p>
        </p:txBody>
      </p:sp>
      <p:sp>
        <p:nvSpPr>
          <p:cNvPr id="16" name="">
            <a:extLst xmlns:a="http://schemas.openxmlformats.org/drawingml/2006/main">
              <a:ext uri="{FF2B5EF4-FFF2-40B4-BE49-F238E27FC236}">
                <a16:creationId xmlns:a16="http://schemas.microsoft.com/office/drawing/2014/main" id="{87C2C8D5-D600-4F08-BD37-77532F669C58}"/>
              </a:ext>
            </a:extLst>
          </p:cNvPr>
          <p:cNvSpPr>
            <a:spLocks xmlns:a="http://schemas.openxmlformats.org/drawingml/2006/main" noGrp="1"/>
          </p:cNvSpPr>
          <p:nvPr/>
        </p:nvSpPr>
        <p:spPr>
          <a:xfrm xmlns:a="http://schemas.openxmlformats.org/drawingml/2006/main">
            <a:off x="1047750" y="471487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0" i="0">
                <a:solidFill>
                  <a:srgbClr val="17202A"/>
                </a:solidFill>
                <a:latin typeface="Aptos"/>
                <a:ea typeface="Aptos"/>
                <a:cs typeface="Aptos"/>
              </a:defRPr>
            </a:pPr>
            <a:r>
              <a:rPr sz="1500" b="0" i="0">
                <a:solidFill>
                  <a:srgbClr val="17202A"/>
                </a:solidFill>
                <a:latin typeface="Aptos"/>
                <a:ea typeface="Aptos"/>
                <a:cs typeface="Aptos"/>
              </a:rPr>
              <a:t>Purpose: identify promising hypotheses, not declare a winning configuration.</a:t>
            </a:r>
          </a:p>
        </p:txBody>
      </p:sp>
    </p:spTree>
    <p:extLst>
      <p:ext uri="{BB962C8B-B14F-4D97-AF65-F5344CB8AC3E}">
        <p14:creationId xmlns:p14="http://schemas.microsoft.com/office/powerpoint/2010/main" val="1690361457"/>
      </p:ext>
    </p:extLst>
  </p:cSld>
</p:sld>
</file>

<file path=ppt/slides/slide3.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330CAE-002A-4BB8-8952-22DF88F4F330}"/>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WHAT CHANGED: V3.4</a:t>
            </a:r>
          </a:p>
        </p:txBody>
      </p:sp>
      <p:sp>
        <p:nvSpPr>
          <p:cNvPr id="2" name="">
            <a:extLst xmlns:a="http://schemas.openxmlformats.org/drawingml/2006/main">
              <a:ext uri="{FF2B5EF4-FFF2-40B4-BE49-F238E27FC236}">
                <a16:creationId xmlns:a16="http://schemas.microsoft.com/office/drawing/2014/main" id="{4FC4E8B6-DEA7-4771-8B21-A2128B3A5DCB}"/>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Turn V3.3 hypotheses into paired, replicated tests</a:t>
            </a:r>
          </a:p>
        </p:txBody>
      </p:sp>
      <p:sp>
        <p:nvSpPr>
          <p:cNvPr id="3" name="">
            <a:extLst xmlns:a="http://schemas.openxmlformats.org/drawingml/2006/main">
              <a:ext uri="{FF2B5EF4-FFF2-40B4-BE49-F238E27FC236}">
                <a16:creationId xmlns:a16="http://schemas.microsoft.com/office/drawing/2014/main" id="{21001983-CDC1-458E-9583-48545490CF2B}"/>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7C4E13-7DB0-463B-9033-C1109FD8F439}"/>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184EB426-F34F-4289-9F98-6491CBFCE29C}"/>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3</a:t>
            </a:r>
          </a:p>
        </p:txBody>
      </p:sp>
      <p:sp>
        <p:nvSpPr>
          <p:cNvPr id="6" name="">
            <a:extLst xmlns:a="http://schemas.openxmlformats.org/drawingml/2006/main">
              <a:ext uri="{FF2B5EF4-FFF2-40B4-BE49-F238E27FC236}">
                <a16:creationId xmlns:a16="http://schemas.microsoft.com/office/drawing/2014/main" id="{76BA1F8A-4CFC-4267-B2B9-11371E6735E1}"/>
              </a:ext>
            </a:extLst>
          </p:cNvPr>
          <p:cNvSpPr>
            <a:spLocks xmlns:a="http://schemas.openxmlformats.org/drawingml/2006/main" noGrp="1"/>
          </p:cNvSpPr>
          <p:nvPr/>
        </p:nvSpPr>
        <p:spPr>
          <a:xfrm xmlns:a="http://schemas.openxmlformats.org/drawingml/2006/main">
            <a:off x="762000" y="1809750"/>
            <a:ext cx="3286125" cy="1762125"/>
          </a:xfrm>
          <a:prstGeom xmlns:a="http://schemas.openxmlformats.org/drawingml/2006/main" prst="roundRect">
            <a:avLst>
              <a:gd name="adj" fmla="val 6486"/>
            </a:avLst>
          </a:prstGeom>
          <a:solidFill xmlns:a="http://schemas.openxmlformats.org/drawingml/2006/main">
            <a:srgbClr val="FFFAF1"/>
          </a:solidFill>
          <a:ln xmlns:a="http://schemas.openxmlformats.org/drawingml/2006/main" w="9525">
            <a:solidFill>
              <a:srgbClr val="DDCFBA"/>
            </a:solidFill>
            <a:prstDash val="solid"/>
          </a:ln>
        </p:spPr>
      </p:sp>
      <p:sp>
        <p:nvSpPr>
          <p:cNvPr id="7" name="">
            <a:extLst xmlns:a="http://schemas.openxmlformats.org/drawingml/2006/main">
              <a:ext uri="{FF2B5EF4-FFF2-40B4-BE49-F238E27FC236}">
                <a16:creationId xmlns:a16="http://schemas.microsoft.com/office/drawing/2014/main" id="{FC44EC7A-C935-4594-9FC7-B8AB90FB7953}"/>
              </a:ext>
            </a:extLst>
          </p:cNvPr>
          <p:cNvSpPr>
            <a:spLocks xmlns:a="http://schemas.openxmlformats.org/drawingml/2006/main" noGrp="1"/>
          </p:cNvSpPr>
          <p:nvPr/>
        </p:nvSpPr>
        <p:spPr>
          <a:xfrm xmlns:a="http://schemas.openxmlformats.org/drawingml/2006/main">
            <a:off x="762000" y="1809750"/>
            <a:ext cx="66675" cy="1762125"/>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4859A8-86D3-41F6-9AAD-7E7FDA008F7C}"/>
              </a:ext>
            </a:extLst>
          </p:cNvPr>
          <p:cNvSpPr>
            <a:spLocks xmlns:a="http://schemas.openxmlformats.org/drawingml/2006/main" noGrp="1"/>
          </p:cNvSpPr>
          <p:nvPr/>
        </p:nvSpPr>
        <p:spPr>
          <a:xfrm xmlns:a="http://schemas.openxmlformats.org/drawingml/2006/main">
            <a:off x="1028700" y="2019300"/>
            <a:ext cx="282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Factorial core</a:t>
            </a:r>
          </a:p>
        </p:txBody>
      </p:sp>
      <p:sp>
        <p:nvSpPr>
          <p:cNvPr id="9" name="">
            <a:extLst xmlns:a="http://schemas.openxmlformats.org/drawingml/2006/main">
              <a:ext uri="{FF2B5EF4-FFF2-40B4-BE49-F238E27FC236}">
                <a16:creationId xmlns:a16="http://schemas.microsoft.com/office/drawing/2014/main" id="{794A5A4F-FC15-4172-A6C7-02A74B8F3619}"/>
              </a:ext>
            </a:extLst>
          </p:cNvPr>
          <p:cNvSpPr>
            <a:spLocks xmlns:a="http://schemas.openxmlformats.org/drawingml/2006/main" noGrp="1"/>
          </p:cNvSpPr>
          <p:nvPr/>
        </p:nvSpPr>
        <p:spPr>
          <a:xfrm xmlns:a="http://schemas.openxmlformats.org/drawingml/2006/main">
            <a:off x="1028700" y="2428875"/>
            <a:ext cx="2790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2 or 8 markets x 3 or 4 epochs. Three matched training seeds per condition isolate both factors and their interaction.</a:t>
            </a:r>
          </a:p>
        </p:txBody>
      </p:sp>
      <p:sp>
        <p:nvSpPr>
          <p:cNvPr id="10" name="">
            <a:extLst xmlns:a="http://schemas.openxmlformats.org/drawingml/2006/main">
              <a:ext uri="{FF2B5EF4-FFF2-40B4-BE49-F238E27FC236}">
                <a16:creationId xmlns:a16="http://schemas.microsoft.com/office/drawing/2014/main" id="{4334FBFC-15E6-4671-A0AC-11C5CB61505E}"/>
              </a:ext>
            </a:extLst>
          </p:cNvPr>
          <p:cNvSpPr>
            <a:spLocks xmlns:a="http://schemas.openxmlformats.org/drawingml/2006/main" noGrp="1"/>
          </p:cNvSpPr>
          <p:nvPr/>
        </p:nvSpPr>
        <p:spPr>
          <a:xfrm xmlns:a="http://schemas.openxmlformats.org/drawingml/2006/main">
            <a:off x="4429125" y="1809750"/>
            <a:ext cx="3286125" cy="1762125"/>
          </a:xfrm>
          <a:prstGeom xmlns:a="http://schemas.openxmlformats.org/drawingml/2006/main" prst="roundRect">
            <a:avLst>
              <a:gd name="adj" fmla="val 6486"/>
            </a:avLst>
          </a:prstGeom>
          <a:solidFill xmlns:a="http://schemas.openxmlformats.org/drawingml/2006/main">
            <a:srgbClr val="FFFAF1"/>
          </a:solidFill>
          <a:ln xmlns:a="http://schemas.openxmlformats.org/drawingml/2006/main" w="9525">
            <a:solidFill>
              <a:srgbClr val="DDCFBA"/>
            </a:solidFill>
            <a:prstDash val="solid"/>
          </a:ln>
        </p:spPr>
      </p:sp>
      <p:sp>
        <p:nvSpPr>
          <p:cNvPr id="11" name="">
            <a:extLst xmlns:a="http://schemas.openxmlformats.org/drawingml/2006/main">
              <a:ext uri="{FF2B5EF4-FFF2-40B4-BE49-F238E27FC236}">
                <a16:creationId xmlns:a16="http://schemas.microsoft.com/office/drawing/2014/main" id="{0BC88DA4-648A-44D3-8FE1-58185B9904B9}"/>
              </a:ext>
            </a:extLst>
          </p:cNvPr>
          <p:cNvSpPr>
            <a:spLocks xmlns:a="http://schemas.openxmlformats.org/drawingml/2006/main" noGrp="1"/>
          </p:cNvSpPr>
          <p:nvPr/>
        </p:nvSpPr>
        <p:spPr>
          <a:xfrm xmlns:a="http://schemas.openxmlformats.org/drawingml/2006/main">
            <a:off x="4429125" y="1809750"/>
            <a:ext cx="66675" cy="1762125"/>
          </a:xfrm>
          <a:prstGeom xmlns:a="http://schemas.openxmlformats.org/drawingml/2006/main" prst="rect">
            <a:avLst/>
          </a:prstGeom>
          <a:solidFill xmlns:a="http://schemas.openxmlformats.org/drawingml/2006/main">
            <a:srgbClr val="C46A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575E0D-36AB-4973-8D18-E17876C5B339}"/>
              </a:ext>
            </a:extLst>
          </p:cNvPr>
          <p:cNvSpPr>
            <a:spLocks xmlns:a="http://schemas.openxmlformats.org/drawingml/2006/main" noGrp="1"/>
          </p:cNvSpPr>
          <p:nvPr/>
        </p:nvSpPr>
        <p:spPr>
          <a:xfrm xmlns:a="http://schemas.openxmlformats.org/drawingml/2006/main">
            <a:off x="4695825" y="2019300"/>
            <a:ext cx="282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C46A2B"/>
                </a:solidFill>
                <a:latin typeface="Aptos"/>
                <a:ea typeface="Aptos"/>
                <a:cs typeface="Aptos"/>
              </a:defRPr>
            </a:pPr>
            <a:r>
              <a:rPr sz="1500" b="1" i="0">
                <a:solidFill>
                  <a:srgbClr val="C46A2B"/>
                </a:solidFill>
                <a:latin typeface="Aptos"/>
                <a:ea typeface="Aptos"/>
                <a:cs typeface="Aptos"/>
              </a:rPr>
              <a:t>Credit ablation</a:t>
            </a:r>
          </a:p>
        </p:txBody>
      </p:sp>
      <p:sp>
        <p:nvSpPr>
          <p:cNvPr id="13" name="">
            <a:extLst xmlns:a="http://schemas.openxmlformats.org/drawingml/2006/main">
              <a:ext uri="{FF2B5EF4-FFF2-40B4-BE49-F238E27FC236}">
                <a16:creationId xmlns:a16="http://schemas.microsoft.com/office/drawing/2014/main" id="{4D116FC3-3FDB-4493-BA49-1580BF3D59E5}"/>
              </a:ext>
            </a:extLst>
          </p:cNvPr>
          <p:cNvSpPr>
            <a:spLocks xmlns:a="http://schemas.openxmlformats.org/drawingml/2006/main" noGrp="1"/>
          </p:cNvSpPr>
          <p:nvPr/>
        </p:nvSpPr>
        <p:spPr>
          <a:xfrm xmlns:a="http://schemas.openxmlformats.org/drawingml/2006/main">
            <a:off x="4695825" y="2428875"/>
            <a:ext cx="2790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Standalone versus counterfactual branch reward, at both epoch settings and the same three seeds.</a:t>
            </a:r>
          </a:p>
        </p:txBody>
      </p:sp>
      <p:sp>
        <p:nvSpPr>
          <p:cNvPr id="14" name="">
            <a:extLst xmlns:a="http://schemas.openxmlformats.org/drawingml/2006/main">
              <a:ext uri="{FF2B5EF4-FFF2-40B4-BE49-F238E27FC236}">
                <a16:creationId xmlns:a16="http://schemas.microsoft.com/office/drawing/2014/main" id="{D8830271-9778-490E-9B49-D67A050FC198}"/>
              </a:ext>
            </a:extLst>
          </p:cNvPr>
          <p:cNvSpPr>
            <a:spLocks xmlns:a="http://schemas.openxmlformats.org/drawingml/2006/main" noGrp="1"/>
          </p:cNvSpPr>
          <p:nvPr/>
        </p:nvSpPr>
        <p:spPr>
          <a:xfrm xmlns:a="http://schemas.openxmlformats.org/drawingml/2006/main">
            <a:off x="8096250" y="1809750"/>
            <a:ext cx="3286125" cy="1762125"/>
          </a:xfrm>
          <a:prstGeom xmlns:a="http://schemas.openxmlformats.org/drawingml/2006/main" prst="roundRect">
            <a:avLst>
              <a:gd name="adj" fmla="val 6486"/>
            </a:avLst>
          </a:prstGeom>
          <a:solidFill xmlns:a="http://schemas.openxmlformats.org/drawingml/2006/main">
            <a:srgbClr val="FFFAF1"/>
          </a:solidFill>
          <a:ln xmlns:a="http://schemas.openxmlformats.org/drawingml/2006/main" w="9525">
            <a:solidFill>
              <a:srgbClr val="DDCFBA"/>
            </a:solidFill>
            <a:prstDash val="solid"/>
          </a:ln>
        </p:spPr>
      </p:sp>
      <p:sp>
        <p:nvSpPr>
          <p:cNvPr id="15" name="">
            <a:extLst xmlns:a="http://schemas.openxmlformats.org/drawingml/2006/main">
              <a:ext uri="{FF2B5EF4-FFF2-40B4-BE49-F238E27FC236}">
                <a16:creationId xmlns:a16="http://schemas.microsoft.com/office/drawing/2014/main" id="{E61131B1-4AD1-4720-907B-888002E34701}"/>
              </a:ext>
            </a:extLst>
          </p:cNvPr>
          <p:cNvSpPr>
            <a:spLocks xmlns:a="http://schemas.openxmlformats.org/drawingml/2006/main" noGrp="1"/>
          </p:cNvSpPr>
          <p:nvPr/>
        </p:nvSpPr>
        <p:spPr>
          <a:xfrm xmlns:a="http://schemas.openxmlformats.org/drawingml/2006/main">
            <a:off x="8096250" y="1809750"/>
            <a:ext cx="66675" cy="1762125"/>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A7ADA14-A419-4600-AF82-CC6433D36B58}"/>
              </a:ext>
            </a:extLst>
          </p:cNvPr>
          <p:cNvSpPr>
            <a:spLocks xmlns:a="http://schemas.openxmlformats.org/drawingml/2006/main" noGrp="1"/>
          </p:cNvSpPr>
          <p:nvPr/>
        </p:nvSpPr>
        <p:spPr>
          <a:xfrm xmlns:a="http://schemas.openxmlformats.org/drawingml/2006/main">
            <a:off x="8362950" y="2019300"/>
            <a:ext cx="282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315F8D"/>
                </a:solidFill>
                <a:latin typeface="Aptos"/>
                <a:ea typeface="Aptos"/>
                <a:cs typeface="Aptos"/>
              </a:defRPr>
            </a:pPr>
            <a:r>
              <a:rPr sz="1500" b="1" i="0">
                <a:solidFill>
                  <a:srgbClr val="315F8D"/>
                </a:solidFill>
                <a:latin typeface="Aptos"/>
                <a:ea typeface="Aptos"/>
                <a:cs typeface="Aptos"/>
              </a:rPr>
              <a:t>Exploratory sweeps</a:t>
            </a:r>
          </a:p>
        </p:txBody>
      </p:sp>
      <p:sp>
        <p:nvSpPr>
          <p:cNvPr id="17" name="">
            <a:extLst xmlns:a="http://schemas.openxmlformats.org/drawingml/2006/main">
              <a:ext uri="{FF2B5EF4-FFF2-40B4-BE49-F238E27FC236}">
                <a16:creationId xmlns:a16="http://schemas.microsoft.com/office/drawing/2014/main" id="{24960D3A-FBB6-411E-B3AE-41331B555F8C}"/>
              </a:ext>
            </a:extLst>
          </p:cNvPr>
          <p:cNvSpPr>
            <a:spLocks xmlns:a="http://schemas.openxmlformats.org/drawingml/2006/main" noGrp="1"/>
          </p:cNvSpPr>
          <p:nvPr/>
        </p:nvSpPr>
        <p:spPr>
          <a:xfrm xmlns:a="http://schemas.openxmlformats.org/drawingml/2006/main">
            <a:off x="8362950" y="2428875"/>
            <a:ext cx="2790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One-seed observation windows of 20/30/40/60 steps and drawdown margins of 0.90/0.85/0.80.</a:t>
            </a:r>
          </a:p>
        </p:txBody>
      </p:sp>
      <p:sp>
        <p:nvSpPr>
          <p:cNvPr id="18" name="">
            <a:extLst xmlns:a="http://schemas.openxmlformats.org/drawingml/2006/main">
              <a:ext uri="{FF2B5EF4-FFF2-40B4-BE49-F238E27FC236}">
                <a16:creationId xmlns:a16="http://schemas.microsoft.com/office/drawing/2014/main" id="{7EEEAD74-8F57-4CE9-9B57-7A2B9D9A3160}"/>
              </a:ext>
            </a:extLst>
          </p:cNvPr>
          <p:cNvSpPr>
            <a:spLocks xmlns:a="http://schemas.openxmlformats.org/drawingml/2006/main" noGrp="1"/>
          </p:cNvSpPr>
          <p:nvPr/>
        </p:nvSpPr>
        <p:spPr>
          <a:xfrm xmlns:a="http://schemas.openxmlformats.org/drawingml/2006/main">
            <a:off x="762000" y="4048125"/>
            <a:ext cx="10620375" cy="1285875"/>
          </a:xfrm>
          <a:prstGeom xmlns:a="http://schemas.openxmlformats.org/drawingml/2006/main" prst="roundRect">
            <a:avLst>
              <a:gd name="adj" fmla="val 8889"/>
            </a:avLst>
          </a:prstGeom>
          <a:solidFill xmlns:a="http://schemas.openxmlformats.org/drawingml/2006/main">
            <a:srgbClr val="F7F4EC"/>
          </a:solidFill>
          <a:ln xmlns:a="http://schemas.openxmlformats.org/drawingml/2006/main" w="9525">
            <a:solidFill>
              <a:srgbClr val="DDCFBA"/>
            </a:solidFill>
            <a:prstDash val="solid"/>
          </a:ln>
        </p:spPr>
      </p:sp>
      <p:sp>
        <p:nvSpPr>
          <p:cNvPr id="19" name="">
            <a:extLst xmlns:a="http://schemas.openxmlformats.org/drawingml/2006/main">
              <a:ext uri="{FF2B5EF4-FFF2-40B4-BE49-F238E27FC236}">
                <a16:creationId xmlns:a16="http://schemas.microsoft.com/office/drawing/2014/main" id="{587495CC-BDC6-4643-A50F-5A79F490CF7E}"/>
              </a:ext>
            </a:extLst>
          </p:cNvPr>
          <p:cNvSpPr>
            <a:spLocks xmlns:a="http://schemas.openxmlformats.org/drawingml/2006/main" noGrp="1"/>
          </p:cNvSpPr>
          <p:nvPr/>
        </p:nvSpPr>
        <p:spPr>
          <a:xfrm xmlns:a="http://schemas.openxmlformats.org/drawingml/2006/main">
            <a:off x="1066800" y="4333875"/>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defRPr sz="1950" b="1" i="0">
                <a:solidFill>
                  <a:srgbClr val="A84632"/>
                </a:solidFill>
                <a:latin typeface="Aptos"/>
                <a:ea typeface="Aptos"/>
                <a:cs typeface="Aptos"/>
              </a:defRPr>
            </a:pPr>
            <a:r>
              <a:rPr sz="1950" b="1" i="0">
                <a:solidFill>
                  <a:srgbClr val="A84632"/>
                </a:solidFill>
                <a:latin typeface="Aptos"/>
                <a:ea typeface="Aptos"/>
                <a:cs typeface="Aptos"/>
              </a:rPr>
              <a:t>22 new seed-runs + 2 reused V3.3 controls</a:t>
            </a:r>
          </a:p>
        </p:txBody>
      </p:sp>
      <p:sp>
        <p:nvSpPr>
          <p:cNvPr id="20" name="">
            <a:extLst xmlns:a="http://schemas.openxmlformats.org/drawingml/2006/main">
              <a:ext uri="{FF2B5EF4-FFF2-40B4-BE49-F238E27FC236}">
                <a16:creationId xmlns:a16="http://schemas.microsoft.com/office/drawing/2014/main" id="{5F551A88-3074-4FF3-9137-FE8B7716ED16}"/>
              </a:ext>
            </a:extLst>
          </p:cNvPr>
          <p:cNvSpPr>
            <a:spLocks xmlns:a="http://schemas.openxmlformats.org/drawingml/2006/main" noGrp="1"/>
          </p:cNvSpPr>
          <p:nvPr/>
        </p:nvSpPr>
        <p:spPr>
          <a:xfrm xmlns:a="http://schemas.openxmlformats.org/drawingml/2006/main">
            <a:off x="1066800" y="4810125"/>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0" i="0">
                <a:solidFill>
                  <a:srgbClr val="17202A"/>
                </a:solidFill>
                <a:latin typeface="Aptos"/>
                <a:ea typeface="Aptos"/>
                <a:cs typeface="Aptos"/>
              </a:defRPr>
            </a:pPr>
            <a:r>
              <a:rPr sz="1425" b="0" i="0">
                <a:solidFill>
                  <a:srgbClr val="17202A"/>
                </a:solidFill>
                <a:latin typeface="Aptos"/>
                <a:ea typeface="Aptos"/>
                <a:cs typeface="Aptos"/>
              </a:rPr>
              <a:t>Paired seeds and shared market paths reduce confounding; one-seed sweeps remain exploratory.</a:t>
            </a:r>
          </a:p>
        </p:txBody>
      </p:sp>
    </p:spTree>
    <p:extLst>
      <p:ext uri="{BB962C8B-B14F-4D97-AF65-F5344CB8AC3E}">
        <p14:creationId xmlns:p14="http://schemas.microsoft.com/office/powerpoint/2010/main" val="575188294"/>
      </p:ext>
    </p:extLst>
  </p:cSld>
</p:sld>
</file>

<file path=ppt/slides/slide4.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9821C01-2A08-4622-8AE5-BE36B584255C}"/>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CONTROLLED COMPARISON</a:t>
            </a:r>
          </a:p>
        </p:txBody>
      </p:sp>
      <p:sp>
        <p:nvSpPr>
          <p:cNvPr id="2" name="">
            <a:extLst xmlns:a="http://schemas.openxmlformats.org/drawingml/2006/main">
              <a:ext uri="{FF2B5EF4-FFF2-40B4-BE49-F238E27FC236}">
                <a16:creationId xmlns:a16="http://schemas.microsoft.com/office/drawing/2014/main" id="{CA4DF1EC-EE4D-4E50-9808-2E14DBF1B9F1}"/>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Hold the portfolio task fixed; change one factor at a time</a:t>
            </a:r>
          </a:p>
        </p:txBody>
      </p:sp>
      <p:sp>
        <p:nvSpPr>
          <p:cNvPr id="3" name="">
            <a:extLst xmlns:a="http://schemas.openxmlformats.org/drawingml/2006/main">
              <a:ext uri="{FF2B5EF4-FFF2-40B4-BE49-F238E27FC236}">
                <a16:creationId xmlns:a16="http://schemas.microsoft.com/office/drawing/2014/main" id="{0DEAEC54-782F-4B1A-9DE8-BF39362A2015}"/>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BD60A3-07DF-43E9-B18D-6309562795BF}"/>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FB1CC257-64E8-4AD1-94BD-34F0370042ED}"/>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4</a:t>
            </a:r>
          </a:p>
        </p:txBody>
      </p:sp>
      <p:sp>
        <p:nvSpPr>
          <p:cNvPr id="6" name="">
            <a:extLst xmlns:a="http://schemas.openxmlformats.org/drawingml/2006/main">
              <a:ext uri="{FF2B5EF4-FFF2-40B4-BE49-F238E27FC236}">
                <a16:creationId xmlns:a16="http://schemas.microsoft.com/office/drawing/2014/main" id="{E6214142-36B8-419F-8F2B-3AA428EB65C5}"/>
              </a:ext>
            </a:extLst>
          </p:cNvPr>
          <p:cNvSpPr>
            <a:spLocks xmlns:a="http://schemas.openxmlformats.org/drawingml/2006/main" noGrp="1"/>
          </p:cNvSpPr>
          <p:nvPr/>
        </p:nvSpPr>
        <p:spPr>
          <a:xfrm xmlns:a="http://schemas.openxmlformats.org/drawingml/2006/main">
            <a:off x="1095375" y="20002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Training markets</a:t>
            </a:r>
          </a:p>
        </p:txBody>
      </p:sp>
      <p:sp>
        <p:nvSpPr>
          <p:cNvPr id="7" name="">
            <a:extLst xmlns:a="http://schemas.openxmlformats.org/drawingml/2006/main">
              <a:ext uri="{FF2B5EF4-FFF2-40B4-BE49-F238E27FC236}">
                <a16:creationId xmlns:a16="http://schemas.microsoft.com/office/drawing/2014/main" id="{61EA5380-18F7-48E3-890A-5DC2A182CDD3}"/>
              </a:ext>
            </a:extLst>
          </p:cNvPr>
          <p:cNvSpPr>
            <a:spLocks xmlns:a="http://schemas.openxmlformats.org/drawingml/2006/main" noGrp="1"/>
          </p:cNvSpPr>
          <p:nvPr/>
        </p:nvSpPr>
        <p:spPr>
          <a:xfrm xmlns:a="http://schemas.openxmlformats.org/drawingml/2006/main">
            <a:off x="4429125" y="1743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3 epochs</a:t>
            </a:r>
          </a:p>
        </p:txBody>
      </p:sp>
      <p:sp>
        <p:nvSpPr>
          <p:cNvPr id="8" name="">
            <a:extLst xmlns:a="http://schemas.openxmlformats.org/drawingml/2006/main">
              <a:ext uri="{FF2B5EF4-FFF2-40B4-BE49-F238E27FC236}">
                <a16:creationId xmlns:a16="http://schemas.microsoft.com/office/drawing/2014/main" id="{57B446A8-5405-4B03-8A9C-A30D1CB715E2}"/>
              </a:ext>
            </a:extLst>
          </p:cNvPr>
          <p:cNvSpPr>
            <a:spLocks xmlns:a="http://schemas.openxmlformats.org/drawingml/2006/main" noGrp="1"/>
          </p:cNvSpPr>
          <p:nvPr/>
        </p:nvSpPr>
        <p:spPr>
          <a:xfrm xmlns:a="http://schemas.openxmlformats.org/drawingml/2006/main">
            <a:off x="7239000" y="1743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4 epochs</a:t>
            </a:r>
          </a:p>
        </p:txBody>
      </p:sp>
      <p:sp>
        <p:nvSpPr>
          <p:cNvPr id="9" name="">
            <a:extLst xmlns:a="http://schemas.openxmlformats.org/drawingml/2006/main">
              <a:ext uri="{FF2B5EF4-FFF2-40B4-BE49-F238E27FC236}">
                <a16:creationId xmlns:a16="http://schemas.microsoft.com/office/drawing/2014/main" id="{0EB966E4-1D43-4103-8E64-2F9CCC3184C8}"/>
              </a:ext>
            </a:extLst>
          </p:cNvPr>
          <p:cNvSpPr>
            <a:spLocks xmlns:a="http://schemas.openxmlformats.org/drawingml/2006/main" noGrp="1"/>
          </p:cNvSpPr>
          <p:nvPr/>
        </p:nvSpPr>
        <p:spPr>
          <a:xfrm xmlns:a="http://schemas.openxmlformats.org/drawingml/2006/main">
            <a:off x="1095375"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defRPr sz="1650" b="1" i="0">
                <a:solidFill>
                  <a:srgbClr val="17202A"/>
                </a:solidFill>
                <a:latin typeface="Aptos"/>
                <a:ea typeface="Aptos"/>
                <a:cs typeface="Aptos"/>
              </a:defRPr>
            </a:pPr>
            <a:r>
              <a:rPr sz="1650" b="1" i="0">
                <a:solidFill>
                  <a:srgbClr val="17202A"/>
                </a:solidFill>
                <a:latin typeface="Aptos"/>
                <a:ea typeface="Aptos"/>
                <a:cs typeface="Aptos"/>
              </a:rPr>
              <a:t>2 markets</a:t>
            </a:r>
          </a:p>
        </p:txBody>
      </p:sp>
      <p:sp>
        <p:nvSpPr>
          <p:cNvPr id="10" name="">
            <a:extLst xmlns:a="http://schemas.openxmlformats.org/drawingml/2006/main">
              <a:ext uri="{FF2B5EF4-FFF2-40B4-BE49-F238E27FC236}">
                <a16:creationId xmlns:a16="http://schemas.microsoft.com/office/drawing/2014/main" id="{413BB780-566B-4C30-8AB8-54E5AFF8B15E}"/>
              </a:ext>
            </a:extLst>
          </p:cNvPr>
          <p:cNvSpPr>
            <a:spLocks xmlns:a="http://schemas.openxmlformats.org/drawingml/2006/main" noGrp="1"/>
          </p:cNvSpPr>
          <p:nvPr/>
        </p:nvSpPr>
        <p:spPr>
          <a:xfrm xmlns:a="http://schemas.openxmlformats.org/drawingml/2006/main">
            <a:off x="1095375" y="42672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defRPr sz="1650" b="1" i="0">
                <a:solidFill>
                  <a:srgbClr val="17202A"/>
                </a:solidFill>
                <a:latin typeface="Aptos"/>
                <a:ea typeface="Aptos"/>
                <a:cs typeface="Aptos"/>
              </a:defRPr>
            </a:pPr>
            <a:r>
              <a:rPr sz="1650" b="1" i="0">
                <a:solidFill>
                  <a:srgbClr val="17202A"/>
                </a:solidFill>
                <a:latin typeface="Aptos"/>
                <a:ea typeface="Aptos"/>
                <a:cs typeface="Aptos"/>
              </a:rPr>
              <a:t>8 markets</a:t>
            </a:r>
          </a:p>
        </p:txBody>
      </p:sp>
      <p:sp>
        <p:nvSpPr>
          <p:cNvPr id="11" name="">
            <a:extLst xmlns:a="http://schemas.openxmlformats.org/drawingml/2006/main">
              <a:ext uri="{FF2B5EF4-FFF2-40B4-BE49-F238E27FC236}">
                <a16:creationId xmlns:a16="http://schemas.microsoft.com/office/drawing/2014/main" id="{6C171148-2BF8-485A-B0D2-0A3187FC9B96}"/>
              </a:ext>
            </a:extLst>
          </p:cNvPr>
          <p:cNvSpPr>
            <a:spLocks xmlns:a="http://schemas.openxmlformats.org/drawingml/2006/main" noGrp="1"/>
          </p:cNvSpPr>
          <p:nvPr/>
        </p:nvSpPr>
        <p:spPr>
          <a:xfrm xmlns:a="http://schemas.openxmlformats.org/drawingml/2006/main">
            <a:off x="3286125" y="2333625"/>
            <a:ext cx="2476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19050">
            <a:solidFill>
              <a:srgbClr val="C46A2B"/>
            </a:solidFill>
            <a:prstDash val="solid"/>
          </a:ln>
        </p:spPr>
      </p:sp>
      <p:sp>
        <p:nvSpPr>
          <p:cNvPr id="12" name="">
            <a:extLst xmlns:a="http://schemas.openxmlformats.org/drawingml/2006/main">
              <a:ext uri="{FF2B5EF4-FFF2-40B4-BE49-F238E27FC236}">
                <a16:creationId xmlns:a16="http://schemas.microsoft.com/office/drawing/2014/main" id="{D7CB5DFC-BC79-44F0-87F1-15EB74E96C6E}"/>
              </a:ext>
            </a:extLst>
          </p:cNvPr>
          <p:cNvSpPr>
            <a:spLocks xmlns:a="http://schemas.openxmlformats.org/drawingml/2006/main" noGrp="1"/>
          </p:cNvSpPr>
          <p:nvPr/>
        </p:nvSpPr>
        <p:spPr>
          <a:xfrm xmlns:a="http://schemas.openxmlformats.org/drawingml/2006/main">
            <a:off x="3476625" y="2543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194"/>
          </a:bodyPr>
          <a:lstStyle xmlns:a="http://schemas.openxmlformats.org/drawingml/2006/main"/>
          <a:p xmlns:a="http://schemas.openxmlformats.org/drawingml/2006/main">
            <a:pPr>
              <a:defRPr sz="1800" b="1" i="0">
                <a:solidFill>
                  <a:srgbClr val="C46A2B"/>
                </a:solidFill>
                <a:latin typeface="Aptos"/>
                <a:ea typeface="Aptos"/>
                <a:cs typeface="Aptos"/>
              </a:defRPr>
            </a:pPr>
            <a:r>
              <a:rPr sz="1800" b="1" i="0">
                <a:solidFill>
                  <a:srgbClr val="C46A2B"/>
                </a:solidFill>
                <a:latin typeface="Aptos"/>
                <a:ea typeface="Aptos"/>
                <a:cs typeface="Aptos"/>
              </a:rPr>
              <a:t>2 x 5,040</a:t>
            </a:r>
          </a:p>
        </p:txBody>
      </p:sp>
      <p:sp>
        <p:nvSpPr>
          <p:cNvPr id="13" name="">
            <a:extLst xmlns:a="http://schemas.openxmlformats.org/drawingml/2006/main">
              <a:ext uri="{FF2B5EF4-FFF2-40B4-BE49-F238E27FC236}">
                <a16:creationId xmlns:a16="http://schemas.microsoft.com/office/drawing/2014/main" id="{F623149F-9965-426C-B173-ECF76A02F043}"/>
              </a:ext>
            </a:extLst>
          </p:cNvPr>
          <p:cNvSpPr>
            <a:spLocks xmlns:a="http://schemas.openxmlformats.org/drawingml/2006/main" noGrp="1"/>
          </p:cNvSpPr>
          <p:nvPr/>
        </p:nvSpPr>
        <p:spPr>
          <a:xfrm xmlns:a="http://schemas.openxmlformats.org/drawingml/2006/main">
            <a:off x="3476625" y="29813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596979"/>
                </a:solidFill>
                <a:latin typeface="Aptos"/>
                <a:ea typeface="Aptos"/>
                <a:cs typeface="Aptos"/>
              </a:defRPr>
            </a:pPr>
            <a:r>
              <a:rPr sz="1200" b="0" i="0">
                <a:solidFill>
                  <a:srgbClr val="596979"/>
                </a:solidFill>
                <a:latin typeface="Aptos"/>
                <a:ea typeface="Aptos"/>
                <a:cs typeface="Aptos"/>
              </a:rPr>
              <a:t>Seeds 0, 1, 2</a:t>
            </a:r>
          </a:p>
        </p:txBody>
      </p:sp>
      <p:sp>
        <p:nvSpPr>
          <p:cNvPr id="14" name="">
            <a:extLst xmlns:a="http://schemas.openxmlformats.org/drawingml/2006/main">
              <a:ext uri="{FF2B5EF4-FFF2-40B4-BE49-F238E27FC236}">
                <a16:creationId xmlns:a16="http://schemas.microsoft.com/office/drawing/2014/main" id="{1EA7FBCB-8617-4AD8-B82D-6A0BF58CA331}"/>
              </a:ext>
            </a:extLst>
          </p:cNvPr>
          <p:cNvSpPr>
            <a:spLocks xmlns:a="http://schemas.openxmlformats.org/drawingml/2006/main" noGrp="1"/>
          </p:cNvSpPr>
          <p:nvPr/>
        </p:nvSpPr>
        <p:spPr>
          <a:xfrm xmlns:a="http://schemas.openxmlformats.org/drawingml/2006/main">
            <a:off x="6096000" y="2333625"/>
            <a:ext cx="2476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19050">
            <a:solidFill>
              <a:srgbClr val="1F6F68"/>
            </a:solidFill>
            <a:prstDash val="solid"/>
          </a:ln>
        </p:spPr>
      </p:sp>
      <p:sp>
        <p:nvSpPr>
          <p:cNvPr id="15" name="">
            <a:extLst xmlns:a="http://schemas.openxmlformats.org/drawingml/2006/main">
              <a:ext uri="{FF2B5EF4-FFF2-40B4-BE49-F238E27FC236}">
                <a16:creationId xmlns:a16="http://schemas.microsoft.com/office/drawing/2014/main" id="{D42AAACB-2F34-4DF0-BA9E-322909D797AD}"/>
              </a:ext>
            </a:extLst>
          </p:cNvPr>
          <p:cNvSpPr>
            <a:spLocks xmlns:a="http://schemas.openxmlformats.org/drawingml/2006/main" noGrp="1"/>
          </p:cNvSpPr>
          <p:nvPr/>
        </p:nvSpPr>
        <p:spPr>
          <a:xfrm xmlns:a="http://schemas.openxmlformats.org/drawingml/2006/main">
            <a:off x="6286500" y="2543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194"/>
          </a:bodyPr>
          <a:lstStyle xmlns:a="http://schemas.openxmlformats.org/drawingml/2006/main"/>
          <a:p xmlns:a="http://schemas.openxmlformats.org/drawingml/2006/main">
            <a:pPr>
              <a:defRPr sz="1800" b="1" i="0">
                <a:solidFill>
                  <a:srgbClr val="1F6F68"/>
                </a:solidFill>
                <a:latin typeface="Aptos"/>
                <a:ea typeface="Aptos"/>
                <a:cs typeface="Aptos"/>
              </a:defRPr>
            </a:pPr>
            <a:r>
              <a:rPr sz="1800" b="1" i="0">
                <a:solidFill>
                  <a:srgbClr val="1F6F68"/>
                </a:solidFill>
                <a:latin typeface="Aptos"/>
                <a:ea typeface="Aptos"/>
                <a:cs typeface="Aptos"/>
              </a:rPr>
              <a:t>2 x 5,040</a:t>
            </a:r>
          </a:p>
        </p:txBody>
      </p:sp>
      <p:sp>
        <p:nvSpPr>
          <p:cNvPr id="16" name="">
            <a:extLst xmlns:a="http://schemas.openxmlformats.org/drawingml/2006/main">
              <a:ext uri="{FF2B5EF4-FFF2-40B4-BE49-F238E27FC236}">
                <a16:creationId xmlns:a16="http://schemas.microsoft.com/office/drawing/2014/main" id="{965719E2-F99C-43EC-8FE4-170398917F95}"/>
              </a:ext>
            </a:extLst>
          </p:cNvPr>
          <p:cNvSpPr>
            <a:spLocks xmlns:a="http://schemas.openxmlformats.org/drawingml/2006/main" noGrp="1"/>
          </p:cNvSpPr>
          <p:nvPr/>
        </p:nvSpPr>
        <p:spPr>
          <a:xfrm xmlns:a="http://schemas.openxmlformats.org/drawingml/2006/main">
            <a:off x="6286500" y="29813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596979"/>
                </a:solidFill>
                <a:latin typeface="Aptos"/>
                <a:ea typeface="Aptos"/>
                <a:cs typeface="Aptos"/>
              </a:defRPr>
            </a:pPr>
            <a:r>
              <a:rPr sz="1200" b="0" i="0">
                <a:solidFill>
                  <a:srgbClr val="596979"/>
                </a:solidFill>
                <a:latin typeface="Aptos"/>
                <a:ea typeface="Aptos"/>
                <a:cs typeface="Aptos"/>
              </a:rPr>
              <a:t>Seeds 0, 1, 2</a:t>
            </a:r>
          </a:p>
        </p:txBody>
      </p:sp>
      <p:sp>
        <p:nvSpPr>
          <p:cNvPr id="17" name="">
            <a:extLst xmlns:a="http://schemas.openxmlformats.org/drawingml/2006/main">
              <a:ext uri="{FF2B5EF4-FFF2-40B4-BE49-F238E27FC236}">
                <a16:creationId xmlns:a16="http://schemas.microsoft.com/office/drawing/2014/main" id="{D617345C-896A-421E-BF35-2264A61FA602}"/>
              </a:ext>
            </a:extLst>
          </p:cNvPr>
          <p:cNvSpPr>
            <a:spLocks xmlns:a="http://schemas.openxmlformats.org/drawingml/2006/main" noGrp="1"/>
          </p:cNvSpPr>
          <p:nvPr/>
        </p:nvSpPr>
        <p:spPr>
          <a:xfrm xmlns:a="http://schemas.openxmlformats.org/drawingml/2006/main">
            <a:off x="3286125" y="3714750"/>
            <a:ext cx="2476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19050">
            <a:solidFill>
              <a:srgbClr val="315F8D"/>
            </a:solidFill>
            <a:prstDash val="solid"/>
          </a:ln>
        </p:spPr>
      </p:sp>
      <p:sp>
        <p:nvSpPr>
          <p:cNvPr id="18" name="">
            <a:extLst xmlns:a="http://schemas.openxmlformats.org/drawingml/2006/main">
              <a:ext uri="{FF2B5EF4-FFF2-40B4-BE49-F238E27FC236}">
                <a16:creationId xmlns:a16="http://schemas.microsoft.com/office/drawing/2014/main" id="{2660D597-FF2E-4755-A329-B1C1C08E2BD1}"/>
              </a:ext>
            </a:extLst>
          </p:cNvPr>
          <p:cNvSpPr>
            <a:spLocks xmlns:a="http://schemas.openxmlformats.org/drawingml/2006/main" noGrp="1"/>
          </p:cNvSpPr>
          <p:nvPr/>
        </p:nvSpPr>
        <p:spPr>
          <a:xfrm xmlns:a="http://schemas.openxmlformats.org/drawingml/2006/main">
            <a:off x="3476625" y="39243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194"/>
          </a:bodyPr>
          <a:lstStyle xmlns:a="http://schemas.openxmlformats.org/drawingml/2006/main"/>
          <a:p xmlns:a="http://schemas.openxmlformats.org/drawingml/2006/main">
            <a:pPr>
              <a:defRPr sz="1800" b="1" i="0">
                <a:solidFill>
                  <a:srgbClr val="315F8D"/>
                </a:solidFill>
                <a:latin typeface="Aptos"/>
                <a:ea typeface="Aptos"/>
                <a:cs typeface="Aptos"/>
              </a:defRPr>
            </a:pPr>
            <a:r>
              <a:rPr sz="1800" b="1" i="0">
                <a:solidFill>
                  <a:srgbClr val="315F8D"/>
                </a:solidFill>
                <a:latin typeface="Aptos"/>
                <a:ea typeface="Aptos"/>
                <a:cs typeface="Aptos"/>
              </a:rPr>
              <a:t>8 x 5,040</a:t>
            </a:r>
          </a:p>
        </p:txBody>
      </p:sp>
      <p:sp>
        <p:nvSpPr>
          <p:cNvPr id="19" name="">
            <a:extLst xmlns:a="http://schemas.openxmlformats.org/drawingml/2006/main">
              <a:ext uri="{FF2B5EF4-FFF2-40B4-BE49-F238E27FC236}">
                <a16:creationId xmlns:a16="http://schemas.microsoft.com/office/drawing/2014/main" id="{BC301A86-72C9-41E7-A9D0-F65F65E7DD13}"/>
              </a:ext>
            </a:extLst>
          </p:cNvPr>
          <p:cNvSpPr>
            <a:spLocks xmlns:a="http://schemas.openxmlformats.org/drawingml/2006/main" noGrp="1"/>
          </p:cNvSpPr>
          <p:nvPr/>
        </p:nvSpPr>
        <p:spPr>
          <a:xfrm xmlns:a="http://schemas.openxmlformats.org/drawingml/2006/main">
            <a:off x="3476625" y="4362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596979"/>
                </a:solidFill>
                <a:latin typeface="Aptos"/>
                <a:ea typeface="Aptos"/>
                <a:cs typeface="Aptos"/>
              </a:defRPr>
            </a:pPr>
            <a:r>
              <a:rPr sz="1200" b="0" i="0">
                <a:solidFill>
                  <a:srgbClr val="596979"/>
                </a:solidFill>
                <a:latin typeface="Aptos"/>
                <a:ea typeface="Aptos"/>
                <a:cs typeface="Aptos"/>
              </a:rPr>
              <a:t>Seeds 0, 1, 2</a:t>
            </a:r>
          </a:p>
        </p:txBody>
      </p:sp>
      <p:sp>
        <p:nvSpPr>
          <p:cNvPr id="20" name="">
            <a:extLst xmlns:a="http://schemas.openxmlformats.org/drawingml/2006/main">
              <a:ext uri="{FF2B5EF4-FFF2-40B4-BE49-F238E27FC236}">
                <a16:creationId xmlns:a16="http://schemas.microsoft.com/office/drawing/2014/main" id="{1C5FF262-AE16-47A6-91BF-84FD9D11D184}"/>
              </a:ext>
            </a:extLst>
          </p:cNvPr>
          <p:cNvSpPr>
            <a:spLocks xmlns:a="http://schemas.openxmlformats.org/drawingml/2006/main" noGrp="1"/>
          </p:cNvSpPr>
          <p:nvPr/>
        </p:nvSpPr>
        <p:spPr>
          <a:xfrm xmlns:a="http://schemas.openxmlformats.org/drawingml/2006/main">
            <a:off x="6096000" y="3714750"/>
            <a:ext cx="2476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19050">
            <a:solidFill>
              <a:srgbClr val="A84632"/>
            </a:solidFill>
            <a:prstDash val="solid"/>
          </a:ln>
        </p:spPr>
      </p:sp>
      <p:sp>
        <p:nvSpPr>
          <p:cNvPr id="21" name="">
            <a:extLst xmlns:a="http://schemas.openxmlformats.org/drawingml/2006/main">
              <a:ext uri="{FF2B5EF4-FFF2-40B4-BE49-F238E27FC236}">
                <a16:creationId xmlns:a16="http://schemas.microsoft.com/office/drawing/2014/main" id="{7CC31609-684A-4DC5-8879-232AE2833CD4}"/>
              </a:ext>
            </a:extLst>
          </p:cNvPr>
          <p:cNvSpPr>
            <a:spLocks xmlns:a="http://schemas.openxmlformats.org/drawingml/2006/main" noGrp="1"/>
          </p:cNvSpPr>
          <p:nvPr/>
        </p:nvSpPr>
        <p:spPr>
          <a:xfrm xmlns:a="http://schemas.openxmlformats.org/drawingml/2006/main">
            <a:off x="6286500" y="39243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194"/>
          </a:bodyPr>
          <a:lstStyle xmlns:a="http://schemas.openxmlformats.org/drawingml/2006/main"/>
          <a:p xmlns:a="http://schemas.openxmlformats.org/drawingml/2006/main">
            <a:pPr>
              <a:defRPr sz="1800" b="1" i="0">
                <a:solidFill>
                  <a:srgbClr val="A84632"/>
                </a:solidFill>
                <a:latin typeface="Aptos"/>
                <a:ea typeface="Aptos"/>
                <a:cs typeface="Aptos"/>
              </a:defRPr>
            </a:pPr>
            <a:r>
              <a:rPr sz="1800" b="1" i="0">
                <a:solidFill>
                  <a:srgbClr val="A84632"/>
                </a:solidFill>
                <a:latin typeface="Aptos"/>
                <a:ea typeface="Aptos"/>
                <a:cs typeface="Aptos"/>
              </a:rPr>
              <a:t>8 x 5,040</a:t>
            </a:r>
          </a:p>
        </p:txBody>
      </p:sp>
      <p:sp>
        <p:nvSpPr>
          <p:cNvPr id="22" name="">
            <a:extLst xmlns:a="http://schemas.openxmlformats.org/drawingml/2006/main">
              <a:ext uri="{FF2B5EF4-FFF2-40B4-BE49-F238E27FC236}">
                <a16:creationId xmlns:a16="http://schemas.microsoft.com/office/drawing/2014/main" id="{7C06B4E6-60F0-4BA3-A605-7F2F521F3092}"/>
              </a:ext>
            </a:extLst>
          </p:cNvPr>
          <p:cNvSpPr>
            <a:spLocks xmlns:a="http://schemas.openxmlformats.org/drawingml/2006/main" noGrp="1"/>
          </p:cNvSpPr>
          <p:nvPr/>
        </p:nvSpPr>
        <p:spPr>
          <a:xfrm xmlns:a="http://schemas.openxmlformats.org/drawingml/2006/main">
            <a:off x="6286500" y="4362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596979"/>
                </a:solidFill>
                <a:latin typeface="Aptos"/>
                <a:ea typeface="Aptos"/>
                <a:cs typeface="Aptos"/>
              </a:defRPr>
            </a:pPr>
            <a:r>
              <a:rPr sz="1200" b="0" i="0">
                <a:solidFill>
                  <a:srgbClr val="596979"/>
                </a:solidFill>
                <a:latin typeface="Aptos"/>
                <a:ea typeface="Aptos"/>
                <a:cs typeface="Aptos"/>
              </a:rPr>
              <a:t>Seeds 0, 1, 2</a:t>
            </a:r>
          </a:p>
        </p:txBody>
      </p:sp>
      <p:sp>
        <p:nvSpPr>
          <p:cNvPr id="23" name="">
            <a:extLst xmlns:a="http://schemas.openxmlformats.org/drawingml/2006/main">
              <a:ext uri="{FF2B5EF4-FFF2-40B4-BE49-F238E27FC236}">
                <a16:creationId xmlns:a16="http://schemas.microsoft.com/office/drawing/2014/main" id="{B3AD199A-2979-4508-A703-F8E95AE6E43A}"/>
              </a:ext>
            </a:extLst>
          </p:cNvPr>
          <p:cNvSpPr>
            <a:spLocks xmlns:a="http://schemas.openxmlformats.org/drawingml/2006/main" noGrp="1"/>
          </p:cNvSpPr>
          <p:nvPr/>
        </p:nvSpPr>
        <p:spPr>
          <a:xfrm xmlns:a="http://schemas.openxmlformats.org/drawingml/2006/main">
            <a:off x="9048750" y="2333625"/>
            <a:ext cx="2381250" cy="1095375"/>
          </a:xfrm>
          <a:prstGeom xmlns:a="http://schemas.openxmlformats.org/drawingml/2006/main" prst="roundRect">
            <a:avLst>
              <a:gd name="adj" fmla="val 10435"/>
            </a:avLst>
          </a:prstGeom>
          <a:solidFill xmlns:a="http://schemas.openxmlformats.org/drawingml/2006/main">
            <a:srgbClr val="FFFAF1"/>
          </a:solidFill>
          <a:ln xmlns:a="http://schemas.openxmlformats.org/drawingml/2006/main" w="9525">
            <a:solidFill>
              <a:srgbClr val="DDCFBA"/>
            </a:solidFill>
            <a:prstDash val="solid"/>
          </a:ln>
        </p:spPr>
      </p:sp>
      <p:sp>
        <p:nvSpPr>
          <p:cNvPr id="24" name="">
            <a:extLst xmlns:a="http://schemas.openxmlformats.org/drawingml/2006/main">
              <a:ext uri="{FF2B5EF4-FFF2-40B4-BE49-F238E27FC236}">
                <a16:creationId xmlns:a16="http://schemas.microsoft.com/office/drawing/2014/main" id="{388B7072-FDE1-4A17-A078-5F8A26A63EC8}"/>
              </a:ext>
            </a:extLst>
          </p:cNvPr>
          <p:cNvSpPr>
            <a:spLocks xmlns:a="http://schemas.openxmlformats.org/drawingml/2006/main" noGrp="1"/>
          </p:cNvSpPr>
          <p:nvPr/>
        </p:nvSpPr>
        <p:spPr>
          <a:xfrm xmlns:a="http://schemas.openxmlformats.org/drawingml/2006/main">
            <a:off x="9048750" y="2333625"/>
            <a:ext cx="66675" cy="1095375"/>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5A6BEA7-DFE8-4366-B702-8C0415281D17}"/>
              </a:ext>
            </a:extLst>
          </p:cNvPr>
          <p:cNvSpPr>
            <a:spLocks xmlns:a="http://schemas.openxmlformats.org/drawingml/2006/main" noGrp="1"/>
          </p:cNvSpPr>
          <p:nvPr/>
        </p:nvSpPr>
        <p:spPr>
          <a:xfrm xmlns:a="http://schemas.openxmlformats.org/drawingml/2006/main">
            <a:off x="9315450" y="25431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1F6F68"/>
                </a:solidFill>
                <a:latin typeface="Aptos"/>
                <a:ea typeface="Aptos"/>
                <a:cs typeface="Aptos"/>
              </a:defRPr>
            </a:pPr>
            <a:r>
              <a:rPr sz="1350" b="1" i="0">
                <a:solidFill>
                  <a:srgbClr val="1F6F68"/>
                </a:solidFill>
                <a:latin typeface="Aptos"/>
                <a:ea typeface="Aptos"/>
                <a:cs typeface="Aptos"/>
              </a:rPr>
              <a:t>Credit study</a:t>
            </a:r>
          </a:p>
        </p:txBody>
      </p:sp>
      <p:sp>
        <p:nvSpPr>
          <p:cNvPr id="26" name="">
            <a:extLst xmlns:a="http://schemas.openxmlformats.org/drawingml/2006/main">
              <a:ext uri="{FF2B5EF4-FFF2-40B4-BE49-F238E27FC236}">
                <a16:creationId xmlns:a16="http://schemas.microsoft.com/office/drawing/2014/main" id="{27AB1A49-6D45-4CB2-82E7-B6E4493CEBDB}"/>
              </a:ext>
            </a:extLst>
          </p:cNvPr>
          <p:cNvSpPr>
            <a:spLocks xmlns:a="http://schemas.openxmlformats.org/drawingml/2006/main" noGrp="1"/>
          </p:cNvSpPr>
          <p:nvPr/>
        </p:nvSpPr>
        <p:spPr>
          <a:xfrm xmlns:a="http://schemas.openxmlformats.org/drawingml/2006/main">
            <a:off x="9315450" y="2952750"/>
            <a:ext cx="1885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4959"/>
          </a:bodyPr>
          <a:lstStyle xmlns:a="http://schemas.openxmlformats.org/drawingml/2006/main"/>
          <a:p xmlns:a="http://schemas.openxmlformats.org/drawingml/2006/main">
            <a:pPr>
              <a:defRPr sz="1200" b="0" i="0">
                <a:solidFill>
                  <a:srgbClr val="17202A"/>
                </a:solidFill>
                <a:latin typeface="Aptos"/>
                <a:ea typeface="Aptos"/>
                <a:cs typeface="Aptos"/>
              </a:defRPr>
            </a:pPr>
            <a:r>
              <a:rPr sz="1200" b="0" i="0">
                <a:solidFill>
                  <a:srgbClr val="17202A"/>
                </a:solidFill>
                <a:latin typeface="Aptos"/>
                <a:ea typeface="Aptos"/>
                <a:cs typeface="Aptos"/>
              </a:rPr>
              <a:t>Standalone vs counterfactual reward</a:t>
            </a:r>
          </a:p>
        </p:txBody>
      </p:sp>
      <p:sp>
        <p:nvSpPr>
          <p:cNvPr id="27" name="">
            <a:extLst xmlns:a="http://schemas.openxmlformats.org/drawingml/2006/main">
              <a:ext uri="{FF2B5EF4-FFF2-40B4-BE49-F238E27FC236}">
                <a16:creationId xmlns:a16="http://schemas.microsoft.com/office/drawing/2014/main" id="{81AED719-67D7-4EE1-8ABE-54B121B58FB5}"/>
              </a:ext>
            </a:extLst>
          </p:cNvPr>
          <p:cNvSpPr>
            <a:spLocks xmlns:a="http://schemas.openxmlformats.org/drawingml/2006/main" noGrp="1"/>
          </p:cNvSpPr>
          <p:nvPr/>
        </p:nvSpPr>
        <p:spPr>
          <a:xfrm xmlns:a="http://schemas.openxmlformats.org/drawingml/2006/main">
            <a:off x="9048750" y="3714750"/>
            <a:ext cx="2381250" cy="1095375"/>
          </a:xfrm>
          <a:prstGeom xmlns:a="http://schemas.openxmlformats.org/drawingml/2006/main" prst="roundRect">
            <a:avLst>
              <a:gd name="adj" fmla="val 10435"/>
            </a:avLst>
          </a:prstGeom>
          <a:solidFill xmlns:a="http://schemas.openxmlformats.org/drawingml/2006/main">
            <a:srgbClr val="FFFAF1"/>
          </a:solidFill>
          <a:ln xmlns:a="http://schemas.openxmlformats.org/drawingml/2006/main" w="9525">
            <a:solidFill>
              <a:srgbClr val="DDCFBA"/>
            </a:solidFill>
            <a:prstDash val="solid"/>
          </a:ln>
        </p:spPr>
      </p:sp>
      <p:sp>
        <p:nvSpPr>
          <p:cNvPr id="28" name="">
            <a:extLst xmlns:a="http://schemas.openxmlformats.org/drawingml/2006/main">
              <a:ext uri="{FF2B5EF4-FFF2-40B4-BE49-F238E27FC236}">
                <a16:creationId xmlns:a16="http://schemas.microsoft.com/office/drawing/2014/main" id="{26A34EE5-F14E-45C9-ADBB-A52D93C2CA5E}"/>
              </a:ext>
            </a:extLst>
          </p:cNvPr>
          <p:cNvSpPr>
            <a:spLocks xmlns:a="http://schemas.openxmlformats.org/drawingml/2006/main" noGrp="1"/>
          </p:cNvSpPr>
          <p:nvPr/>
        </p:nvSpPr>
        <p:spPr>
          <a:xfrm xmlns:a="http://schemas.openxmlformats.org/drawingml/2006/main">
            <a:off x="9048750" y="3714750"/>
            <a:ext cx="66675" cy="1095375"/>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21F6734-F272-4ECF-9BD5-C09BB2A98146}"/>
              </a:ext>
            </a:extLst>
          </p:cNvPr>
          <p:cNvSpPr>
            <a:spLocks xmlns:a="http://schemas.openxmlformats.org/drawingml/2006/main" noGrp="1"/>
          </p:cNvSpPr>
          <p:nvPr/>
        </p:nvSpPr>
        <p:spPr>
          <a:xfrm xmlns:a="http://schemas.openxmlformats.org/drawingml/2006/main">
            <a:off x="9315450" y="3924300"/>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315F8D"/>
                </a:solidFill>
                <a:latin typeface="Aptos"/>
                <a:ea typeface="Aptos"/>
                <a:cs typeface="Aptos"/>
              </a:defRPr>
            </a:pPr>
            <a:r>
              <a:rPr sz="1350" b="1" i="0">
                <a:solidFill>
                  <a:srgbClr val="315F8D"/>
                </a:solidFill>
                <a:latin typeface="Aptos"/>
                <a:ea typeface="Aptos"/>
                <a:cs typeface="Aptos"/>
              </a:rPr>
              <a:t>Exploratory</a:t>
            </a:r>
          </a:p>
        </p:txBody>
      </p:sp>
      <p:sp>
        <p:nvSpPr>
          <p:cNvPr id="30" name="">
            <a:extLst xmlns:a="http://schemas.openxmlformats.org/drawingml/2006/main">
              <a:ext uri="{FF2B5EF4-FFF2-40B4-BE49-F238E27FC236}">
                <a16:creationId xmlns:a16="http://schemas.microsoft.com/office/drawing/2014/main" id="{81E3D71C-8834-4B70-A479-FE01D1EDC434}"/>
              </a:ext>
            </a:extLst>
          </p:cNvPr>
          <p:cNvSpPr>
            <a:spLocks xmlns:a="http://schemas.openxmlformats.org/drawingml/2006/main" noGrp="1"/>
          </p:cNvSpPr>
          <p:nvPr/>
        </p:nvSpPr>
        <p:spPr>
          <a:xfrm xmlns:a="http://schemas.openxmlformats.org/drawingml/2006/main">
            <a:off x="9315450" y="4333875"/>
            <a:ext cx="1885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00"/>
          </a:bodyPr>
          <a:lstStyle xmlns:a="http://schemas.openxmlformats.org/drawingml/2006/main"/>
          <a:p xmlns:a="http://schemas.openxmlformats.org/drawingml/2006/main">
            <a:pPr>
              <a:defRPr sz="1125" b="0" i="0">
                <a:solidFill>
                  <a:srgbClr val="17202A"/>
                </a:solidFill>
                <a:latin typeface="Aptos"/>
                <a:ea typeface="Aptos"/>
                <a:cs typeface="Aptos"/>
              </a:defRPr>
            </a:pPr>
            <a:r>
              <a:rPr sz="1125" b="0" i="0">
                <a:solidFill>
                  <a:srgbClr val="17202A"/>
                </a:solidFill>
                <a:latin typeface="Aptos"/>
                <a:ea typeface="Aptos"/>
                <a:cs typeface="Aptos"/>
              </a:rPr>
              <a:t>Lookback 20/30/40/60 and margin 0.90/0.85/0.80</a:t>
            </a:r>
          </a:p>
        </p:txBody>
      </p:sp>
      <p:sp>
        <p:nvSpPr>
          <p:cNvPr id="31" name="">
            <a:extLst xmlns:a="http://schemas.openxmlformats.org/drawingml/2006/main">
              <a:ext uri="{FF2B5EF4-FFF2-40B4-BE49-F238E27FC236}">
                <a16:creationId xmlns:a16="http://schemas.microsoft.com/office/drawing/2014/main" id="{3BEDDF1A-F7A9-4311-A51D-521D767F23D7}"/>
              </a:ext>
            </a:extLst>
          </p:cNvPr>
          <p:cNvSpPr>
            <a:spLocks xmlns:a="http://schemas.openxmlformats.org/drawingml/2006/main" noGrp="1"/>
          </p:cNvSpPr>
          <p:nvPr/>
        </p:nvSpPr>
        <p:spPr>
          <a:xfrm xmlns:a="http://schemas.openxmlformats.org/drawingml/2006/main">
            <a:off x="1428750" y="53340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202A"/>
                </a:solidFill>
                <a:latin typeface="Aptos"/>
                <a:ea typeface="Aptos"/>
                <a:cs typeface="Aptos"/>
              </a:defRPr>
            </a:pPr>
            <a:r>
              <a:rPr sz="1350" b="1" i="0">
                <a:solidFill>
                  <a:srgbClr val="17202A"/>
                </a:solidFill>
                <a:latin typeface="Aptos"/>
                <a:ea typeface="Aptos"/>
                <a:cs typeface="Aptos"/>
              </a:rPr>
              <a:t>Fixed: 252-step episodes, 60,000 updates, 8 risky assets + cash, allocation constraints</a:t>
            </a:r>
          </a:p>
        </p:txBody>
      </p:sp>
    </p:spTree>
    <p:extLst>
      <p:ext uri="{BB962C8B-B14F-4D97-AF65-F5344CB8AC3E}">
        <p14:creationId xmlns:p14="http://schemas.microsoft.com/office/powerpoint/2010/main" val="300237998"/>
      </p:ext>
    </p:extLst>
  </p:cSld>
</p:sld>
</file>

<file path=ppt/slides/slide5.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D8FA9A-75F3-4F3C-AF9E-B58387836B0B}"/>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TRAINING HISTORY | V2.6 AND V3.2</a:t>
            </a:r>
          </a:p>
        </p:txBody>
      </p:sp>
      <p:sp>
        <p:nvSpPr>
          <p:cNvPr id="2" name="">
            <a:extLst xmlns:a="http://schemas.openxmlformats.org/drawingml/2006/main">
              <a:ext uri="{FF2B5EF4-FFF2-40B4-BE49-F238E27FC236}">
                <a16:creationId xmlns:a16="http://schemas.microsoft.com/office/drawing/2014/main" id="{88CE0B8C-3DB8-4AD8-BA58-893CA324DEF2}"/>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First establish the algorithm baseline, then isolate branch credit</a:t>
            </a:r>
          </a:p>
        </p:txBody>
      </p:sp>
      <p:sp>
        <p:nvSpPr>
          <p:cNvPr id="3" name="">
            <a:extLst xmlns:a="http://schemas.openxmlformats.org/drawingml/2006/main">
              <a:ext uri="{FF2B5EF4-FFF2-40B4-BE49-F238E27FC236}">
                <a16:creationId xmlns:a16="http://schemas.microsoft.com/office/drawing/2014/main" id="{337E2795-B184-454D-BF61-2C085694E04B}"/>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EA0351-2D9D-476E-AB09-D831D35A2809}"/>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239948F5-7BD6-498D-BB05-BB29F6CBBFE2}"/>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5</a:t>
            </a:r>
          </a:p>
        </p:txBody>
      </p:sp>
      <p:sp>
        <p:nvSpPr>
          <p:cNvPr id="6" name="">
            <a:extLst xmlns:a="http://schemas.openxmlformats.org/drawingml/2006/main">
              <a:ext uri="{FF2B5EF4-FFF2-40B4-BE49-F238E27FC236}">
                <a16:creationId xmlns:a16="http://schemas.microsoft.com/office/drawing/2014/main" id="{1B0980DF-8973-4DAD-BE67-008550822F05}"/>
              </a:ext>
            </a:extLst>
          </p:cNvPr>
          <p:cNvSpPr>
            <a:spLocks xmlns:a="http://schemas.openxmlformats.org/drawingml/2006/main" noGrp="1"/>
          </p:cNvSpPr>
          <p:nvPr/>
        </p:nvSpPr>
        <p:spPr>
          <a:xfrm xmlns:a="http://schemas.openxmlformats.org/drawingml/2006/main">
            <a:off x="762000" y="1809750"/>
            <a:ext cx="5143500" cy="3286125"/>
          </a:xfrm>
          <a:prstGeom xmlns:a="http://schemas.openxmlformats.org/drawingml/2006/main" prst="roundRect">
            <a:avLst>
              <a:gd name="adj" fmla="val 3478"/>
            </a:avLst>
          </a:prstGeom>
          <a:solidFill xmlns:a="http://schemas.openxmlformats.org/drawingml/2006/main">
            <a:srgbClr val="FFFAF1"/>
          </a:solidFill>
          <a:ln xmlns:a="http://schemas.openxmlformats.org/drawingml/2006/main" w="9525">
            <a:solidFill>
              <a:srgbClr val="DDCFBA"/>
            </a:solidFill>
            <a:prstDash val="solid"/>
          </a:ln>
        </p:spPr>
      </p:sp>
      <p:sp>
        <p:nvSpPr>
          <p:cNvPr id="7" name="">
            <a:extLst xmlns:a="http://schemas.openxmlformats.org/drawingml/2006/main">
              <a:ext uri="{FF2B5EF4-FFF2-40B4-BE49-F238E27FC236}">
                <a16:creationId xmlns:a16="http://schemas.microsoft.com/office/drawing/2014/main" id="{A3AA6C6D-081E-4ABD-A6E1-253EC5C84530}"/>
              </a:ext>
            </a:extLst>
          </p:cNvPr>
          <p:cNvSpPr>
            <a:spLocks xmlns:a="http://schemas.openxmlformats.org/drawingml/2006/main" noGrp="1"/>
          </p:cNvSpPr>
          <p:nvPr/>
        </p:nvSpPr>
        <p:spPr>
          <a:xfrm xmlns:a="http://schemas.openxmlformats.org/drawingml/2006/main">
            <a:off x="762000" y="1809750"/>
            <a:ext cx="66675" cy="3286125"/>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A11B40-EB03-4718-BE99-29AA551D0C44}"/>
              </a:ext>
            </a:extLst>
          </p:cNvPr>
          <p:cNvSpPr>
            <a:spLocks xmlns:a="http://schemas.openxmlformats.org/drawingml/2006/main" noGrp="1"/>
          </p:cNvSpPr>
          <p:nvPr/>
        </p:nvSpPr>
        <p:spPr>
          <a:xfrm xmlns:a="http://schemas.openxmlformats.org/drawingml/2006/main">
            <a:off x="1028700" y="2019300"/>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V2.6 | six baseline arms</a:t>
            </a:r>
          </a:p>
        </p:txBody>
      </p:sp>
      <p:sp>
        <p:nvSpPr>
          <p:cNvPr id="9" name="">
            <a:extLst xmlns:a="http://schemas.openxmlformats.org/drawingml/2006/main">
              <a:ext uri="{FF2B5EF4-FFF2-40B4-BE49-F238E27FC236}">
                <a16:creationId xmlns:a16="http://schemas.microsoft.com/office/drawing/2014/main" id="{031CC9F6-74DF-4E5E-9D3D-5ADAAD4D14AC}"/>
              </a:ext>
            </a:extLst>
          </p:cNvPr>
          <p:cNvSpPr>
            <a:spLocks xmlns:a="http://schemas.openxmlformats.org/drawingml/2006/main" noGrp="1"/>
          </p:cNvSpPr>
          <p:nvPr/>
        </p:nvSpPr>
        <p:spPr>
          <a:xfrm xmlns:a="http://schemas.openxmlformats.org/drawingml/2006/main">
            <a:off x="1028700" y="2428875"/>
            <a:ext cx="46482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8 markets x 5,040 steps; lookback 20; 60,000 updates.</a:t>
            </a:r>
          </a:p>
          <a:p xmlns:a="http://schemas.openxmlformats.org/drawingml/2006/main">
            <a:r>
              <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Simplex PPO/RCPO x Gaussian/Dirichlet (four arms).</a:t>
            </a:r>
          </a:p>
          <a:p xmlns:a="http://schemas.openxmlformats.org/drawingml/2006/main">
            <a:r>
              <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Two softmax RCPO comparisons: allocation penalty alone, and allocation + drawdown penalty.</a:t>
            </a:r>
          </a:p>
        </p:txBody>
      </p:sp>
      <p:sp>
        <p:nvSpPr>
          <p:cNvPr id="10" name="">
            <a:extLst xmlns:a="http://schemas.openxmlformats.org/drawingml/2006/main">
              <a:ext uri="{FF2B5EF4-FFF2-40B4-BE49-F238E27FC236}">
                <a16:creationId xmlns:a16="http://schemas.microsoft.com/office/drawing/2014/main" id="{214B0832-6524-491D-BDD7-34241ED85A77}"/>
              </a:ext>
            </a:extLst>
          </p:cNvPr>
          <p:cNvSpPr>
            <a:spLocks xmlns:a="http://schemas.openxmlformats.org/drawingml/2006/main" noGrp="1"/>
          </p:cNvSpPr>
          <p:nvPr/>
        </p:nvSpPr>
        <p:spPr>
          <a:xfrm xmlns:a="http://schemas.openxmlformats.org/drawingml/2006/main">
            <a:off x="6286500" y="1809750"/>
            <a:ext cx="5143500" cy="3286125"/>
          </a:xfrm>
          <a:prstGeom xmlns:a="http://schemas.openxmlformats.org/drawingml/2006/main" prst="roundRect">
            <a:avLst>
              <a:gd name="adj" fmla="val 3478"/>
            </a:avLst>
          </a:prstGeom>
          <a:solidFill xmlns:a="http://schemas.openxmlformats.org/drawingml/2006/main">
            <a:srgbClr val="FFFAF1"/>
          </a:solidFill>
          <a:ln xmlns:a="http://schemas.openxmlformats.org/drawingml/2006/main" w="9525">
            <a:solidFill>
              <a:srgbClr val="DDCFBA"/>
            </a:solidFill>
            <a:prstDash val="solid"/>
          </a:ln>
        </p:spPr>
      </p:sp>
      <p:sp>
        <p:nvSpPr>
          <p:cNvPr id="11" name="">
            <a:extLst xmlns:a="http://schemas.openxmlformats.org/drawingml/2006/main">
              <a:ext uri="{FF2B5EF4-FFF2-40B4-BE49-F238E27FC236}">
                <a16:creationId xmlns:a16="http://schemas.microsoft.com/office/drawing/2014/main" id="{BCAC1F35-4F2E-4C3F-AF52-ABCDA66AE809}"/>
              </a:ext>
            </a:extLst>
          </p:cNvPr>
          <p:cNvSpPr>
            <a:spLocks xmlns:a="http://schemas.openxmlformats.org/drawingml/2006/main" noGrp="1"/>
          </p:cNvSpPr>
          <p:nvPr/>
        </p:nvSpPr>
        <p:spPr>
          <a:xfrm xmlns:a="http://schemas.openxmlformats.org/drawingml/2006/main">
            <a:off x="6286500" y="1809750"/>
            <a:ext cx="66675" cy="3286125"/>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A47ECEE-95CF-49E7-8707-534B68508DD8}"/>
              </a:ext>
            </a:extLst>
          </p:cNvPr>
          <p:cNvSpPr>
            <a:spLocks xmlns:a="http://schemas.openxmlformats.org/drawingml/2006/main" noGrp="1"/>
          </p:cNvSpPr>
          <p:nvPr/>
        </p:nvSpPr>
        <p:spPr>
          <a:xfrm xmlns:a="http://schemas.openxmlformats.org/drawingml/2006/main">
            <a:off x="6553200" y="2019300"/>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315F8D"/>
                </a:solidFill>
                <a:latin typeface="Aptos"/>
                <a:ea typeface="Aptos"/>
                <a:cs typeface="Aptos"/>
              </a:defRPr>
            </a:pPr>
            <a:r>
              <a:rPr sz="1500" b="1" i="0">
                <a:solidFill>
                  <a:srgbClr val="315F8D"/>
                </a:solidFill>
                <a:latin typeface="Aptos"/>
                <a:ea typeface="Aptos"/>
                <a:cs typeface="Aptos"/>
              </a:rPr>
              <a:t>V3.2 | six branch-credit arms</a:t>
            </a:r>
          </a:p>
        </p:txBody>
      </p:sp>
      <p:sp>
        <p:nvSpPr>
          <p:cNvPr id="13" name="">
            <a:extLst xmlns:a="http://schemas.openxmlformats.org/drawingml/2006/main">
              <a:ext uri="{FF2B5EF4-FFF2-40B4-BE49-F238E27FC236}">
                <a16:creationId xmlns:a16="http://schemas.microsoft.com/office/drawing/2014/main" id="{BE110D3D-3FD7-45ED-BF2D-F8D42F19B8B0}"/>
              </a:ext>
            </a:extLst>
          </p:cNvPr>
          <p:cNvSpPr>
            <a:spLocks xmlns:a="http://schemas.openxmlformats.org/drawingml/2006/main" noGrp="1"/>
          </p:cNvSpPr>
          <p:nvPr/>
        </p:nvSpPr>
        <p:spPr>
          <a:xfrm xmlns:a="http://schemas.openxmlformats.org/drawingml/2006/main">
            <a:off x="6553200" y="2428875"/>
            <a:ext cx="46482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Keep the V2.6 market setup and RCPO.</a:t>
            </a:r>
          </a:p>
          <a:p xmlns:a="http://schemas.openxmlformats.org/drawingml/2006/main">
            <a:r>
              <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Gaussian/Dirichlet x counterfactual reward, counterfactual cost, or both (six arms).</a:t>
            </a:r>
          </a:p>
          <a:p xmlns:a="http://schemas.openxmlformats.org/drawingml/2006/main">
            <a:r>
              <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Gaussian uses 3 epochs; Dirichlet uses 4. Compare each with the V2.6 standalone-credit counterpart.</a:t>
            </a:r>
          </a:p>
        </p:txBody>
      </p:sp>
      <p:sp>
        <p:nvSpPr>
          <p:cNvPr id="14" name="">
            <a:extLst xmlns:a="http://schemas.openxmlformats.org/drawingml/2006/main">
              <a:ext uri="{FF2B5EF4-FFF2-40B4-BE49-F238E27FC236}">
                <a16:creationId xmlns:a16="http://schemas.microsoft.com/office/drawing/2014/main" id="{AA6F7470-CFDE-4C42-ADBB-E42D12680C0F}"/>
              </a:ext>
            </a:extLst>
          </p:cNvPr>
          <p:cNvSpPr>
            <a:spLocks xmlns:a="http://schemas.openxmlformats.org/drawingml/2006/main" noGrp="1"/>
          </p:cNvSpPr>
          <p:nvPr/>
        </p:nvSpPr>
        <p:spPr>
          <a:xfrm xmlns:a="http://schemas.openxmlformats.org/drawingml/2006/main">
            <a:off x="1000125" y="54768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Key distinction: V3.2 changes the branch learning signal, not the training-market design.</a:t>
            </a:r>
          </a:p>
        </p:txBody>
      </p:sp>
    </p:spTree>
    <p:extLst>
      <p:ext uri="{BB962C8B-B14F-4D97-AF65-F5344CB8AC3E}">
        <p14:creationId xmlns:p14="http://schemas.microsoft.com/office/powerpoint/2010/main" val="1026857500"/>
      </p:ext>
    </p:extLst>
  </p:cSld>
</p:sld>
</file>

<file path=ppt/slides/slide6.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42AB7E6-A91D-4DEE-8300-4FCA0342B33A}"/>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TRAINING CHANGES | FOUR VERSIONS</a:t>
            </a:r>
          </a:p>
        </p:txBody>
      </p:sp>
      <p:sp>
        <p:nvSpPr>
          <p:cNvPr id="2" name="">
            <a:extLst xmlns:a="http://schemas.openxmlformats.org/drawingml/2006/main">
              <a:ext uri="{FF2B5EF4-FFF2-40B4-BE49-F238E27FC236}">
                <a16:creationId xmlns:a16="http://schemas.microsoft.com/office/drawing/2014/main" id="{41FD2BEB-E961-4C12-A987-F6C5A2E36F2E}"/>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Each version answers a different question</a:t>
            </a:r>
          </a:p>
        </p:txBody>
      </p:sp>
      <p:sp>
        <p:nvSpPr>
          <p:cNvPr id="3" name="">
            <a:extLst xmlns:a="http://schemas.openxmlformats.org/drawingml/2006/main">
              <a:ext uri="{FF2B5EF4-FFF2-40B4-BE49-F238E27FC236}">
                <a16:creationId xmlns:a16="http://schemas.microsoft.com/office/drawing/2014/main" id="{EC2E1AB8-CEC8-49C7-965C-791E66CDC4B1}"/>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55AC03-C858-4489-91D6-19B1D1E6B4B0}"/>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1A829757-2486-421A-A215-5D9ED6521D09}"/>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6</a:t>
            </a:r>
          </a:p>
        </p:txBody>
      </p:sp>
      <p:sp>
        <p:nvSpPr>
          <p:cNvPr id="6" name="">
            <a:extLst xmlns:a="http://schemas.openxmlformats.org/drawingml/2006/main">
              <a:ext uri="{FF2B5EF4-FFF2-40B4-BE49-F238E27FC236}">
                <a16:creationId xmlns:a16="http://schemas.microsoft.com/office/drawing/2014/main" id="{845A30BB-AC5D-4FA0-B7E7-2F4246DCAF75}"/>
              </a:ext>
            </a:extLst>
          </p:cNvPr>
          <p:cNvSpPr>
            <a:spLocks xmlns:a="http://schemas.openxmlformats.org/drawingml/2006/main" noGrp="1"/>
          </p:cNvSpPr>
          <p:nvPr/>
        </p:nvSpPr>
        <p:spPr>
          <a:xfrm xmlns:a="http://schemas.openxmlformats.org/drawingml/2006/main">
            <a:off x="1000125" y="18383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Version</a:t>
            </a:r>
          </a:p>
        </p:txBody>
      </p:sp>
      <p:sp>
        <p:nvSpPr>
          <p:cNvPr id="7" name="">
            <a:extLst xmlns:a="http://schemas.openxmlformats.org/drawingml/2006/main">
              <a:ext uri="{FF2B5EF4-FFF2-40B4-BE49-F238E27FC236}">
                <a16:creationId xmlns:a16="http://schemas.microsoft.com/office/drawing/2014/main" id="{4ADB62CC-7363-4CB1-81F4-86BDBE6A71C3}"/>
              </a:ext>
            </a:extLst>
          </p:cNvPr>
          <p:cNvSpPr>
            <a:spLocks xmlns:a="http://schemas.openxmlformats.org/drawingml/2006/main" noGrp="1"/>
          </p:cNvSpPr>
          <p:nvPr/>
        </p:nvSpPr>
        <p:spPr>
          <a:xfrm xmlns:a="http://schemas.openxmlformats.org/drawingml/2006/main">
            <a:off x="2857500" y="1838325"/>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Training variable / question</a:t>
            </a:r>
          </a:p>
        </p:txBody>
      </p:sp>
      <p:sp>
        <p:nvSpPr>
          <p:cNvPr id="8" name="">
            <a:extLst xmlns:a="http://schemas.openxmlformats.org/drawingml/2006/main">
              <a:ext uri="{FF2B5EF4-FFF2-40B4-BE49-F238E27FC236}">
                <a16:creationId xmlns:a16="http://schemas.microsoft.com/office/drawing/2014/main" id="{22069C90-540A-4D00-86B0-94F829781531}"/>
              </a:ext>
            </a:extLst>
          </p:cNvPr>
          <p:cNvSpPr>
            <a:spLocks xmlns:a="http://schemas.openxmlformats.org/drawingml/2006/main" noGrp="1"/>
          </p:cNvSpPr>
          <p:nvPr/>
        </p:nvSpPr>
        <p:spPr>
          <a:xfrm xmlns:a="http://schemas.openxmlformats.org/drawingml/2006/main">
            <a:off x="9096375" y="183832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i="0">
                <a:solidFill>
                  <a:srgbClr val="596979"/>
                </a:solidFill>
                <a:latin typeface="Aptos"/>
                <a:ea typeface="Aptos"/>
                <a:cs typeface="Aptos"/>
              </a:defRPr>
            </a:pPr>
            <a:r>
              <a:rPr sz="1350" b="1" i="0">
                <a:solidFill>
                  <a:srgbClr val="596979"/>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AF4BB482-18E3-4FC2-9B37-26E308FA2B7D}"/>
              </a:ext>
            </a:extLst>
          </p:cNvPr>
          <p:cNvSpPr>
            <a:spLocks xmlns:a="http://schemas.openxmlformats.org/drawingml/2006/main" noGrp="1"/>
          </p:cNvSpPr>
          <p:nvPr/>
        </p:nvSpPr>
        <p:spPr>
          <a:xfrm xmlns:a="http://schemas.openxmlformats.org/drawingml/2006/main">
            <a:off x="762000" y="2238375"/>
            <a:ext cx="106680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9525">
            <a:solidFill>
              <a:srgbClr val="DDCFBA"/>
            </a:solidFill>
            <a:prstDash val="solid"/>
          </a:ln>
        </p:spPr>
      </p:sp>
      <p:sp>
        <p:nvSpPr>
          <p:cNvPr id="10" name="">
            <a:extLst xmlns:a="http://schemas.openxmlformats.org/drawingml/2006/main">
              <a:ext uri="{FF2B5EF4-FFF2-40B4-BE49-F238E27FC236}">
                <a16:creationId xmlns:a16="http://schemas.microsoft.com/office/drawing/2014/main" id="{AE49940D-A8EB-497D-ADE5-22C87C32D4F2}"/>
              </a:ext>
            </a:extLst>
          </p:cNvPr>
          <p:cNvSpPr>
            <a:spLocks xmlns:a="http://schemas.openxmlformats.org/drawingml/2006/main" noGrp="1"/>
          </p:cNvSpPr>
          <p:nvPr/>
        </p:nvSpPr>
        <p:spPr>
          <a:xfrm xmlns:a="http://schemas.openxmlformats.org/drawingml/2006/main">
            <a:off x="762000" y="2238375"/>
            <a:ext cx="66675" cy="70485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2FC9FA-0ED8-4AA2-A6A3-B9FF0DF1A5C3}"/>
              </a:ext>
            </a:extLst>
          </p:cNvPr>
          <p:cNvSpPr>
            <a:spLocks xmlns:a="http://schemas.openxmlformats.org/drawingml/2006/main" noGrp="1"/>
          </p:cNvSpPr>
          <p:nvPr/>
        </p:nvSpPr>
        <p:spPr>
          <a:xfrm xmlns:a="http://schemas.openxmlformats.org/drawingml/2006/main">
            <a:off x="1000125" y="24193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defRPr sz="1725" b="1" i="0">
                <a:solidFill>
                  <a:srgbClr val="1F6F68"/>
                </a:solidFill>
                <a:latin typeface="Aptos"/>
                <a:ea typeface="Aptos"/>
                <a:cs typeface="Aptos"/>
              </a:defRPr>
            </a:pPr>
            <a:r>
              <a:rPr sz="1725" b="1" i="0">
                <a:solidFill>
                  <a:srgbClr val="1F6F68"/>
                </a:solidFill>
                <a:latin typeface="Aptos"/>
                <a:ea typeface="Aptos"/>
                <a:cs typeface="Aptos"/>
              </a:rPr>
              <a:t>V2.6</a:t>
            </a:r>
          </a:p>
        </p:txBody>
      </p:sp>
      <p:sp>
        <p:nvSpPr>
          <p:cNvPr id="12" name="">
            <a:extLst xmlns:a="http://schemas.openxmlformats.org/drawingml/2006/main">
              <a:ext uri="{FF2B5EF4-FFF2-40B4-BE49-F238E27FC236}">
                <a16:creationId xmlns:a16="http://schemas.microsoft.com/office/drawing/2014/main" id="{F89CDC6E-B103-4329-A562-5C663B1BECB4}"/>
              </a:ext>
            </a:extLst>
          </p:cNvPr>
          <p:cNvSpPr>
            <a:spLocks xmlns:a="http://schemas.openxmlformats.org/drawingml/2006/main" noGrp="1"/>
          </p:cNvSpPr>
          <p:nvPr/>
        </p:nvSpPr>
        <p:spPr>
          <a:xfrm xmlns:a="http://schemas.openxmlformats.org/drawingml/2006/main">
            <a:off x="2857500" y="2409825"/>
            <a:ext cx="585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Algorithm and constraint baselines</a:t>
            </a:r>
          </a:p>
        </p:txBody>
      </p:sp>
      <p:sp>
        <p:nvSpPr>
          <p:cNvPr id="13" name="">
            <a:extLst xmlns:a="http://schemas.openxmlformats.org/drawingml/2006/main">
              <a:ext uri="{FF2B5EF4-FFF2-40B4-BE49-F238E27FC236}">
                <a16:creationId xmlns:a16="http://schemas.microsoft.com/office/drawing/2014/main" id="{CA2D4C5B-059F-461A-941B-558FEA4785DE}"/>
              </a:ext>
            </a:extLst>
          </p:cNvPr>
          <p:cNvSpPr>
            <a:spLocks xmlns:a="http://schemas.openxmlformats.org/drawingml/2006/main" noGrp="1"/>
          </p:cNvSpPr>
          <p:nvPr/>
        </p:nvSpPr>
        <p:spPr>
          <a:xfrm xmlns:a="http://schemas.openxmlformats.org/drawingml/2006/main">
            <a:off x="9096375" y="2409825"/>
            <a:ext cx="2238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596979"/>
                </a:solidFill>
                <a:latin typeface="Aptos"/>
                <a:ea typeface="Aptos"/>
                <a:cs typeface="Aptos"/>
              </a:defRPr>
            </a:pPr>
            <a:r>
              <a:rPr sz="1275" b="1" i="0">
                <a:solidFill>
                  <a:srgbClr val="596979"/>
                </a:solidFill>
                <a:latin typeface="Aptos"/>
                <a:ea typeface="Aptos"/>
                <a:cs typeface="Aptos"/>
              </a:rPr>
              <a:t>6 arms; seed 0</a:t>
            </a:r>
          </a:p>
        </p:txBody>
      </p:sp>
      <p:sp>
        <p:nvSpPr>
          <p:cNvPr id="14" name="">
            <a:extLst xmlns:a="http://schemas.openxmlformats.org/drawingml/2006/main">
              <a:ext uri="{FF2B5EF4-FFF2-40B4-BE49-F238E27FC236}">
                <a16:creationId xmlns:a16="http://schemas.microsoft.com/office/drawing/2014/main" id="{E5DC2C9B-EDEB-41C4-A6F3-0D64CC10DFCF}"/>
              </a:ext>
            </a:extLst>
          </p:cNvPr>
          <p:cNvSpPr>
            <a:spLocks xmlns:a="http://schemas.openxmlformats.org/drawingml/2006/main" noGrp="1"/>
          </p:cNvSpPr>
          <p:nvPr/>
        </p:nvSpPr>
        <p:spPr>
          <a:xfrm xmlns:a="http://schemas.openxmlformats.org/drawingml/2006/main">
            <a:off x="762000" y="3105150"/>
            <a:ext cx="10668000" cy="704850"/>
          </a:xfrm>
          <a:prstGeom xmlns:a="http://schemas.openxmlformats.org/drawingml/2006/main" prst="roundRect">
            <a:avLst>
              <a:gd name="adj" fmla="val 16216"/>
            </a:avLst>
          </a:prstGeom>
          <a:solidFill xmlns:a="http://schemas.openxmlformats.org/drawingml/2006/main">
            <a:srgbClr val="F7F4EC"/>
          </a:solidFill>
          <a:ln xmlns:a="http://schemas.openxmlformats.org/drawingml/2006/main" w="9525">
            <a:solidFill>
              <a:srgbClr val="DDCFBA"/>
            </a:solidFill>
            <a:prstDash val="solid"/>
          </a:ln>
        </p:spPr>
      </p:sp>
      <p:sp>
        <p:nvSpPr>
          <p:cNvPr id="15" name="">
            <a:extLst xmlns:a="http://schemas.openxmlformats.org/drawingml/2006/main">
              <a:ext uri="{FF2B5EF4-FFF2-40B4-BE49-F238E27FC236}">
                <a16:creationId xmlns:a16="http://schemas.microsoft.com/office/drawing/2014/main" id="{138465A6-A692-404D-A781-A2692387A9C5}"/>
              </a:ext>
            </a:extLst>
          </p:cNvPr>
          <p:cNvSpPr>
            <a:spLocks xmlns:a="http://schemas.openxmlformats.org/drawingml/2006/main" noGrp="1"/>
          </p:cNvSpPr>
          <p:nvPr/>
        </p:nvSpPr>
        <p:spPr>
          <a:xfrm xmlns:a="http://schemas.openxmlformats.org/drawingml/2006/main">
            <a:off x="762000" y="3105150"/>
            <a:ext cx="66675" cy="704850"/>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0CA054-BA7D-4C49-AA65-C3BCF362265A}"/>
              </a:ext>
            </a:extLst>
          </p:cNvPr>
          <p:cNvSpPr>
            <a:spLocks xmlns:a="http://schemas.openxmlformats.org/drawingml/2006/main" noGrp="1"/>
          </p:cNvSpPr>
          <p:nvPr/>
        </p:nvSpPr>
        <p:spPr>
          <a:xfrm xmlns:a="http://schemas.openxmlformats.org/drawingml/2006/main">
            <a:off x="1000125" y="328612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defRPr sz="1725" b="1" i="0">
                <a:solidFill>
                  <a:srgbClr val="315F8D"/>
                </a:solidFill>
                <a:latin typeface="Aptos"/>
                <a:ea typeface="Aptos"/>
                <a:cs typeface="Aptos"/>
              </a:defRPr>
            </a:pPr>
            <a:r>
              <a:rPr sz="1725" b="1" i="0">
                <a:solidFill>
                  <a:srgbClr val="315F8D"/>
                </a:solidFill>
                <a:latin typeface="Aptos"/>
                <a:ea typeface="Aptos"/>
                <a:cs typeface="Aptos"/>
              </a:rPr>
              <a:t>V3.2</a:t>
            </a:r>
          </a:p>
        </p:txBody>
      </p:sp>
      <p:sp>
        <p:nvSpPr>
          <p:cNvPr id="17" name="">
            <a:extLst xmlns:a="http://schemas.openxmlformats.org/drawingml/2006/main">
              <a:ext uri="{FF2B5EF4-FFF2-40B4-BE49-F238E27FC236}">
                <a16:creationId xmlns:a16="http://schemas.microsoft.com/office/drawing/2014/main" id="{B70A0F5C-B712-4FEC-91A9-34F607E6FE5D}"/>
              </a:ext>
            </a:extLst>
          </p:cNvPr>
          <p:cNvSpPr>
            <a:spLocks xmlns:a="http://schemas.openxmlformats.org/drawingml/2006/main" noGrp="1"/>
          </p:cNvSpPr>
          <p:nvPr/>
        </p:nvSpPr>
        <p:spPr>
          <a:xfrm xmlns:a="http://schemas.openxmlformats.org/drawingml/2006/main">
            <a:off x="2857500" y="3276600"/>
            <a:ext cx="585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Branch credit: counterfactual reward / cost / both</a:t>
            </a:r>
          </a:p>
        </p:txBody>
      </p:sp>
      <p:sp>
        <p:nvSpPr>
          <p:cNvPr id="18" name="">
            <a:extLst xmlns:a="http://schemas.openxmlformats.org/drawingml/2006/main">
              <a:ext uri="{FF2B5EF4-FFF2-40B4-BE49-F238E27FC236}">
                <a16:creationId xmlns:a16="http://schemas.microsoft.com/office/drawing/2014/main" id="{C81C05EE-F6AD-4671-A3D6-06370F40452D}"/>
              </a:ext>
            </a:extLst>
          </p:cNvPr>
          <p:cNvSpPr>
            <a:spLocks xmlns:a="http://schemas.openxmlformats.org/drawingml/2006/main" noGrp="1"/>
          </p:cNvSpPr>
          <p:nvPr/>
        </p:nvSpPr>
        <p:spPr>
          <a:xfrm xmlns:a="http://schemas.openxmlformats.org/drawingml/2006/main">
            <a:off x="9096375" y="3276600"/>
            <a:ext cx="2238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596979"/>
                </a:solidFill>
                <a:latin typeface="Aptos"/>
                <a:ea typeface="Aptos"/>
                <a:cs typeface="Aptos"/>
              </a:defRPr>
            </a:pPr>
            <a:r>
              <a:rPr sz="1275" b="1" i="0">
                <a:solidFill>
                  <a:srgbClr val="596979"/>
                </a:solidFill>
                <a:latin typeface="Aptos"/>
                <a:ea typeface="Aptos"/>
                <a:cs typeface="Aptos"/>
              </a:rPr>
              <a:t>6 arms; seed 0</a:t>
            </a:r>
          </a:p>
        </p:txBody>
      </p:sp>
      <p:sp>
        <p:nvSpPr>
          <p:cNvPr id="19" name="">
            <a:extLst xmlns:a="http://schemas.openxmlformats.org/drawingml/2006/main">
              <a:ext uri="{FF2B5EF4-FFF2-40B4-BE49-F238E27FC236}">
                <a16:creationId xmlns:a16="http://schemas.microsoft.com/office/drawing/2014/main" id="{CE64B51E-AE18-4182-96CA-3B952A576A3A}"/>
              </a:ext>
            </a:extLst>
          </p:cNvPr>
          <p:cNvSpPr>
            <a:spLocks xmlns:a="http://schemas.openxmlformats.org/drawingml/2006/main" noGrp="1"/>
          </p:cNvSpPr>
          <p:nvPr/>
        </p:nvSpPr>
        <p:spPr>
          <a:xfrm xmlns:a="http://schemas.openxmlformats.org/drawingml/2006/main">
            <a:off x="762000" y="3971925"/>
            <a:ext cx="106680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9525">
            <a:solidFill>
              <a:srgbClr val="DDCFBA"/>
            </a:solidFill>
            <a:prstDash val="solid"/>
          </a:ln>
        </p:spPr>
      </p:sp>
      <p:sp>
        <p:nvSpPr>
          <p:cNvPr id="20" name="">
            <a:extLst xmlns:a="http://schemas.openxmlformats.org/drawingml/2006/main">
              <a:ext uri="{FF2B5EF4-FFF2-40B4-BE49-F238E27FC236}">
                <a16:creationId xmlns:a16="http://schemas.microsoft.com/office/drawing/2014/main" id="{B782A039-7063-4D65-AA10-4E876CAFC0A0}"/>
              </a:ext>
            </a:extLst>
          </p:cNvPr>
          <p:cNvSpPr>
            <a:spLocks xmlns:a="http://schemas.openxmlformats.org/drawingml/2006/main" noGrp="1"/>
          </p:cNvSpPr>
          <p:nvPr/>
        </p:nvSpPr>
        <p:spPr>
          <a:xfrm xmlns:a="http://schemas.openxmlformats.org/drawingml/2006/main">
            <a:off x="762000" y="3971925"/>
            <a:ext cx="66675" cy="704850"/>
          </a:xfrm>
          <a:prstGeom xmlns:a="http://schemas.openxmlformats.org/drawingml/2006/main" prst="rect">
            <a:avLst/>
          </a:prstGeom>
          <a:solidFill xmlns:a="http://schemas.openxmlformats.org/drawingml/2006/main">
            <a:srgbClr val="C46A2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1CBD691-9C6B-413E-9ED7-ADC4E8113D32}"/>
              </a:ext>
            </a:extLst>
          </p:cNvPr>
          <p:cNvSpPr>
            <a:spLocks xmlns:a="http://schemas.openxmlformats.org/drawingml/2006/main" noGrp="1"/>
          </p:cNvSpPr>
          <p:nvPr/>
        </p:nvSpPr>
        <p:spPr>
          <a:xfrm xmlns:a="http://schemas.openxmlformats.org/drawingml/2006/main">
            <a:off x="1000125" y="415290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defRPr sz="1725" b="1" i="0">
                <a:solidFill>
                  <a:srgbClr val="C46A2B"/>
                </a:solidFill>
                <a:latin typeface="Aptos"/>
                <a:ea typeface="Aptos"/>
                <a:cs typeface="Aptos"/>
              </a:defRPr>
            </a:pPr>
            <a:r>
              <a:rPr sz="1725" b="1" i="0">
                <a:solidFill>
                  <a:srgbClr val="C46A2B"/>
                </a:solidFill>
                <a:latin typeface="Aptos"/>
                <a:ea typeface="Aptos"/>
                <a:cs typeface="Aptos"/>
              </a:rPr>
              <a:t>V3.3</a:t>
            </a:r>
          </a:p>
        </p:txBody>
      </p:sp>
      <p:sp>
        <p:nvSpPr>
          <p:cNvPr id="22" name="">
            <a:extLst xmlns:a="http://schemas.openxmlformats.org/drawingml/2006/main">
              <a:ext uri="{FF2B5EF4-FFF2-40B4-BE49-F238E27FC236}">
                <a16:creationId xmlns:a16="http://schemas.microsoft.com/office/drawing/2014/main" id="{3A480BA3-1EA6-45A1-AFC8-33A5BC04B774}"/>
              </a:ext>
            </a:extLst>
          </p:cNvPr>
          <p:cNvSpPr>
            <a:spLocks xmlns:a="http://schemas.openxmlformats.org/drawingml/2006/main" noGrp="1"/>
          </p:cNvSpPr>
          <p:nvPr/>
        </p:nvSpPr>
        <p:spPr>
          <a:xfrm xmlns:a="http://schemas.openxmlformats.org/drawingml/2006/main">
            <a:off x="2857500" y="4143375"/>
            <a:ext cx="585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Market count 2/8; length 5,040/10,080/20,160; method probes</a:t>
            </a:r>
          </a:p>
        </p:txBody>
      </p:sp>
      <p:sp>
        <p:nvSpPr>
          <p:cNvPr id="23" name="">
            <a:extLst xmlns:a="http://schemas.openxmlformats.org/drawingml/2006/main">
              <a:ext uri="{FF2B5EF4-FFF2-40B4-BE49-F238E27FC236}">
                <a16:creationId xmlns:a16="http://schemas.microsoft.com/office/drawing/2014/main" id="{C8E0847F-0276-4629-8864-03F6AD481C51}"/>
              </a:ext>
            </a:extLst>
          </p:cNvPr>
          <p:cNvSpPr>
            <a:spLocks xmlns:a="http://schemas.openxmlformats.org/drawingml/2006/main" noGrp="1"/>
          </p:cNvSpPr>
          <p:nvPr/>
        </p:nvSpPr>
        <p:spPr>
          <a:xfrm xmlns:a="http://schemas.openxmlformats.org/drawingml/2006/main">
            <a:off x="9096375" y="4143375"/>
            <a:ext cx="2238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596979"/>
                </a:solidFill>
                <a:latin typeface="Aptos"/>
                <a:ea typeface="Aptos"/>
                <a:cs typeface="Aptos"/>
              </a:defRPr>
            </a:pPr>
            <a:r>
              <a:rPr sz="1275" b="1" i="0">
                <a:solidFill>
                  <a:srgbClr val="596979"/>
                </a:solidFill>
                <a:latin typeface="Aptos"/>
                <a:ea typeface="Aptos"/>
                <a:cs typeface="Aptos"/>
              </a:rPr>
              <a:t>11 arms; seed 0</a:t>
            </a:r>
          </a:p>
        </p:txBody>
      </p:sp>
      <p:sp>
        <p:nvSpPr>
          <p:cNvPr id="24" name="">
            <a:extLst xmlns:a="http://schemas.openxmlformats.org/drawingml/2006/main">
              <a:ext uri="{FF2B5EF4-FFF2-40B4-BE49-F238E27FC236}">
                <a16:creationId xmlns:a16="http://schemas.microsoft.com/office/drawing/2014/main" id="{CA6909CB-EB37-4802-9D61-D3E9583B99C3}"/>
              </a:ext>
            </a:extLst>
          </p:cNvPr>
          <p:cNvSpPr>
            <a:spLocks xmlns:a="http://schemas.openxmlformats.org/drawingml/2006/main" noGrp="1"/>
          </p:cNvSpPr>
          <p:nvPr/>
        </p:nvSpPr>
        <p:spPr>
          <a:xfrm xmlns:a="http://schemas.openxmlformats.org/drawingml/2006/main">
            <a:off x="762000" y="4838700"/>
            <a:ext cx="10668000" cy="704850"/>
          </a:xfrm>
          <a:prstGeom xmlns:a="http://schemas.openxmlformats.org/drawingml/2006/main" prst="roundRect">
            <a:avLst>
              <a:gd name="adj" fmla="val 16216"/>
            </a:avLst>
          </a:prstGeom>
          <a:solidFill xmlns:a="http://schemas.openxmlformats.org/drawingml/2006/main">
            <a:srgbClr val="F7F4EC"/>
          </a:solidFill>
          <a:ln xmlns:a="http://schemas.openxmlformats.org/drawingml/2006/main" w="9525">
            <a:solidFill>
              <a:srgbClr val="DDCFBA"/>
            </a:solidFill>
            <a:prstDash val="solid"/>
          </a:ln>
        </p:spPr>
      </p:sp>
      <p:sp>
        <p:nvSpPr>
          <p:cNvPr id="25" name="">
            <a:extLst xmlns:a="http://schemas.openxmlformats.org/drawingml/2006/main">
              <a:ext uri="{FF2B5EF4-FFF2-40B4-BE49-F238E27FC236}">
                <a16:creationId xmlns:a16="http://schemas.microsoft.com/office/drawing/2014/main" id="{A0C73441-C7A4-4EDC-B663-FD6AC75866FC}"/>
              </a:ext>
            </a:extLst>
          </p:cNvPr>
          <p:cNvSpPr>
            <a:spLocks xmlns:a="http://schemas.openxmlformats.org/drawingml/2006/main" noGrp="1"/>
          </p:cNvSpPr>
          <p:nvPr/>
        </p:nvSpPr>
        <p:spPr>
          <a:xfrm xmlns:a="http://schemas.openxmlformats.org/drawingml/2006/main">
            <a:off x="762000" y="4838700"/>
            <a:ext cx="66675" cy="70485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6E4EFA9-7096-43EF-9691-B66AE1B36E80}"/>
              </a:ext>
            </a:extLst>
          </p:cNvPr>
          <p:cNvSpPr>
            <a:spLocks xmlns:a="http://schemas.openxmlformats.org/drawingml/2006/main" noGrp="1"/>
          </p:cNvSpPr>
          <p:nvPr/>
        </p:nvSpPr>
        <p:spPr>
          <a:xfrm xmlns:a="http://schemas.openxmlformats.org/drawingml/2006/main">
            <a:off x="1000125" y="50196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6"/>
          </a:bodyPr>
          <a:lstStyle xmlns:a="http://schemas.openxmlformats.org/drawingml/2006/main"/>
          <a:p xmlns:a="http://schemas.openxmlformats.org/drawingml/2006/main">
            <a:pPr>
              <a:defRPr sz="1725" b="1" i="0">
                <a:solidFill>
                  <a:srgbClr val="A84632"/>
                </a:solidFill>
                <a:latin typeface="Aptos"/>
                <a:ea typeface="Aptos"/>
                <a:cs typeface="Aptos"/>
              </a:defRPr>
            </a:pPr>
            <a:r>
              <a:rPr sz="1725" b="1" i="0">
                <a:solidFill>
                  <a:srgbClr val="A84632"/>
                </a:solidFill>
                <a:latin typeface="Aptos"/>
                <a:ea typeface="Aptos"/>
                <a:cs typeface="Aptos"/>
              </a:rPr>
              <a:t>V3.4</a:t>
            </a:r>
          </a:p>
        </p:txBody>
      </p:sp>
      <p:sp>
        <p:nvSpPr>
          <p:cNvPr id="27" name="">
            <a:extLst xmlns:a="http://schemas.openxmlformats.org/drawingml/2006/main">
              <a:ext uri="{FF2B5EF4-FFF2-40B4-BE49-F238E27FC236}">
                <a16:creationId xmlns:a16="http://schemas.microsoft.com/office/drawing/2014/main" id="{8B9DFFAB-A477-4070-A47D-D0E8426FF7EF}"/>
              </a:ext>
            </a:extLst>
          </p:cNvPr>
          <p:cNvSpPr>
            <a:spLocks xmlns:a="http://schemas.openxmlformats.org/drawingml/2006/main" noGrp="1"/>
          </p:cNvSpPr>
          <p:nvPr/>
        </p:nvSpPr>
        <p:spPr>
          <a:xfrm xmlns:a="http://schemas.openxmlformats.org/drawingml/2006/main">
            <a:off x="2857500" y="5010150"/>
            <a:ext cx="585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2/8 markets x 3/4 epochs; credit, window, margin sweeps</a:t>
            </a:r>
          </a:p>
        </p:txBody>
      </p:sp>
      <p:sp>
        <p:nvSpPr>
          <p:cNvPr id="28" name="">
            <a:extLst xmlns:a="http://schemas.openxmlformats.org/drawingml/2006/main">
              <a:ext uri="{FF2B5EF4-FFF2-40B4-BE49-F238E27FC236}">
                <a16:creationId xmlns:a16="http://schemas.microsoft.com/office/drawing/2014/main" id="{965C23F4-30D7-48C9-826C-4B92AC50471E}"/>
              </a:ext>
            </a:extLst>
          </p:cNvPr>
          <p:cNvSpPr>
            <a:spLocks xmlns:a="http://schemas.openxmlformats.org/drawingml/2006/main" noGrp="1"/>
          </p:cNvSpPr>
          <p:nvPr/>
        </p:nvSpPr>
        <p:spPr>
          <a:xfrm xmlns:a="http://schemas.openxmlformats.org/drawingml/2006/main">
            <a:off x="9096375" y="5010150"/>
            <a:ext cx="2238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74"/>
          </a:bodyPr>
          <a:lstStyle xmlns:a="http://schemas.openxmlformats.org/drawingml/2006/main"/>
          <a:p xmlns:a="http://schemas.openxmlformats.org/drawingml/2006/main">
            <a:pPr>
              <a:defRPr sz="1275" b="1" i="0">
                <a:solidFill>
                  <a:srgbClr val="596979"/>
                </a:solidFill>
                <a:latin typeface="Aptos"/>
                <a:ea typeface="Aptos"/>
                <a:cs typeface="Aptos"/>
              </a:defRPr>
            </a:pPr>
            <a:r>
              <a:rPr sz="1275" b="1" i="0">
                <a:solidFill>
                  <a:srgbClr val="596979"/>
                </a:solidFill>
                <a:latin typeface="Aptos"/>
                <a:ea typeface="Aptos"/>
                <a:cs typeface="Aptos"/>
              </a:rPr>
              <a:t>22 new seed-runs; core seeds 0-2</a:t>
            </a:r>
          </a:p>
        </p:txBody>
      </p:sp>
      <p:sp>
        <p:nvSpPr>
          <p:cNvPr id="29" name="">
            <a:extLst xmlns:a="http://schemas.openxmlformats.org/drawingml/2006/main">
              <a:ext uri="{FF2B5EF4-FFF2-40B4-BE49-F238E27FC236}">
                <a16:creationId xmlns:a16="http://schemas.microsoft.com/office/drawing/2014/main" id="{A8487FB8-6F6A-47E0-B7AB-FBFC3E2071FD}"/>
              </a:ext>
            </a:extLst>
          </p:cNvPr>
          <p:cNvSpPr>
            <a:spLocks xmlns:a="http://schemas.openxmlformats.org/drawingml/2006/main" noGrp="1"/>
          </p:cNvSpPr>
          <p:nvPr/>
        </p:nvSpPr>
        <p:spPr>
          <a:xfrm xmlns:a="http://schemas.openxmlformats.org/drawingml/2006/main">
            <a:off x="904875" y="59055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17202A"/>
                </a:solidFill>
                <a:latin typeface="Aptos"/>
                <a:ea typeface="Aptos"/>
                <a:cs typeface="Aptos"/>
              </a:defRPr>
            </a:pPr>
            <a:r>
              <a:rPr sz="1275" b="1" i="0">
                <a:solidFill>
                  <a:srgbClr val="17202A"/>
                </a:solidFill>
                <a:latin typeface="Aptos"/>
                <a:ea typeface="Aptos"/>
                <a:cs typeface="Aptos"/>
              </a:rPr>
              <a:t>All use the same 8-risky-asset + cash task; V3.3/V3.4 test generalization, not a new environment.</a:t>
            </a:r>
          </a:p>
        </p:txBody>
      </p:sp>
    </p:spTree>
    <p:extLst>
      <p:ext uri="{BB962C8B-B14F-4D97-AF65-F5344CB8AC3E}">
        <p14:creationId xmlns:p14="http://schemas.microsoft.com/office/powerpoint/2010/main" val="397004918"/>
      </p:ext>
    </p:extLst>
  </p:cSld>
</p:sld>
</file>

<file path=ppt/slides/slide7.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998987B-F69E-4E77-B525-2C30C41C4D13}"/>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EVALUATION PROTOCOL</a:t>
            </a:r>
          </a:p>
        </p:txBody>
      </p:sp>
      <p:sp>
        <p:nvSpPr>
          <p:cNvPr id="2" name="">
            <a:extLst xmlns:a="http://schemas.openxmlformats.org/drawingml/2006/main">
              <a:ext uri="{FF2B5EF4-FFF2-40B4-BE49-F238E27FC236}">
                <a16:creationId xmlns:a16="http://schemas.microsoft.com/office/drawing/2014/main" id="{E2B269D8-642E-442F-8CDB-21F614E36092}"/>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Every checkpoint faces the same 100 matched future markets</a:t>
            </a:r>
          </a:p>
        </p:txBody>
      </p:sp>
      <p:sp>
        <p:nvSpPr>
          <p:cNvPr id="3" name="">
            <a:extLst xmlns:a="http://schemas.openxmlformats.org/drawingml/2006/main">
              <a:ext uri="{FF2B5EF4-FFF2-40B4-BE49-F238E27FC236}">
                <a16:creationId xmlns:a16="http://schemas.microsoft.com/office/drawing/2014/main" id="{FC0362B0-BB85-47EC-86F8-F0FF24B9AC74}"/>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6DDAC5-9D04-4FAA-BF91-EBE1C65B0058}"/>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F77F0D1E-1F8C-4521-9FDD-B6941A148E54}"/>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7</a:t>
            </a:r>
          </a:p>
        </p:txBody>
      </p:sp>
      <p:sp>
        <p:nvSpPr>
          <p:cNvPr id="6" name="">
            <a:extLst xmlns:a="http://schemas.openxmlformats.org/drawingml/2006/main">
              <a:ext uri="{FF2B5EF4-FFF2-40B4-BE49-F238E27FC236}">
                <a16:creationId xmlns:a16="http://schemas.microsoft.com/office/drawing/2014/main" id="{DB1392F8-2F11-40A1-8F17-237C91ED6BF2}"/>
              </a:ext>
            </a:extLst>
          </p:cNvPr>
          <p:cNvSpPr>
            <a:spLocks xmlns:a="http://schemas.openxmlformats.org/drawingml/2006/main" noGrp="1"/>
          </p:cNvSpPr>
          <p:nvPr/>
        </p:nvSpPr>
        <p:spPr>
          <a:xfrm xmlns:a="http://schemas.openxmlformats.org/drawingml/2006/main">
            <a:off x="904875" y="2095500"/>
            <a:ext cx="1619250" cy="1285875"/>
          </a:xfrm>
          <a:prstGeom xmlns:a="http://schemas.openxmlformats.org/drawingml/2006/main" prst="roundRect">
            <a:avLst>
              <a:gd name="adj" fmla="val 8889"/>
            </a:avLst>
          </a:prstGeom>
          <a:solidFill xmlns:a="http://schemas.openxmlformats.org/drawingml/2006/main">
            <a:srgbClr val="F7F4EC"/>
          </a:solidFill>
          <a:ln xmlns:a="http://schemas.openxmlformats.org/drawingml/2006/main" w="19050">
            <a:solidFill>
              <a:srgbClr val="C46A2B"/>
            </a:solidFill>
            <a:prstDash val="solid"/>
          </a:ln>
        </p:spPr>
      </p:sp>
      <p:sp>
        <p:nvSpPr>
          <p:cNvPr id="7" name="">
            <a:extLst xmlns:a="http://schemas.openxmlformats.org/drawingml/2006/main">
              <a:ext uri="{FF2B5EF4-FFF2-40B4-BE49-F238E27FC236}">
                <a16:creationId xmlns:a16="http://schemas.microsoft.com/office/drawing/2014/main" id="{0BF779DC-70E9-4B05-9322-AF0E28C29DB3}"/>
              </a:ext>
            </a:extLst>
          </p:cNvPr>
          <p:cNvSpPr>
            <a:spLocks xmlns:a="http://schemas.openxmlformats.org/drawingml/2006/main" noGrp="1"/>
          </p:cNvSpPr>
          <p:nvPr/>
        </p:nvSpPr>
        <p:spPr>
          <a:xfrm xmlns:a="http://schemas.openxmlformats.org/drawingml/2006/main">
            <a:off x="1095375" y="22860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85"/>
          </a:bodyPr>
          <a:lstStyle xmlns:a="http://schemas.openxmlformats.org/drawingml/2006/main"/>
          <a:p xmlns:a="http://schemas.openxmlformats.org/drawingml/2006/main">
            <a:pPr>
              <a:defRPr sz="3300" b="1" i="0">
                <a:solidFill>
                  <a:srgbClr val="C46A2B"/>
                </a:solidFill>
                <a:latin typeface="Aptos"/>
                <a:ea typeface="Aptos"/>
                <a:cs typeface="Aptos"/>
              </a:defRPr>
            </a:pPr>
            <a:r>
              <a:rPr sz="3300" b="1" i="0">
                <a:solidFill>
                  <a:srgbClr val="C46A2B"/>
                </a:solidFill>
                <a:latin typeface="Aptos"/>
                <a:ea typeface="Aptos"/>
                <a:cs typeface="Aptos"/>
              </a:rPr>
              <a:t>5</a:t>
            </a:r>
          </a:p>
        </p:txBody>
      </p:sp>
      <p:sp>
        <p:nvSpPr>
          <p:cNvPr id="8" name="">
            <a:extLst xmlns:a="http://schemas.openxmlformats.org/drawingml/2006/main">
              <a:ext uri="{FF2B5EF4-FFF2-40B4-BE49-F238E27FC236}">
                <a16:creationId xmlns:a16="http://schemas.microsoft.com/office/drawing/2014/main" id="{4F096FA2-28A6-4926-ADEA-55119967303F}"/>
              </a:ext>
            </a:extLst>
          </p:cNvPr>
          <p:cNvSpPr>
            <a:spLocks xmlns:a="http://schemas.openxmlformats.org/drawingml/2006/main" noGrp="1"/>
          </p:cNvSpPr>
          <p:nvPr/>
        </p:nvSpPr>
        <p:spPr>
          <a:xfrm xmlns:a="http://schemas.openxmlformats.org/drawingml/2006/main">
            <a:off x="1047750" y="28575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841"/>
          </a:bodyPr>
          <a:lstStyle xmlns:a="http://schemas.openxmlformats.org/drawingml/2006/main"/>
          <a:p xmlns:a="http://schemas.openxmlformats.org/drawingml/2006/main">
            <a:pPr>
              <a:defRPr sz="1200" b="1" i="0">
                <a:solidFill>
                  <a:srgbClr val="17202A"/>
                </a:solidFill>
                <a:latin typeface="Aptos"/>
                <a:ea typeface="Aptos"/>
                <a:cs typeface="Aptos"/>
              </a:defRPr>
            </a:pPr>
            <a:r>
              <a:rPr sz="1200" b="1" i="0">
                <a:solidFill>
                  <a:srgbClr val="17202A"/>
                </a:solidFill>
                <a:latin typeface="Aptos"/>
                <a:ea typeface="Aptos"/>
                <a:cs typeface="Aptos"/>
              </a:rPr>
              <a:t>independent anchors</a:t>
            </a:r>
          </a:p>
        </p:txBody>
      </p:sp>
      <p:sp>
        <p:nvSpPr>
          <p:cNvPr id="9" name="">
            <a:extLst xmlns:a="http://schemas.openxmlformats.org/drawingml/2006/main">
              <a:ext uri="{FF2B5EF4-FFF2-40B4-BE49-F238E27FC236}">
                <a16:creationId xmlns:a16="http://schemas.microsoft.com/office/drawing/2014/main" id="{DC00D76D-6338-4D27-B948-BAB50E6489AD}"/>
              </a:ext>
            </a:extLst>
          </p:cNvPr>
          <p:cNvSpPr>
            <a:spLocks xmlns:a="http://schemas.openxmlformats.org/drawingml/2006/main" noGrp="1"/>
          </p:cNvSpPr>
          <p:nvPr/>
        </p:nvSpPr>
        <p:spPr>
          <a:xfrm xmlns:a="http://schemas.openxmlformats.org/drawingml/2006/main">
            <a:off x="2524125" y="2714625"/>
            <a:ext cx="476250" cy="28575"/>
          </a:xfrm>
          <a:prstGeom xmlns:a="http://schemas.openxmlformats.org/drawingml/2006/main" prst="rect">
            <a:avLst/>
          </a:prstGeom>
          <a:solidFill xmlns:a="http://schemas.openxmlformats.org/drawingml/2006/main">
            <a:srgbClr val="DDCF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10C9E9-8CFB-401C-A19E-589543972190}"/>
              </a:ext>
            </a:extLst>
          </p:cNvPr>
          <p:cNvSpPr>
            <a:spLocks xmlns:a="http://schemas.openxmlformats.org/drawingml/2006/main" noGrp="1"/>
          </p:cNvSpPr>
          <p:nvPr/>
        </p:nvSpPr>
        <p:spPr>
          <a:xfrm xmlns:a="http://schemas.openxmlformats.org/drawingml/2006/main">
            <a:off x="3000375" y="2095500"/>
            <a:ext cx="161925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1F6F68"/>
            </a:solidFill>
            <a:prstDash val="solid"/>
          </a:ln>
        </p:spPr>
      </p:sp>
      <p:sp>
        <p:nvSpPr>
          <p:cNvPr id="11" name="">
            <a:extLst xmlns:a="http://schemas.openxmlformats.org/drawingml/2006/main">
              <a:ext uri="{FF2B5EF4-FFF2-40B4-BE49-F238E27FC236}">
                <a16:creationId xmlns:a16="http://schemas.microsoft.com/office/drawing/2014/main" id="{61712B6C-4254-49E3-B6A6-2A3BAD385913}"/>
              </a:ext>
            </a:extLst>
          </p:cNvPr>
          <p:cNvSpPr>
            <a:spLocks xmlns:a="http://schemas.openxmlformats.org/drawingml/2006/main" noGrp="1"/>
          </p:cNvSpPr>
          <p:nvPr/>
        </p:nvSpPr>
        <p:spPr>
          <a:xfrm xmlns:a="http://schemas.openxmlformats.org/drawingml/2006/main">
            <a:off x="3190875" y="22860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85"/>
          </a:bodyPr>
          <a:lstStyle xmlns:a="http://schemas.openxmlformats.org/drawingml/2006/main"/>
          <a:p xmlns:a="http://schemas.openxmlformats.org/drawingml/2006/main">
            <a:pPr>
              <a:defRPr sz="3300" b="1" i="0">
                <a:solidFill>
                  <a:srgbClr val="1F6F68"/>
                </a:solidFill>
                <a:latin typeface="Aptos"/>
                <a:ea typeface="Aptos"/>
                <a:cs typeface="Aptos"/>
              </a:defRPr>
            </a:pPr>
            <a:r>
              <a:rPr sz="3300" b="1" i="0">
                <a:solidFill>
                  <a:srgbClr val="1F6F68"/>
                </a:solidFill>
                <a:latin typeface="Aptos"/>
                <a:ea typeface="Aptos"/>
                <a:cs typeface="Aptos"/>
              </a:rPr>
              <a:t>20</a:t>
            </a:r>
          </a:p>
        </p:txBody>
      </p:sp>
      <p:sp>
        <p:nvSpPr>
          <p:cNvPr id="12" name="">
            <a:extLst xmlns:a="http://schemas.openxmlformats.org/drawingml/2006/main">
              <a:ext uri="{FF2B5EF4-FFF2-40B4-BE49-F238E27FC236}">
                <a16:creationId xmlns:a16="http://schemas.microsoft.com/office/drawing/2014/main" id="{9EA61CFF-17D8-4295-8E6A-17DB29EF9476}"/>
              </a:ext>
            </a:extLst>
          </p:cNvPr>
          <p:cNvSpPr>
            <a:spLocks xmlns:a="http://schemas.openxmlformats.org/drawingml/2006/main" noGrp="1"/>
          </p:cNvSpPr>
          <p:nvPr/>
        </p:nvSpPr>
        <p:spPr>
          <a:xfrm xmlns:a="http://schemas.openxmlformats.org/drawingml/2006/main">
            <a:off x="3143250" y="28575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97"/>
          </a:bodyPr>
          <a:lstStyle xmlns:a="http://schemas.openxmlformats.org/drawingml/2006/main"/>
          <a:p xmlns:a="http://schemas.openxmlformats.org/drawingml/2006/main">
            <a:pPr>
              <a:defRPr sz="1200" b="1" i="0">
                <a:solidFill>
                  <a:srgbClr val="17202A"/>
                </a:solidFill>
                <a:latin typeface="Aptos"/>
                <a:ea typeface="Aptos"/>
                <a:cs typeface="Aptos"/>
              </a:defRPr>
            </a:pPr>
            <a:r>
              <a:rPr sz="1200" b="1" i="0">
                <a:solidFill>
                  <a:srgbClr val="17202A"/>
                </a:solidFill>
                <a:latin typeface="Aptos"/>
                <a:ea typeface="Aptos"/>
                <a:cs typeface="Aptos"/>
              </a:rPr>
              <a:t>branches per anchor</a:t>
            </a:r>
          </a:p>
        </p:txBody>
      </p:sp>
      <p:sp>
        <p:nvSpPr>
          <p:cNvPr id="13" name="">
            <a:extLst xmlns:a="http://schemas.openxmlformats.org/drawingml/2006/main">
              <a:ext uri="{FF2B5EF4-FFF2-40B4-BE49-F238E27FC236}">
                <a16:creationId xmlns:a16="http://schemas.microsoft.com/office/drawing/2014/main" id="{B04E6CFD-F3BE-43A0-9CA3-146944795CD9}"/>
              </a:ext>
            </a:extLst>
          </p:cNvPr>
          <p:cNvSpPr>
            <a:spLocks xmlns:a="http://schemas.openxmlformats.org/drawingml/2006/main" noGrp="1"/>
          </p:cNvSpPr>
          <p:nvPr/>
        </p:nvSpPr>
        <p:spPr>
          <a:xfrm xmlns:a="http://schemas.openxmlformats.org/drawingml/2006/main">
            <a:off x="4619625" y="2714625"/>
            <a:ext cx="476250" cy="28575"/>
          </a:xfrm>
          <a:prstGeom xmlns:a="http://schemas.openxmlformats.org/drawingml/2006/main" prst="rect">
            <a:avLst/>
          </a:prstGeom>
          <a:solidFill xmlns:a="http://schemas.openxmlformats.org/drawingml/2006/main">
            <a:srgbClr val="DDCF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C62884-9E09-4937-80DB-4DF54343A8AD}"/>
              </a:ext>
            </a:extLst>
          </p:cNvPr>
          <p:cNvSpPr>
            <a:spLocks xmlns:a="http://schemas.openxmlformats.org/drawingml/2006/main" noGrp="1"/>
          </p:cNvSpPr>
          <p:nvPr/>
        </p:nvSpPr>
        <p:spPr>
          <a:xfrm xmlns:a="http://schemas.openxmlformats.org/drawingml/2006/main">
            <a:off x="5095875" y="2095500"/>
            <a:ext cx="1619250" cy="1285875"/>
          </a:xfrm>
          <a:prstGeom xmlns:a="http://schemas.openxmlformats.org/drawingml/2006/main" prst="roundRect">
            <a:avLst>
              <a:gd name="adj" fmla="val 8889"/>
            </a:avLst>
          </a:prstGeom>
          <a:solidFill xmlns:a="http://schemas.openxmlformats.org/drawingml/2006/main">
            <a:srgbClr val="F7F4EC"/>
          </a:solidFill>
          <a:ln xmlns:a="http://schemas.openxmlformats.org/drawingml/2006/main" w="19050">
            <a:solidFill>
              <a:srgbClr val="315F8D"/>
            </a:solidFill>
            <a:prstDash val="solid"/>
          </a:ln>
        </p:spPr>
      </p:sp>
      <p:sp>
        <p:nvSpPr>
          <p:cNvPr id="15" name="">
            <a:extLst xmlns:a="http://schemas.openxmlformats.org/drawingml/2006/main">
              <a:ext uri="{FF2B5EF4-FFF2-40B4-BE49-F238E27FC236}">
                <a16:creationId xmlns:a16="http://schemas.microsoft.com/office/drawing/2014/main" id="{68FA00DD-CDAB-43E9-8E82-050374E10036}"/>
              </a:ext>
            </a:extLst>
          </p:cNvPr>
          <p:cNvSpPr>
            <a:spLocks xmlns:a="http://schemas.openxmlformats.org/drawingml/2006/main" noGrp="1"/>
          </p:cNvSpPr>
          <p:nvPr/>
        </p:nvSpPr>
        <p:spPr>
          <a:xfrm xmlns:a="http://schemas.openxmlformats.org/drawingml/2006/main">
            <a:off x="5286375" y="22860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85"/>
          </a:bodyPr>
          <a:lstStyle xmlns:a="http://schemas.openxmlformats.org/drawingml/2006/main"/>
          <a:p xmlns:a="http://schemas.openxmlformats.org/drawingml/2006/main">
            <a:pPr>
              <a:defRPr sz="3300" b="1" i="0">
                <a:solidFill>
                  <a:srgbClr val="315F8D"/>
                </a:solidFill>
                <a:latin typeface="Aptos"/>
                <a:ea typeface="Aptos"/>
                <a:cs typeface="Aptos"/>
              </a:defRPr>
            </a:pPr>
            <a:r>
              <a:rPr sz="3300" b="1" i="0">
                <a:solidFill>
                  <a:srgbClr val="315F8D"/>
                </a:solidFill>
                <a:latin typeface="Aptos"/>
                <a:ea typeface="Aptos"/>
                <a:cs typeface="Aptos"/>
              </a:rPr>
              <a:t>252</a:t>
            </a:r>
          </a:p>
        </p:txBody>
      </p:sp>
      <p:sp>
        <p:nvSpPr>
          <p:cNvPr id="16" name="">
            <a:extLst xmlns:a="http://schemas.openxmlformats.org/drawingml/2006/main">
              <a:ext uri="{FF2B5EF4-FFF2-40B4-BE49-F238E27FC236}">
                <a16:creationId xmlns:a16="http://schemas.microsoft.com/office/drawing/2014/main" id="{F653CC6B-1638-48B5-938B-E911C673A29B}"/>
              </a:ext>
            </a:extLst>
          </p:cNvPr>
          <p:cNvSpPr>
            <a:spLocks xmlns:a="http://schemas.openxmlformats.org/drawingml/2006/main" noGrp="1"/>
          </p:cNvSpPr>
          <p:nvPr/>
        </p:nvSpPr>
        <p:spPr>
          <a:xfrm xmlns:a="http://schemas.openxmlformats.org/drawingml/2006/main">
            <a:off x="5238750" y="28575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17202A"/>
                </a:solidFill>
                <a:latin typeface="Aptos"/>
                <a:ea typeface="Aptos"/>
                <a:cs typeface="Aptos"/>
              </a:defRPr>
            </a:pPr>
            <a:r>
              <a:rPr sz="1200" b="1" i="0">
                <a:solidFill>
                  <a:srgbClr val="17202A"/>
                </a:solidFill>
                <a:latin typeface="Aptos"/>
                <a:ea typeface="Aptos"/>
                <a:cs typeface="Aptos"/>
              </a:rPr>
              <a:t>future steps</a:t>
            </a:r>
          </a:p>
        </p:txBody>
      </p:sp>
      <p:sp>
        <p:nvSpPr>
          <p:cNvPr id="17" name="">
            <a:extLst xmlns:a="http://schemas.openxmlformats.org/drawingml/2006/main">
              <a:ext uri="{FF2B5EF4-FFF2-40B4-BE49-F238E27FC236}">
                <a16:creationId xmlns:a16="http://schemas.microsoft.com/office/drawing/2014/main" id="{A692A779-7613-4991-A522-5D67ACD1C32C}"/>
              </a:ext>
            </a:extLst>
          </p:cNvPr>
          <p:cNvSpPr>
            <a:spLocks xmlns:a="http://schemas.openxmlformats.org/drawingml/2006/main" noGrp="1"/>
          </p:cNvSpPr>
          <p:nvPr/>
        </p:nvSpPr>
        <p:spPr>
          <a:xfrm xmlns:a="http://schemas.openxmlformats.org/drawingml/2006/main">
            <a:off x="6715125" y="2714625"/>
            <a:ext cx="476250" cy="28575"/>
          </a:xfrm>
          <a:prstGeom xmlns:a="http://schemas.openxmlformats.org/drawingml/2006/main" prst="rect">
            <a:avLst/>
          </a:prstGeom>
          <a:solidFill xmlns:a="http://schemas.openxmlformats.org/drawingml/2006/main">
            <a:srgbClr val="DDCFB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025831D-7094-466F-AD8A-193CEF726324}"/>
              </a:ext>
            </a:extLst>
          </p:cNvPr>
          <p:cNvSpPr>
            <a:spLocks xmlns:a="http://schemas.openxmlformats.org/drawingml/2006/main" noGrp="1"/>
          </p:cNvSpPr>
          <p:nvPr/>
        </p:nvSpPr>
        <p:spPr>
          <a:xfrm xmlns:a="http://schemas.openxmlformats.org/drawingml/2006/main">
            <a:off x="7191375" y="2095500"/>
            <a:ext cx="161925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A84632"/>
            </a:solidFill>
            <a:prstDash val="solid"/>
          </a:ln>
        </p:spPr>
      </p:sp>
      <p:sp>
        <p:nvSpPr>
          <p:cNvPr id="19" name="">
            <a:extLst xmlns:a="http://schemas.openxmlformats.org/drawingml/2006/main">
              <a:ext uri="{FF2B5EF4-FFF2-40B4-BE49-F238E27FC236}">
                <a16:creationId xmlns:a16="http://schemas.microsoft.com/office/drawing/2014/main" id="{F101097C-890E-467C-8557-6C9F063E0BA0}"/>
              </a:ext>
            </a:extLst>
          </p:cNvPr>
          <p:cNvSpPr>
            <a:spLocks xmlns:a="http://schemas.openxmlformats.org/drawingml/2006/main" noGrp="1"/>
          </p:cNvSpPr>
          <p:nvPr/>
        </p:nvSpPr>
        <p:spPr>
          <a:xfrm xmlns:a="http://schemas.openxmlformats.org/drawingml/2006/main">
            <a:off x="7381875" y="22860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85"/>
          </a:bodyPr>
          <a:lstStyle xmlns:a="http://schemas.openxmlformats.org/drawingml/2006/main"/>
          <a:p xmlns:a="http://schemas.openxmlformats.org/drawingml/2006/main">
            <a:pPr>
              <a:defRPr sz="3300" b="1" i="0">
                <a:solidFill>
                  <a:srgbClr val="A84632"/>
                </a:solidFill>
                <a:latin typeface="Aptos"/>
                <a:ea typeface="Aptos"/>
                <a:cs typeface="Aptos"/>
              </a:defRPr>
            </a:pPr>
            <a:r>
              <a:rPr sz="3300" b="1" i="0">
                <a:solidFill>
                  <a:srgbClr val="A84632"/>
                </a:solidFill>
                <a:latin typeface="Aptos"/>
                <a:ea typeface="Aptos"/>
                <a:cs typeface="Aptos"/>
              </a:rPr>
              <a:t>100</a:t>
            </a:r>
          </a:p>
        </p:txBody>
      </p:sp>
      <p:sp>
        <p:nvSpPr>
          <p:cNvPr id="20" name="">
            <a:extLst xmlns:a="http://schemas.openxmlformats.org/drawingml/2006/main">
              <a:ext uri="{FF2B5EF4-FFF2-40B4-BE49-F238E27FC236}">
                <a16:creationId xmlns:a16="http://schemas.microsoft.com/office/drawing/2014/main" id="{78EECDC9-6952-4C0F-BD01-28C8184A65C5}"/>
              </a:ext>
            </a:extLst>
          </p:cNvPr>
          <p:cNvSpPr>
            <a:spLocks xmlns:a="http://schemas.openxmlformats.org/drawingml/2006/main" noGrp="1"/>
          </p:cNvSpPr>
          <p:nvPr/>
        </p:nvSpPr>
        <p:spPr>
          <a:xfrm xmlns:a="http://schemas.openxmlformats.org/drawingml/2006/main">
            <a:off x="7334250" y="28575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17202A"/>
                </a:solidFill>
                <a:latin typeface="Aptos"/>
                <a:ea typeface="Aptos"/>
                <a:cs typeface="Aptos"/>
              </a:defRPr>
            </a:pPr>
            <a:r>
              <a:rPr sz="1200" b="1" i="0">
                <a:solidFill>
                  <a:srgbClr val="17202A"/>
                </a:solidFill>
                <a:latin typeface="Aptos"/>
                <a:ea typeface="Aptos"/>
                <a:cs typeface="Aptos"/>
              </a:rPr>
              <a:t>matched markets</a:t>
            </a:r>
          </a:p>
        </p:txBody>
      </p:sp>
      <p:sp>
        <p:nvSpPr>
          <p:cNvPr id="21" name="">
            <a:extLst xmlns:a="http://schemas.openxmlformats.org/drawingml/2006/main">
              <a:ext uri="{FF2B5EF4-FFF2-40B4-BE49-F238E27FC236}">
                <a16:creationId xmlns:a16="http://schemas.microsoft.com/office/drawing/2014/main" id="{9C0EB52F-B859-4C3A-9DFC-972CC2CB1497}"/>
              </a:ext>
            </a:extLst>
          </p:cNvPr>
          <p:cNvSpPr>
            <a:spLocks xmlns:a="http://schemas.openxmlformats.org/drawingml/2006/main" noGrp="1"/>
          </p:cNvSpPr>
          <p:nvPr/>
        </p:nvSpPr>
        <p:spPr>
          <a:xfrm xmlns:a="http://schemas.openxmlformats.org/drawingml/2006/main">
            <a:off x="8810625" y="2714625"/>
            <a:ext cx="476250" cy="28575"/>
          </a:xfrm>
          <a:prstGeom xmlns:a="http://schemas.openxmlformats.org/drawingml/2006/main" prst="rect">
            <a:avLst/>
          </a:prstGeom>
          <a:solidFill xmlns:a="http://schemas.openxmlformats.org/drawingml/2006/main">
            <a:srgbClr val="DDCFB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41CB32-2248-4282-A30B-0CAC1D4441D4}"/>
              </a:ext>
            </a:extLst>
          </p:cNvPr>
          <p:cNvSpPr>
            <a:spLocks xmlns:a="http://schemas.openxmlformats.org/drawingml/2006/main" noGrp="1"/>
          </p:cNvSpPr>
          <p:nvPr/>
        </p:nvSpPr>
        <p:spPr>
          <a:xfrm xmlns:a="http://schemas.openxmlformats.org/drawingml/2006/main">
            <a:off x="9286875" y="2095500"/>
            <a:ext cx="1619250" cy="1285875"/>
          </a:xfrm>
          <a:prstGeom xmlns:a="http://schemas.openxmlformats.org/drawingml/2006/main" prst="roundRect">
            <a:avLst>
              <a:gd name="adj" fmla="val 8889"/>
            </a:avLst>
          </a:prstGeom>
          <a:solidFill xmlns:a="http://schemas.openxmlformats.org/drawingml/2006/main">
            <a:srgbClr val="F7F4EC"/>
          </a:solidFill>
          <a:ln xmlns:a="http://schemas.openxmlformats.org/drawingml/2006/main" w="19050">
            <a:solidFill>
              <a:srgbClr val="D39A24"/>
            </a:solidFill>
            <a:prstDash val="solid"/>
          </a:ln>
        </p:spPr>
      </p:sp>
      <p:sp>
        <p:nvSpPr>
          <p:cNvPr id="23" name="">
            <a:extLst xmlns:a="http://schemas.openxmlformats.org/drawingml/2006/main">
              <a:ext uri="{FF2B5EF4-FFF2-40B4-BE49-F238E27FC236}">
                <a16:creationId xmlns:a16="http://schemas.microsoft.com/office/drawing/2014/main" id="{0BF63D2F-0758-4571-BD1D-FBC249806261}"/>
              </a:ext>
            </a:extLst>
          </p:cNvPr>
          <p:cNvSpPr>
            <a:spLocks xmlns:a="http://schemas.openxmlformats.org/drawingml/2006/main" noGrp="1"/>
          </p:cNvSpPr>
          <p:nvPr/>
        </p:nvSpPr>
        <p:spPr>
          <a:xfrm xmlns:a="http://schemas.openxmlformats.org/drawingml/2006/main">
            <a:off x="9477375" y="22860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85"/>
          </a:bodyPr>
          <a:lstStyle xmlns:a="http://schemas.openxmlformats.org/drawingml/2006/main"/>
          <a:p xmlns:a="http://schemas.openxmlformats.org/drawingml/2006/main">
            <a:pPr>
              <a:defRPr sz="3300" b="1" i="0">
                <a:solidFill>
                  <a:srgbClr val="D39A24"/>
                </a:solidFill>
                <a:latin typeface="Aptos"/>
                <a:ea typeface="Aptos"/>
                <a:cs typeface="Aptos"/>
              </a:defRPr>
            </a:pPr>
            <a:r>
              <a:rPr sz="3300" b="1" i="0">
                <a:solidFill>
                  <a:srgbClr val="D39A24"/>
                </a:solidFill>
                <a:latin typeface="Aptos"/>
                <a:ea typeface="Aptos"/>
                <a:cs typeface="Aptos"/>
              </a:rPr>
              <a:t>2</a:t>
            </a:r>
          </a:p>
        </p:txBody>
      </p:sp>
      <p:sp>
        <p:nvSpPr>
          <p:cNvPr id="24" name="">
            <a:extLst xmlns:a="http://schemas.openxmlformats.org/drawingml/2006/main">
              <a:ext uri="{FF2B5EF4-FFF2-40B4-BE49-F238E27FC236}">
                <a16:creationId xmlns:a16="http://schemas.microsoft.com/office/drawing/2014/main" id="{10CE7209-927E-4EED-8012-D33C73D7A11D}"/>
              </a:ext>
            </a:extLst>
          </p:cNvPr>
          <p:cNvSpPr>
            <a:spLocks xmlns:a="http://schemas.openxmlformats.org/drawingml/2006/main" noGrp="1"/>
          </p:cNvSpPr>
          <p:nvPr/>
        </p:nvSpPr>
        <p:spPr>
          <a:xfrm xmlns:a="http://schemas.openxmlformats.org/drawingml/2006/main">
            <a:off x="9429750" y="28575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16"/>
          </a:bodyPr>
          <a:lstStyle xmlns:a="http://schemas.openxmlformats.org/drawingml/2006/main"/>
          <a:p xmlns:a="http://schemas.openxmlformats.org/drawingml/2006/main">
            <a:pPr>
              <a:defRPr sz="1200" b="1" i="0">
                <a:solidFill>
                  <a:srgbClr val="17202A"/>
                </a:solidFill>
                <a:latin typeface="Aptos"/>
                <a:ea typeface="Aptos"/>
                <a:cs typeface="Aptos"/>
              </a:defRPr>
            </a:pPr>
            <a:r>
              <a:rPr sz="1200" b="1" i="0">
                <a:solidFill>
                  <a:srgbClr val="17202A"/>
                </a:solidFill>
                <a:latin typeface="Aptos"/>
                <a:ea typeface="Aptos"/>
                <a:cs typeface="Aptos"/>
              </a:rPr>
              <a:t>checkpoint objectives</a:t>
            </a:r>
          </a:p>
        </p:txBody>
      </p:sp>
      <p:sp>
        <p:nvSpPr>
          <p:cNvPr id="25" name="">
            <a:extLst xmlns:a="http://schemas.openxmlformats.org/drawingml/2006/main">
              <a:ext uri="{FF2B5EF4-FFF2-40B4-BE49-F238E27FC236}">
                <a16:creationId xmlns:a16="http://schemas.microsoft.com/office/drawing/2014/main" id="{7D227FB0-AD5B-4E27-9B41-5641435ED874}"/>
              </a:ext>
            </a:extLst>
          </p:cNvPr>
          <p:cNvSpPr>
            <a:spLocks xmlns:a="http://schemas.openxmlformats.org/drawingml/2006/main" noGrp="1"/>
          </p:cNvSpPr>
          <p:nvPr/>
        </p:nvSpPr>
        <p:spPr>
          <a:xfrm xmlns:a="http://schemas.openxmlformats.org/drawingml/2006/main">
            <a:off x="1428750" y="3905250"/>
            <a:ext cx="4381500" cy="1476375"/>
          </a:xfrm>
          <a:prstGeom xmlns:a="http://schemas.openxmlformats.org/drawingml/2006/main" prst="roundRect">
            <a:avLst>
              <a:gd name="adj" fmla="val 7742"/>
            </a:avLst>
          </a:prstGeom>
          <a:solidFill xmlns:a="http://schemas.openxmlformats.org/drawingml/2006/main">
            <a:srgbClr val="FFFAF1"/>
          </a:solidFill>
          <a:ln xmlns:a="http://schemas.openxmlformats.org/drawingml/2006/main" w="9525">
            <a:solidFill>
              <a:srgbClr val="DDCFBA"/>
            </a:solidFill>
            <a:prstDash val="solid"/>
          </a:ln>
        </p:spPr>
      </p:sp>
      <p:sp>
        <p:nvSpPr>
          <p:cNvPr id="26" name="">
            <a:extLst xmlns:a="http://schemas.openxmlformats.org/drawingml/2006/main">
              <a:ext uri="{FF2B5EF4-FFF2-40B4-BE49-F238E27FC236}">
                <a16:creationId xmlns:a16="http://schemas.microsoft.com/office/drawing/2014/main" id="{60ECBAC8-ABAD-45D6-8913-F3539449B1D9}"/>
              </a:ext>
            </a:extLst>
          </p:cNvPr>
          <p:cNvSpPr>
            <a:spLocks xmlns:a="http://schemas.openxmlformats.org/drawingml/2006/main" noGrp="1"/>
          </p:cNvSpPr>
          <p:nvPr/>
        </p:nvSpPr>
        <p:spPr>
          <a:xfrm xmlns:a="http://schemas.openxmlformats.org/drawingml/2006/main">
            <a:off x="1428750" y="3905250"/>
            <a:ext cx="66675" cy="1476375"/>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DBC35CF-7219-4CEE-8123-5852F79F0D59}"/>
              </a:ext>
            </a:extLst>
          </p:cNvPr>
          <p:cNvSpPr>
            <a:spLocks xmlns:a="http://schemas.openxmlformats.org/drawingml/2006/main" noGrp="1"/>
          </p:cNvSpPr>
          <p:nvPr/>
        </p:nvSpPr>
        <p:spPr>
          <a:xfrm xmlns:a="http://schemas.openxmlformats.org/drawingml/2006/main">
            <a:off x="1695450" y="4114800"/>
            <a:ext cx="392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Common comparison rules</a:t>
            </a:r>
          </a:p>
        </p:txBody>
      </p:sp>
      <p:sp>
        <p:nvSpPr>
          <p:cNvPr id="28" name="">
            <a:extLst xmlns:a="http://schemas.openxmlformats.org/drawingml/2006/main">
              <a:ext uri="{FF2B5EF4-FFF2-40B4-BE49-F238E27FC236}">
                <a16:creationId xmlns:a16="http://schemas.microsoft.com/office/drawing/2014/main" id="{67F37AAF-1791-4C68-9627-145CD9CFD424}"/>
              </a:ext>
            </a:extLst>
          </p:cNvPr>
          <p:cNvSpPr>
            <a:spLocks xmlns:a="http://schemas.openxmlformats.org/drawingml/2006/main" noGrp="1"/>
          </p:cNvSpPr>
          <p:nvPr/>
        </p:nvSpPr>
        <p:spPr>
          <a:xfrm xmlns:a="http://schemas.openxmlformats.org/drawingml/2006/main">
            <a:off x="1695450" y="4524375"/>
            <a:ext cx="3886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Relative terminal wealth uses the constrained-neutral CAOSD baseline. Risk is recomputed with margin 0.90, floor 0.05, cost scale 0.10, and alpha-budget ratio 0.05.</a:t>
            </a:r>
          </a:p>
        </p:txBody>
      </p:sp>
      <p:sp>
        <p:nvSpPr>
          <p:cNvPr id="29" name="">
            <a:extLst xmlns:a="http://schemas.openxmlformats.org/drawingml/2006/main">
              <a:ext uri="{FF2B5EF4-FFF2-40B4-BE49-F238E27FC236}">
                <a16:creationId xmlns:a16="http://schemas.microsoft.com/office/drawing/2014/main" id="{0A56CDFF-38F8-45F1-8749-DDB993587732}"/>
              </a:ext>
            </a:extLst>
          </p:cNvPr>
          <p:cNvSpPr>
            <a:spLocks xmlns:a="http://schemas.openxmlformats.org/drawingml/2006/main" noGrp="1"/>
          </p:cNvSpPr>
          <p:nvPr/>
        </p:nvSpPr>
        <p:spPr>
          <a:xfrm xmlns:a="http://schemas.openxmlformats.org/drawingml/2006/main">
            <a:off x="6381750" y="3905250"/>
            <a:ext cx="4381500" cy="1476375"/>
          </a:xfrm>
          <a:prstGeom xmlns:a="http://schemas.openxmlformats.org/drawingml/2006/main" prst="roundRect">
            <a:avLst>
              <a:gd name="adj" fmla="val 7742"/>
            </a:avLst>
          </a:prstGeom>
          <a:solidFill xmlns:a="http://schemas.openxmlformats.org/drawingml/2006/main">
            <a:srgbClr val="FFFAF1"/>
          </a:solidFill>
          <a:ln xmlns:a="http://schemas.openxmlformats.org/drawingml/2006/main" w="9525">
            <a:solidFill>
              <a:srgbClr val="DDCFBA"/>
            </a:solidFill>
            <a:prstDash val="solid"/>
          </a:ln>
        </p:spPr>
      </p:sp>
      <p:sp>
        <p:nvSpPr>
          <p:cNvPr id="30" name="">
            <a:extLst xmlns:a="http://schemas.openxmlformats.org/drawingml/2006/main">
              <a:ext uri="{FF2B5EF4-FFF2-40B4-BE49-F238E27FC236}">
                <a16:creationId xmlns:a16="http://schemas.microsoft.com/office/drawing/2014/main" id="{D1372631-E9FD-4858-A2F1-207E37596782}"/>
              </a:ext>
            </a:extLst>
          </p:cNvPr>
          <p:cNvSpPr>
            <a:spLocks xmlns:a="http://schemas.openxmlformats.org/drawingml/2006/main" noGrp="1"/>
          </p:cNvSpPr>
          <p:nvPr/>
        </p:nvSpPr>
        <p:spPr>
          <a:xfrm xmlns:a="http://schemas.openxmlformats.org/drawingml/2006/main">
            <a:off x="6381750" y="3905250"/>
            <a:ext cx="66675" cy="1476375"/>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00CAD7D-50F0-4297-B21C-5206BF374971}"/>
              </a:ext>
            </a:extLst>
          </p:cNvPr>
          <p:cNvSpPr>
            <a:spLocks xmlns:a="http://schemas.openxmlformats.org/drawingml/2006/main" noGrp="1"/>
          </p:cNvSpPr>
          <p:nvPr/>
        </p:nvSpPr>
        <p:spPr>
          <a:xfrm xmlns:a="http://schemas.openxmlformats.org/drawingml/2006/main">
            <a:off x="6648450" y="4114800"/>
            <a:ext cx="392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Checkpoint labels</a:t>
            </a:r>
          </a:p>
        </p:txBody>
      </p:sp>
      <p:sp>
        <p:nvSpPr>
          <p:cNvPr id="32" name="">
            <a:extLst xmlns:a="http://schemas.openxmlformats.org/drawingml/2006/main">
              <a:ext uri="{FF2B5EF4-FFF2-40B4-BE49-F238E27FC236}">
                <a16:creationId xmlns:a16="http://schemas.microsoft.com/office/drawing/2014/main" id="{B6B13738-29F1-4B2E-A344-6C858279CD79}"/>
              </a:ext>
            </a:extLst>
          </p:cNvPr>
          <p:cNvSpPr>
            <a:spLocks xmlns:a="http://schemas.openxmlformats.org/drawingml/2006/main" noGrp="1"/>
          </p:cNvSpPr>
          <p:nvPr/>
        </p:nvSpPr>
        <p:spPr>
          <a:xfrm xmlns:a="http://schemas.openxmlformats.org/drawingml/2006/main">
            <a:off x="6648450" y="4524375"/>
            <a:ext cx="3886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56"/>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Best-return maximizes validation return. Robust-feasible-selected ranks validation feasible-branch rate first and return second. It is not a safety guarantee.</a:t>
            </a:r>
          </a:p>
        </p:txBody>
      </p:sp>
    </p:spTree>
    <p:extLst>
      <p:ext uri="{BB962C8B-B14F-4D97-AF65-F5344CB8AC3E}">
        <p14:creationId xmlns:p14="http://schemas.microsoft.com/office/powerpoint/2010/main" val="1878269833"/>
      </p:ext>
    </p:extLst>
  </p:cSld>
</p:sld>
</file>

<file path=ppt/slides/slide8.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F82E806-1520-4455-AAE8-7194A2494D61}"/>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V3.3 EXPLORATORY EVIDENCE</a:t>
            </a:r>
          </a:p>
        </p:txBody>
      </p:sp>
      <p:sp>
        <p:nvSpPr>
          <p:cNvPr id="2" name="">
            <a:extLst xmlns:a="http://schemas.openxmlformats.org/drawingml/2006/main">
              <a:ext uri="{FF2B5EF4-FFF2-40B4-BE49-F238E27FC236}">
                <a16:creationId xmlns:a16="http://schemas.microsoft.com/office/drawing/2014/main" id="{853D512E-861C-45D1-A713-964F5DBDF135}"/>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Longer training paths did not improve generalization monotonically</a:t>
            </a:r>
          </a:p>
        </p:txBody>
      </p:sp>
      <p:sp>
        <p:nvSpPr>
          <p:cNvPr id="3" name="">
            <a:extLst xmlns:a="http://schemas.openxmlformats.org/drawingml/2006/main">
              <a:ext uri="{FF2B5EF4-FFF2-40B4-BE49-F238E27FC236}">
                <a16:creationId xmlns:a16="http://schemas.microsoft.com/office/drawing/2014/main" id="{26FD394F-6130-4EF8-998A-8515B1EE7F26}"/>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5F1DBC-03E3-4A16-9F2F-120FFAD90CC6}"/>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4B0BB253-0063-40B1-AEE5-FCB7E36D0E6A}"/>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8</a:t>
            </a:r>
          </a:p>
        </p:txBody>
      </p:sp>
      <p:sp>
        <p:nvSpPr>
          <p:cNvPr id="6" name="">
            <a:extLst xmlns:a="http://schemas.openxmlformats.org/drawingml/2006/main">
              <a:ext uri="{FF2B5EF4-FFF2-40B4-BE49-F238E27FC236}">
                <a16:creationId xmlns:a16="http://schemas.microsoft.com/office/drawing/2014/main" id="{34BAEB5C-E9F9-425B-94EA-EB3284C66606}"/>
              </a:ext>
            </a:extLst>
          </p:cNvPr>
          <p:cNvSpPr>
            <a:spLocks xmlns:a="http://schemas.openxmlformats.org/drawingml/2006/main" noGrp="1"/>
          </p:cNvSpPr>
          <p:nvPr/>
        </p:nvSpPr>
        <p:spPr>
          <a:xfrm xmlns:a="http://schemas.openxmlformats.org/drawingml/2006/main">
            <a:off x="666750" y="1809750"/>
            <a:ext cx="6905625"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CFB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6ded6b97d5d4f62"/>
          <a:stretch xmlns:a="http://schemas.openxmlformats.org/drawingml/2006/main"/>
        </p:blipFill>
        <p:spPr>
          <a:xfrm xmlns:a="http://schemas.openxmlformats.org/drawingml/2006/main">
            <a:off x="762000" y="2441148"/>
            <a:ext cx="6715125" cy="273770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C5CD23-C1EF-4E9F-86FC-A432DFB66C44}"/>
              </a:ext>
            </a:extLst>
          </p:cNvPr>
          <p:cNvSpPr>
            <a:spLocks xmlns:a="http://schemas.openxmlformats.org/drawingml/2006/main" noGrp="1"/>
          </p:cNvSpPr>
          <p:nvPr/>
        </p:nvSpPr>
        <p:spPr>
          <a:xfrm xmlns:a="http://schemas.openxmlformats.org/drawingml/2006/main">
            <a:off x="7953375" y="1809750"/>
            <a:ext cx="3429000" cy="1123950"/>
          </a:xfrm>
          <a:prstGeom xmlns:a="http://schemas.openxmlformats.org/drawingml/2006/main" prst="roundRect">
            <a:avLst>
              <a:gd name="adj" fmla="val 10169"/>
            </a:avLst>
          </a:prstGeom>
          <a:solidFill xmlns:a="http://schemas.openxmlformats.org/drawingml/2006/main">
            <a:srgbClr val="FFFAF1"/>
          </a:solidFill>
          <a:ln xmlns:a="http://schemas.openxmlformats.org/drawingml/2006/main" w="9525">
            <a:solidFill>
              <a:srgbClr val="DDCFBA"/>
            </a:solidFill>
            <a:prstDash val="solid"/>
          </a:ln>
        </p:spPr>
      </p:sp>
      <p:sp>
        <p:nvSpPr>
          <p:cNvPr id="9" name="">
            <a:extLst xmlns:a="http://schemas.openxmlformats.org/drawingml/2006/main">
              <a:ext uri="{FF2B5EF4-FFF2-40B4-BE49-F238E27FC236}">
                <a16:creationId xmlns:a16="http://schemas.microsoft.com/office/drawing/2014/main" id="{92C84A99-B3C4-4476-B0F1-471D66C8E21A}"/>
              </a:ext>
            </a:extLst>
          </p:cNvPr>
          <p:cNvSpPr>
            <a:spLocks xmlns:a="http://schemas.openxmlformats.org/drawingml/2006/main" noGrp="1"/>
          </p:cNvSpPr>
          <p:nvPr/>
        </p:nvSpPr>
        <p:spPr>
          <a:xfrm xmlns:a="http://schemas.openxmlformats.org/drawingml/2006/main">
            <a:off x="7953375" y="1809750"/>
            <a:ext cx="66675" cy="112395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01996E-4076-4BB7-8DB4-0C11BE29DFFA}"/>
              </a:ext>
            </a:extLst>
          </p:cNvPr>
          <p:cNvSpPr>
            <a:spLocks xmlns:a="http://schemas.openxmlformats.org/drawingml/2006/main" noGrp="1"/>
          </p:cNvSpPr>
          <p:nvPr/>
        </p:nvSpPr>
        <p:spPr>
          <a:xfrm xmlns:a="http://schemas.openxmlformats.org/drawingml/2006/main">
            <a:off x="8220075" y="2019300"/>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Highest return</a:t>
            </a:r>
          </a:p>
        </p:txBody>
      </p:sp>
      <p:sp>
        <p:nvSpPr>
          <p:cNvPr id="11" name="">
            <a:extLst xmlns:a="http://schemas.openxmlformats.org/drawingml/2006/main">
              <a:ext uri="{FF2B5EF4-FFF2-40B4-BE49-F238E27FC236}">
                <a16:creationId xmlns:a16="http://schemas.microsoft.com/office/drawing/2014/main" id="{36AF1C04-DF02-4D44-9720-D6B94CBAE83E}"/>
              </a:ext>
            </a:extLst>
          </p:cNvPr>
          <p:cNvSpPr>
            <a:spLocks xmlns:a="http://schemas.openxmlformats.org/drawingml/2006/main" noGrp="1"/>
          </p:cNvSpPr>
          <p:nvPr/>
        </p:nvSpPr>
        <p:spPr>
          <a:xfrm xmlns:a="http://schemas.openxmlformats.org/drawingml/2006/main">
            <a:off x="8220075" y="2428875"/>
            <a:ext cx="2933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26"/>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2 x 10,080 steps reached +9.17% relative wealth.</a:t>
            </a:r>
          </a:p>
        </p:txBody>
      </p:sp>
      <p:sp>
        <p:nvSpPr>
          <p:cNvPr id="12" name="">
            <a:extLst xmlns:a="http://schemas.openxmlformats.org/drawingml/2006/main">
              <a:ext uri="{FF2B5EF4-FFF2-40B4-BE49-F238E27FC236}">
                <a16:creationId xmlns:a16="http://schemas.microsoft.com/office/drawing/2014/main" id="{03E16045-A07F-4D69-BE88-BDD2A972C212}"/>
              </a:ext>
            </a:extLst>
          </p:cNvPr>
          <p:cNvSpPr>
            <a:spLocks xmlns:a="http://schemas.openxmlformats.org/drawingml/2006/main" noGrp="1"/>
          </p:cNvSpPr>
          <p:nvPr/>
        </p:nvSpPr>
        <p:spPr>
          <a:xfrm xmlns:a="http://schemas.openxmlformats.org/drawingml/2006/main">
            <a:off x="7953375" y="3143250"/>
            <a:ext cx="3429000" cy="1285875"/>
          </a:xfrm>
          <a:prstGeom xmlns:a="http://schemas.openxmlformats.org/drawingml/2006/main" prst="roundRect">
            <a:avLst>
              <a:gd name="adj" fmla="val 8889"/>
            </a:avLst>
          </a:prstGeom>
          <a:solidFill xmlns:a="http://schemas.openxmlformats.org/drawingml/2006/main">
            <a:srgbClr val="FFFAF1"/>
          </a:solidFill>
          <a:ln xmlns:a="http://schemas.openxmlformats.org/drawingml/2006/main" w="9525">
            <a:solidFill>
              <a:srgbClr val="DDCFBA"/>
            </a:solidFill>
            <a:prstDash val="solid"/>
          </a:ln>
        </p:spPr>
      </p:sp>
      <p:sp>
        <p:nvSpPr>
          <p:cNvPr id="13" name="">
            <a:extLst xmlns:a="http://schemas.openxmlformats.org/drawingml/2006/main">
              <a:ext uri="{FF2B5EF4-FFF2-40B4-BE49-F238E27FC236}">
                <a16:creationId xmlns:a16="http://schemas.microsoft.com/office/drawing/2014/main" id="{338A7408-4ED9-4D52-9CF1-664B2E0DA819}"/>
              </a:ext>
            </a:extLst>
          </p:cNvPr>
          <p:cNvSpPr>
            <a:spLocks xmlns:a="http://schemas.openxmlformats.org/drawingml/2006/main" noGrp="1"/>
          </p:cNvSpPr>
          <p:nvPr/>
        </p:nvSpPr>
        <p:spPr>
          <a:xfrm xmlns:a="http://schemas.openxmlformats.org/drawingml/2006/main">
            <a:off x="7953375" y="3143250"/>
            <a:ext cx="66675" cy="1285875"/>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C90416-25AF-4772-B7DD-65BABA614AC9}"/>
              </a:ext>
            </a:extLst>
          </p:cNvPr>
          <p:cNvSpPr>
            <a:spLocks xmlns:a="http://schemas.openxmlformats.org/drawingml/2006/main" noGrp="1"/>
          </p:cNvSpPr>
          <p:nvPr/>
        </p:nvSpPr>
        <p:spPr>
          <a:xfrm xmlns:a="http://schemas.openxmlformats.org/drawingml/2006/main">
            <a:off x="8220075" y="3352800"/>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315F8D"/>
                </a:solidFill>
                <a:latin typeface="Aptos"/>
                <a:ea typeface="Aptos"/>
                <a:cs typeface="Aptos"/>
              </a:defRPr>
            </a:pPr>
            <a:r>
              <a:rPr sz="1500" b="1" i="0">
                <a:solidFill>
                  <a:srgbClr val="315F8D"/>
                </a:solidFill>
                <a:latin typeface="Aptos"/>
                <a:ea typeface="Aptos"/>
                <a:cs typeface="Aptos"/>
              </a:rPr>
              <a:t>Best market-design risk</a:t>
            </a:r>
          </a:p>
        </p:txBody>
      </p:sp>
      <p:sp>
        <p:nvSpPr>
          <p:cNvPr id="15" name="">
            <a:extLst xmlns:a="http://schemas.openxmlformats.org/drawingml/2006/main">
              <a:ext uri="{FF2B5EF4-FFF2-40B4-BE49-F238E27FC236}">
                <a16:creationId xmlns:a16="http://schemas.microsoft.com/office/drawing/2014/main" id="{7BFA0DB1-A1C4-4105-81D4-38F5C1B8C747}"/>
              </a:ext>
            </a:extLst>
          </p:cNvPr>
          <p:cNvSpPr>
            <a:spLocks xmlns:a="http://schemas.openxmlformats.org/drawingml/2006/main" noGrp="1"/>
          </p:cNvSpPr>
          <p:nvPr/>
        </p:nvSpPr>
        <p:spPr>
          <a:xfrm xmlns:a="http://schemas.openxmlformats.org/drawingml/2006/main">
            <a:off x="8220075" y="3762375"/>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397"/>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8 x 10,080 reached 42% common feasibility and 14.17% mean maximum drawdown.</a:t>
            </a:r>
          </a:p>
        </p:txBody>
      </p:sp>
      <p:sp>
        <p:nvSpPr>
          <p:cNvPr id="16" name="">
            <a:extLst xmlns:a="http://schemas.openxmlformats.org/drawingml/2006/main">
              <a:ext uri="{FF2B5EF4-FFF2-40B4-BE49-F238E27FC236}">
                <a16:creationId xmlns:a16="http://schemas.microsoft.com/office/drawing/2014/main" id="{0C2B124B-7813-4331-BFE1-BBD87716A30A}"/>
              </a:ext>
            </a:extLst>
          </p:cNvPr>
          <p:cNvSpPr>
            <a:spLocks xmlns:a="http://schemas.openxmlformats.org/drawingml/2006/main" noGrp="1"/>
          </p:cNvSpPr>
          <p:nvPr/>
        </p:nvSpPr>
        <p:spPr>
          <a:xfrm xmlns:a="http://schemas.openxmlformats.org/drawingml/2006/main">
            <a:off x="7953375" y="4638675"/>
            <a:ext cx="3429000" cy="1171575"/>
          </a:xfrm>
          <a:prstGeom xmlns:a="http://schemas.openxmlformats.org/drawingml/2006/main" prst="roundRect">
            <a:avLst>
              <a:gd name="adj" fmla="val 9756"/>
            </a:avLst>
          </a:prstGeom>
          <a:solidFill xmlns:a="http://schemas.openxmlformats.org/drawingml/2006/main">
            <a:srgbClr val="FFFAF1"/>
          </a:solidFill>
          <a:ln xmlns:a="http://schemas.openxmlformats.org/drawingml/2006/main" w="9525">
            <a:solidFill>
              <a:srgbClr val="DDCFBA"/>
            </a:solidFill>
            <a:prstDash val="solid"/>
          </a:ln>
        </p:spPr>
      </p:sp>
      <p:sp>
        <p:nvSpPr>
          <p:cNvPr id="17" name="">
            <a:extLst xmlns:a="http://schemas.openxmlformats.org/drawingml/2006/main">
              <a:ext uri="{FF2B5EF4-FFF2-40B4-BE49-F238E27FC236}">
                <a16:creationId xmlns:a16="http://schemas.microsoft.com/office/drawing/2014/main" id="{33A10C54-2EC5-4003-B403-85B1137835CC}"/>
              </a:ext>
            </a:extLst>
          </p:cNvPr>
          <p:cNvSpPr>
            <a:spLocks xmlns:a="http://schemas.openxmlformats.org/drawingml/2006/main" noGrp="1"/>
          </p:cNvSpPr>
          <p:nvPr/>
        </p:nvSpPr>
        <p:spPr>
          <a:xfrm xmlns:a="http://schemas.openxmlformats.org/drawingml/2006/main">
            <a:off x="7953375" y="4638675"/>
            <a:ext cx="66675" cy="1171575"/>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1F3CC1-6659-4751-BF07-025586AAD57D}"/>
              </a:ext>
            </a:extLst>
          </p:cNvPr>
          <p:cNvSpPr>
            <a:spLocks xmlns:a="http://schemas.openxmlformats.org/drawingml/2006/main" noGrp="1"/>
          </p:cNvSpPr>
          <p:nvPr/>
        </p:nvSpPr>
        <p:spPr>
          <a:xfrm xmlns:a="http://schemas.openxmlformats.org/drawingml/2006/main">
            <a:off x="8220075" y="4848225"/>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Conclusion | exploratory</a:t>
            </a:r>
          </a:p>
        </p:txBody>
      </p:sp>
      <p:sp>
        <p:nvSpPr>
          <p:cNvPr id="19" name="">
            <a:extLst xmlns:a="http://schemas.openxmlformats.org/drawingml/2006/main">
              <a:ext uri="{FF2B5EF4-FFF2-40B4-BE49-F238E27FC236}">
                <a16:creationId xmlns:a16="http://schemas.microsoft.com/office/drawing/2014/main" id="{3C748678-A45E-4F71-947C-A27EF7AD90F5}"/>
              </a:ext>
            </a:extLst>
          </p:cNvPr>
          <p:cNvSpPr>
            <a:spLocks xmlns:a="http://schemas.openxmlformats.org/drawingml/2006/main" noGrp="1"/>
          </p:cNvSpPr>
          <p:nvPr/>
        </p:nvSpPr>
        <p:spPr>
          <a:xfrm xmlns:a="http://schemas.openxmlformats.org/drawingml/2006/main">
            <a:off x="8220075" y="5257800"/>
            <a:ext cx="2933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4491"/>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Longer paths are not always better; return and risk favor different settings. One seed cannot rank them reliably.</a:t>
            </a:r>
          </a:p>
        </p:txBody>
      </p:sp>
    </p:spTree>
    <p:extLst>
      <p:ext uri="{BB962C8B-B14F-4D97-AF65-F5344CB8AC3E}">
        <p14:creationId xmlns:p14="http://schemas.microsoft.com/office/powerpoint/2010/main" val="1155242616"/>
      </p:ext>
    </p:extLst>
  </p:cSld>
</p:sld>
</file>

<file path=ppt/slides/slide9.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AE4A131-E141-490D-81D6-A1CDCF5C7526}"/>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V3.4 REPLICATED FACTORIAL</a:t>
            </a:r>
          </a:p>
        </p:txBody>
      </p:sp>
      <p:sp>
        <p:nvSpPr>
          <p:cNvPr id="2" name="">
            <a:extLst xmlns:a="http://schemas.openxmlformats.org/drawingml/2006/main">
              <a:ext uri="{FF2B5EF4-FFF2-40B4-BE49-F238E27FC236}">
                <a16:creationId xmlns:a16="http://schemas.microsoft.com/office/drawing/2014/main" id="{46E9D6EA-5382-40C0-B8C5-85620254AB7C}"/>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Condition means are close compared with the spread across seeds</a:t>
            </a:r>
          </a:p>
        </p:txBody>
      </p:sp>
      <p:sp>
        <p:nvSpPr>
          <p:cNvPr id="3" name="">
            <a:extLst xmlns:a="http://schemas.openxmlformats.org/drawingml/2006/main">
              <a:ext uri="{FF2B5EF4-FFF2-40B4-BE49-F238E27FC236}">
                <a16:creationId xmlns:a16="http://schemas.microsoft.com/office/drawing/2014/main" id="{3E170C06-3732-40C3-BEC3-B6B17CB90E62}"/>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7E9FC1-99DD-4702-84E4-F2CD888FCB1E}"/>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8DFDBE4E-04D0-4A60-8C9C-E9288999C9F6}"/>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9</a:t>
            </a:r>
          </a:p>
        </p:txBody>
      </p:sp>
      <p:sp>
        <p:nvSpPr>
          <p:cNvPr id="6" name="">
            <a:extLst xmlns:a="http://schemas.openxmlformats.org/drawingml/2006/main">
              <a:ext uri="{FF2B5EF4-FFF2-40B4-BE49-F238E27FC236}">
                <a16:creationId xmlns:a16="http://schemas.microsoft.com/office/drawing/2014/main" id="{1181D9DE-4A2F-40D3-89C5-1F52669EFEC4}"/>
              </a:ext>
            </a:extLst>
          </p:cNvPr>
          <p:cNvSpPr>
            <a:spLocks xmlns:a="http://schemas.openxmlformats.org/drawingml/2006/main" noGrp="1"/>
          </p:cNvSpPr>
          <p:nvPr/>
        </p:nvSpPr>
        <p:spPr>
          <a:xfrm xmlns:a="http://schemas.openxmlformats.org/drawingml/2006/main">
            <a:off x="666750" y="1809750"/>
            <a:ext cx="7239000"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CFB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6cbd0114082413b"/>
          <a:stretch xmlns:a="http://schemas.openxmlformats.org/drawingml/2006/main"/>
        </p:blipFill>
        <p:spPr>
          <a:xfrm xmlns:a="http://schemas.openxmlformats.org/drawingml/2006/main">
            <a:off x="762000" y="2400300"/>
            <a:ext cx="7048500" cy="2819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603BC11-B798-4494-93AB-D3D6B97FA3EB}"/>
              </a:ext>
            </a:extLst>
          </p:cNvPr>
          <p:cNvSpPr>
            <a:spLocks xmlns:a="http://schemas.openxmlformats.org/drawingml/2006/main" noGrp="1"/>
          </p:cNvSpPr>
          <p:nvPr/>
        </p:nvSpPr>
        <p:spPr>
          <a:xfrm xmlns:a="http://schemas.openxmlformats.org/drawingml/2006/main">
            <a:off x="8239125" y="1809750"/>
            <a:ext cx="3143250" cy="1123950"/>
          </a:xfrm>
          <a:prstGeom xmlns:a="http://schemas.openxmlformats.org/drawingml/2006/main" prst="roundRect">
            <a:avLst>
              <a:gd name="adj" fmla="val 10169"/>
            </a:avLst>
          </a:prstGeom>
          <a:solidFill xmlns:a="http://schemas.openxmlformats.org/drawingml/2006/main">
            <a:srgbClr val="FFFAF1"/>
          </a:solidFill>
          <a:ln xmlns:a="http://schemas.openxmlformats.org/drawingml/2006/main" w="9525">
            <a:solidFill>
              <a:srgbClr val="DDCFBA"/>
            </a:solidFill>
            <a:prstDash val="solid"/>
          </a:ln>
        </p:spPr>
      </p:sp>
      <p:sp>
        <p:nvSpPr>
          <p:cNvPr id="9" name="">
            <a:extLst xmlns:a="http://schemas.openxmlformats.org/drawingml/2006/main">
              <a:ext uri="{FF2B5EF4-FFF2-40B4-BE49-F238E27FC236}">
                <a16:creationId xmlns:a16="http://schemas.microsoft.com/office/drawing/2014/main" id="{53A89CD2-A01E-4FB2-9F0F-3032C94F781F}"/>
              </a:ext>
            </a:extLst>
          </p:cNvPr>
          <p:cNvSpPr>
            <a:spLocks xmlns:a="http://schemas.openxmlformats.org/drawingml/2006/main" noGrp="1"/>
          </p:cNvSpPr>
          <p:nvPr/>
        </p:nvSpPr>
        <p:spPr>
          <a:xfrm xmlns:a="http://schemas.openxmlformats.org/drawingml/2006/main">
            <a:off x="8239125" y="1809750"/>
            <a:ext cx="66675" cy="1123950"/>
          </a:xfrm>
          <a:prstGeom xmlns:a="http://schemas.openxmlformats.org/drawingml/2006/main" prst="rect">
            <a:avLst/>
          </a:prstGeom>
          <a:solidFill xmlns:a="http://schemas.openxmlformats.org/drawingml/2006/main">
            <a:srgbClr val="315F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3A0710-96AB-4147-8F4B-5CCCF888D12E}"/>
              </a:ext>
            </a:extLst>
          </p:cNvPr>
          <p:cNvSpPr>
            <a:spLocks xmlns:a="http://schemas.openxmlformats.org/drawingml/2006/main" noGrp="1"/>
          </p:cNvSpPr>
          <p:nvPr/>
        </p:nvSpPr>
        <p:spPr>
          <a:xfrm xmlns:a="http://schemas.openxmlformats.org/drawingml/2006/main">
            <a:off x="8505825" y="20193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315F8D"/>
                </a:solidFill>
                <a:latin typeface="Aptos"/>
                <a:ea typeface="Aptos"/>
                <a:cs typeface="Aptos"/>
              </a:defRPr>
            </a:pPr>
            <a:r>
              <a:rPr sz="1500" b="1" i="0">
                <a:solidFill>
                  <a:srgbClr val="315F8D"/>
                </a:solidFill>
                <a:latin typeface="Aptos"/>
                <a:ea typeface="Aptos"/>
                <a:cs typeface="Aptos"/>
              </a:rPr>
              <a:t>8 markets, 3 epochs</a:t>
            </a:r>
          </a:p>
        </p:txBody>
      </p:sp>
      <p:sp>
        <p:nvSpPr>
          <p:cNvPr id="11" name="">
            <a:extLst xmlns:a="http://schemas.openxmlformats.org/drawingml/2006/main">
              <a:ext uri="{FF2B5EF4-FFF2-40B4-BE49-F238E27FC236}">
                <a16:creationId xmlns:a16="http://schemas.microsoft.com/office/drawing/2014/main" id="{38064BE1-AF21-4E55-80F5-CA21FC86F346}"/>
              </a:ext>
            </a:extLst>
          </p:cNvPr>
          <p:cNvSpPr>
            <a:spLocks xmlns:a="http://schemas.openxmlformats.org/drawingml/2006/main" noGrp="1"/>
          </p:cNvSpPr>
          <p:nvPr/>
        </p:nvSpPr>
        <p:spPr>
          <a:xfrm xmlns:a="http://schemas.openxmlformats.org/drawingml/2006/main">
            <a:off x="8505825" y="2428875"/>
            <a:ext cx="264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750"/>
          </a:bodyPr>
          <a:lstStyle xmlns:a="http://schemas.openxmlformats.org/drawingml/2006/main"/>
          <a:p xmlns:a="http://schemas.openxmlformats.org/drawingml/2006/main">
            <a:pPr>
              <a:defRPr sz="1200" b="0" i="0">
                <a:solidFill>
                  <a:srgbClr val="17202A"/>
                </a:solidFill>
                <a:latin typeface="Aptos"/>
                <a:ea typeface="Aptos"/>
                <a:cs typeface="Aptos"/>
              </a:defRPr>
            </a:pPr>
            <a:r>
              <a:rPr sz="1200" b="0" i="0">
                <a:solidFill>
                  <a:srgbClr val="17202A"/>
                </a:solidFill>
                <a:latin typeface="Aptos"/>
                <a:ea typeface="Aptos"/>
                <a:cs typeface="Aptos"/>
              </a:rPr>
              <a:t>+8.06% return, 27.7% common feasibility, 15.50% drawdown.</a:t>
            </a:r>
          </a:p>
        </p:txBody>
      </p:sp>
      <p:sp>
        <p:nvSpPr>
          <p:cNvPr id="12" name="">
            <a:extLst xmlns:a="http://schemas.openxmlformats.org/drawingml/2006/main">
              <a:ext uri="{FF2B5EF4-FFF2-40B4-BE49-F238E27FC236}">
                <a16:creationId xmlns:a16="http://schemas.microsoft.com/office/drawing/2014/main" id="{40F28AE4-065B-4B21-AE00-8D669967C3B6}"/>
              </a:ext>
            </a:extLst>
          </p:cNvPr>
          <p:cNvSpPr>
            <a:spLocks xmlns:a="http://schemas.openxmlformats.org/drawingml/2006/main" noGrp="1"/>
          </p:cNvSpPr>
          <p:nvPr/>
        </p:nvSpPr>
        <p:spPr>
          <a:xfrm xmlns:a="http://schemas.openxmlformats.org/drawingml/2006/main">
            <a:off x="8239125" y="3143250"/>
            <a:ext cx="3143250" cy="1123950"/>
          </a:xfrm>
          <a:prstGeom xmlns:a="http://schemas.openxmlformats.org/drawingml/2006/main" prst="roundRect">
            <a:avLst>
              <a:gd name="adj" fmla="val 10169"/>
            </a:avLst>
          </a:prstGeom>
          <a:solidFill xmlns:a="http://schemas.openxmlformats.org/drawingml/2006/main">
            <a:srgbClr val="FFFAF1"/>
          </a:solidFill>
          <a:ln xmlns:a="http://schemas.openxmlformats.org/drawingml/2006/main" w="9525">
            <a:solidFill>
              <a:srgbClr val="DDCFBA"/>
            </a:solidFill>
            <a:prstDash val="solid"/>
          </a:ln>
        </p:spPr>
      </p:sp>
      <p:sp>
        <p:nvSpPr>
          <p:cNvPr id="13" name="">
            <a:extLst xmlns:a="http://schemas.openxmlformats.org/drawingml/2006/main">
              <a:ext uri="{FF2B5EF4-FFF2-40B4-BE49-F238E27FC236}">
                <a16:creationId xmlns:a16="http://schemas.microsoft.com/office/drawing/2014/main" id="{5AF1CF0A-8FF4-4797-A03C-1EDFDBC67A9B}"/>
              </a:ext>
            </a:extLst>
          </p:cNvPr>
          <p:cNvSpPr>
            <a:spLocks xmlns:a="http://schemas.openxmlformats.org/drawingml/2006/main" noGrp="1"/>
          </p:cNvSpPr>
          <p:nvPr/>
        </p:nvSpPr>
        <p:spPr>
          <a:xfrm xmlns:a="http://schemas.openxmlformats.org/drawingml/2006/main">
            <a:off x="8239125" y="3143250"/>
            <a:ext cx="66675" cy="112395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C0F5CAD-D063-4BF9-9D48-20162E643738}"/>
              </a:ext>
            </a:extLst>
          </p:cNvPr>
          <p:cNvSpPr>
            <a:spLocks xmlns:a="http://schemas.openxmlformats.org/drawingml/2006/main" noGrp="1"/>
          </p:cNvSpPr>
          <p:nvPr/>
        </p:nvSpPr>
        <p:spPr>
          <a:xfrm xmlns:a="http://schemas.openxmlformats.org/drawingml/2006/main">
            <a:off x="8505825" y="33528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2 markets, 4 epochs</a:t>
            </a:r>
          </a:p>
        </p:txBody>
      </p:sp>
      <p:sp>
        <p:nvSpPr>
          <p:cNvPr id="15" name="">
            <a:extLst xmlns:a="http://schemas.openxmlformats.org/drawingml/2006/main">
              <a:ext uri="{FF2B5EF4-FFF2-40B4-BE49-F238E27FC236}">
                <a16:creationId xmlns:a16="http://schemas.microsoft.com/office/drawing/2014/main" id="{B6347532-4F18-4C36-9B80-0A5F7C8881DD}"/>
              </a:ext>
            </a:extLst>
          </p:cNvPr>
          <p:cNvSpPr>
            <a:spLocks xmlns:a="http://schemas.openxmlformats.org/drawingml/2006/main" noGrp="1"/>
          </p:cNvSpPr>
          <p:nvPr/>
        </p:nvSpPr>
        <p:spPr>
          <a:xfrm xmlns:a="http://schemas.openxmlformats.org/drawingml/2006/main">
            <a:off x="8505825" y="3762375"/>
            <a:ext cx="264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750"/>
          </a:bodyPr>
          <a:lstStyle xmlns:a="http://schemas.openxmlformats.org/drawingml/2006/main"/>
          <a:p xmlns:a="http://schemas.openxmlformats.org/drawingml/2006/main">
            <a:pPr>
              <a:defRPr sz="1200" b="0" i="0">
                <a:solidFill>
                  <a:srgbClr val="17202A"/>
                </a:solidFill>
                <a:latin typeface="Aptos"/>
                <a:ea typeface="Aptos"/>
                <a:cs typeface="Aptos"/>
              </a:defRPr>
            </a:pPr>
            <a:r>
              <a:rPr sz="1200" b="0" i="0">
                <a:solidFill>
                  <a:srgbClr val="17202A"/>
                </a:solidFill>
                <a:latin typeface="Aptos"/>
                <a:ea typeface="Aptos"/>
                <a:cs typeface="Aptos"/>
              </a:rPr>
              <a:t>+8.03% return, 30.7% common feasibility, 15.09% drawdown.</a:t>
            </a:r>
          </a:p>
        </p:txBody>
      </p:sp>
      <p:sp>
        <p:nvSpPr>
          <p:cNvPr id="16" name="">
            <a:extLst xmlns:a="http://schemas.openxmlformats.org/drawingml/2006/main">
              <a:ext uri="{FF2B5EF4-FFF2-40B4-BE49-F238E27FC236}">
                <a16:creationId xmlns:a16="http://schemas.microsoft.com/office/drawing/2014/main" id="{F1719363-EDFF-42C5-8BFF-6935A8C68451}"/>
              </a:ext>
            </a:extLst>
          </p:cNvPr>
          <p:cNvSpPr>
            <a:spLocks xmlns:a="http://schemas.openxmlformats.org/drawingml/2006/main" noGrp="1"/>
          </p:cNvSpPr>
          <p:nvPr/>
        </p:nvSpPr>
        <p:spPr>
          <a:xfrm xmlns:a="http://schemas.openxmlformats.org/drawingml/2006/main">
            <a:off x="8239125" y="4476750"/>
            <a:ext cx="3143250" cy="1333500"/>
          </a:xfrm>
          <a:prstGeom xmlns:a="http://schemas.openxmlformats.org/drawingml/2006/main" prst="roundRect">
            <a:avLst>
              <a:gd name="adj" fmla="val 8571"/>
            </a:avLst>
          </a:prstGeom>
          <a:solidFill xmlns:a="http://schemas.openxmlformats.org/drawingml/2006/main">
            <a:srgbClr val="FFFAF1"/>
          </a:solidFill>
          <a:ln xmlns:a="http://schemas.openxmlformats.org/drawingml/2006/main" w="9525">
            <a:solidFill>
              <a:srgbClr val="DDCFBA"/>
            </a:solidFill>
            <a:prstDash val="solid"/>
          </a:ln>
        </p:spPr>
      </p:sp>
      <p:sp>
        <p:nvSpPr>
          <p:cNvPr id="17" name="">
            <a:extLst xmlns:a="http://schemas.openxmlformats.org/drawingml/2006/main">
              <a:ext uri="{FF2B5EF4-FFF2-40B4-BE49-F238E27FC236}">
                <a16:creationId xmlns:a16="http://schemas.microsoft.com/office/drawing/2014/main" id="{924C155A-21F3-474F-842B-27ECC4DA7B26}"/>
              </a:ext>
            </a:extLst>
          </p:cNvPr>
          <p:cNvSpPr>
            <a:spLocks xmlns:a="http://schemas.openxmlformats.org/drawingml/2006/main" noGrp="1"/>
          </p:cNvSpPr>
          <p:nvPr/>
        </p:nvSpPr>
        <p:spPr>
          <a:xfrm xmlns:a="http://schemas.openxmlformats.org/drawingml/2006/main">
            <a:off x="8239125" y="4476750"/>
            <a:ext cx="66675" cy="13335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4A48B3-20B2-4C3A-8CE5-324B775B420E}"/>
              </a:ext>
            </a:extLst>
          </p:cNvPr>
          <p:cNvSpPr>
            <a:spLocks xmlns:a="http://schemas.openxmlformats.org/drawingml/2006/main" noGrp="1"/>
          </p:cNvSpPr>
          <p:nvPr/>
        </p:nvSpPr>
        <p:spPr>
          <a:xfrm xmlns:a="http://schemas.openxmlformats.org/drawingml/2006/main">
            <a:off x="8505825" y="46863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Conclusion | replicated</a:t>
            </a:r>
          </a:p>
        </p:txBody>
      </p:sp>
      <p:sp>
        <p:nvSpPr>
          <p:cNvPr id="19" name="">
            <a:extLst xmlns:a="http://schemas.openxmlformats.org/drawingml/2006/main">
              <a:ext uri="{FF2B5EF4-FFF2-40B4-BE49-F238E27FC236}">
                <a16:creationId xmlns:a16="http://schemas.microsoft.com/office/drawing/2014/main" id="{1BFA3768-D2F5-4C85-82C6-0FA0FBE8B770}"/>
              </a:ext>
            </a:extLst>
          </p:cNvPr>
          <p:cNvSpPr>
            <a:spLocks xmlns:a="http://schemas.openxmlformats.org/drawingml/2006/main" noGrp="1"/>
          </p:cNvSpPr>
          <p:nvPr/>
        </p:nvSpPr>
        <p:spPr>
          <a:xfrm xmlns:a="http://schemas.openxmlformats.org/drawingml/2006/main">
            <a:off x="8505825" y="5095875"/>
            <a:ext cx="2647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509"/>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No universal winner: condition means are close relative to seed-to-seed spread.</a:t>
            </a:r>
          </a:p>
        </p:txBody>
      </p:sp>
    </p:spTree>
    <p:extLst>
      <p:ext uri="{BB962C8B-B14F-4D97-AF65-F5344CB8AC3E}">
        <p14:creationId xmlns:p14="http://schemas.microsoft.com/office/powerpoint/2010/main" val="520181608"/>
      </p:ext>
    </p:extLst>
  </p:cSld>
</p:sld>
</file>

<file path=ppt/slides/slide10.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85595F-90F2-48FD-8EC3-55790D8D545A}"/>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PAIRED EFFECTS</a:t>
            </a:r>
          </a:p>
        </p:txBody>
      </p:sp>
      <p:sp>
        <p:nvSpPr>
          <p:cNvPr id="2" name="">
            <a:extLst xmlns:a="http://schemas.openxmlformats.org/drawingml/2006/main">
              <a:ext uri="{FF2B5EF4-FFF2-40B4-BE49-F238E27FC236}">
                <a16:creationId xmlns:a16="http://schemas.microsoft.com/office/drawing/2014/main" id="{8E2E595E-B649-4CD2-A814-699B2B442CB2}"/>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Market diversity helps at 3 epochs but reverses at 4 epochs</a:t>
            </a:r>
          </a:p>
        </p:txBody>
      </p:sp>
      <p:sp>
        <p:nvSpPr>
          <p:cNvPr id="3" name="">
            <a:extLst xmlns:a="http://schemas.openxmlformats.org/drawingml/2006/main">
              <a:ext uri="{FF2B5EF4-FFF2-40B4-BE49-F238E27FC236}">
                <a16:creationId xmlns:a16="http://schemas.microsoft.com/office/drawing/2014/main" id="{8C16D750-5CF1-4C46-8A22-843268F604C9}"/>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28BEB3-FEF4-49D1-8ED8-BC928944C813}"/>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49742A09-F172-4AA0-BB5D-BA71D1CD5BD7}"/>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B5BEC833-B4D3-4388-AF73-13D292F52DEF}"/>
              </a:ext>
            </a:extLst>
          </p:cNvPr>
          <p:cNvSpPr>
            <a:spLocks xmlns:a="http://schemas.openxmlformats.org/drawingml/2006/main" noGrp="1"/>
          </p:cNvSpPr>
          <p:nvPr/>
        </p:nvSpPr>
        <p:spPr>
          <a:xfrm xmlns:a="http://schemas.openxmlformats.org/drawingml/2006/main">
            <a:off x="762000" y="1762125"/>
            <a:ext cx="10668000" cy="3381375"/>
          </a:xfrm>
          <a:prstGeom xmlns:a="http://schemas.openxmlformats.org/drawingml/2006/main" prst="roundRect">
            <a:avLst>
              <a:gd name="adj" fmla="val 3380"/>
            </a:avLst>
          </a:prstGeom>
          <a:solidFill xmlns:a="http://schemas.openxmlformats.org/drawingml/2006/main">
            <a:srgbClr val="FFFFFF"/>
          </a:solidFill>
          <a:ln xmlns:a="http://schemas.openxmlformats.org/drawingml/2006/main" w="9525">
            <a:solidFill>
              <a:srgbClr val="DDCFBA"/>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0eb76b953a7412c"/>
          <a:stretch xmlns:a="http://schemas.openxmlformats.org/drawingml/2006/main"/>
        </p:blipFill>
        <p:spPr>
          <a:xfrm xmlns:a="http://schemas.openxmlformats.org/drawingml/2006/main">
            <a:off x="3247004" y="1857375"/>
            <a:ext cx="5697991" cy="3190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9D19CF-6556-4550-AE8A-53A06F18FAF1}"/>
              </a:ext>
            </a:extLst>
          </p:cNvPr>
          <p:cNvSpPr>
            <a:spLocks xmlns:a="http://schemas.openxmlformats.org/drawingml/2006/main" noGrp="1"/>
          </p:cNvSpPr>
          <p:nvPr/>
        </p:nvSpPr>
        <p:spPr>
          <a:xfrm xmlns:a="http://schemas.openxmlformats.org/drawingml/2006/main">
            <a:off x="1143000" y="5238750"/>
            <a:ext cx="4572000" cy="857250"/>
          </a:xfrm>
          <a:prstGeom xmlns:a="http://schemas.openxmlformats.org/drawingml/2006/main" prst="roundRect">
            <a:avLst>
              <a:gd name="adj" fmla="val 13333"/>
            </a:avLst>
          </a:prstGeom>
          <a:solidFill xmlns:a="http://schemas.openxmlformats.org/drawingml/2006/main">
            <a:srgbClr val="FFFAF1"/>
          </a:solidFill>
          <a:ln xmlns:a="http://schemas.openxmlformats.org/drawingml/2006/main" w="9525">
            <a:solidFill>
              <a:srgbClr val="DDCFBA"/>
            </a:solidFill>
            <a:prstDash val="solid"/>
          </a:ln>
        </p:spPr>
      </p:sp>
      <p:sp>
        <p:nvSpPr>
          <p:cNvPr id="9" name="">
            <a:extLst xmlns:a="http://schemas.openxmlformats.org/drawingml/2006/main">
              <a:ext uri="{FF2B5EF4-FFF2-40B4-BE49-F238E27FC236}">
                <a16:creationId xmlns:a16="http://schemas.microsoft.com/office/drawing/2014/main" id="{5C89A469-E41F-4CB5-9538-9E62DCB4B2A9}"/>
              </a:ext>
            </a:extLst>
          </p:cNvPr>
          <p:cNvSpPr>
            <a:spLocks xmlns:a="http://schemas.openxmlformats.org/drawingml/2006/main" noGrp="1"/>
          </p:cNvSpPr>
          <p:nvPr/>
        </p:nvSpPr>
        <p:spPr>
          <a:xfrm xmlns:a="http://schemas.openxmlformats.org/drawingml/2006/main">
            <a:off x="1143000" y="5238750"/>
            <a:ext cx="66675" cy="85725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1D3FF4-8194-4480-8776-21A113F8F86A}"/>
              </a:ext>
            </a:extLst>
          </p:cNvPr>
          <p:cNvSpPr>
            <a:spLocks xmlns:a="http://schemas.openxmlformats.org/drawingml/2006/main" noGrp="1"/>
          </p:cNvSpPr>
          <p:nvPr/>
        </p:nvSpPr>
        <p:spPr>
          <a:xfrm xmlns:a="http://schemas.openxmlformats.org/drawingml/2006/main">
            <a:off x="1476375" y="53911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defRPr sz="1275" b="1" i="0">
                <a:solidFill>
                  <a:srgbClr val="1F6F68"/>
                </a:solidFill>
                <a:latin typeface="Aptos"/>
                <a:ea typeface="Aptos"/>
                <a:cs typeface="Aptos"/>
              </a:defRPr>
            </a:pPr>
            <a:r>
              <a:rPr sz="1275" b="1" i="0">
                <a:solidFill>
                  <a:srgbClr val="1F6F68"/>
                </a:solidFill>
                <a:latin typeface="Aptos"/>
                <a:ea typeface="Aptos"/>
                <a:cs typeface="Aptos"/>
              </a:rPr>
              <a:t>2 to 8 markets</a:t>
            </a:r>
          </a:p>
        </p:txBody>
      </p:sp>
      <p:sp>
        <p:nvSpPr>
          <p:cNvPr id="11" name="">
            <a:extLst xmlns:a="http://schemas.openxmlformats.org/drawingml/2006/main">
              <a:ext uri="{FF2B5EF4-FFF2-40B4-BE49-F238E27FC236}">
                <a16:creationId xmlns:a16="http://schemas.microsoft.com/office/drawing/2014/main" id="{0F52C3C4-4542-4E7E-94A4-DC8BB3946CAB}"/>
              </a:ext>
            </a:extLst>
          </p:cNvPr>
          <p:cNvSpPr>
            <a:spLocks xmlns:a="http://schemas.openxmlformats.org/drawingml/2006/main" noGrp="1"/>
          </p:cNvSpPr>
          <p:nvPr/>
        </p:nvSpPr>
        <p:spPr>
          <a:xfrm xmlns:a="http://schemas.openxmlformats.org/drawingml/2006/main">
            <a:off x="1476375" y="5695950"/>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17202A"/>
                </a:solidFill>
                <a:latin typeface="Aptos"/>
                <a:ea typeface="Aptos"/>
                <a:cs typeface="Aptos"/>
              </a:defRPr>
            </a:pPr>
            <a:r>
              <a:rPr sz="1200" b="0" i="0">
                <a:solidFill>
                  <a:srgbClr val="17202A"/>
                </a:solidFill>
                <a:latin typeface="Aptos"/>
                <a:ea typeface="Aptos"/>
                <a:cs typeface="Aptos"/>
              </a:rPr>
              <a:t>+0.40 pp (3 epochs); -1.02 pp (4 epochs).</a:t>
            </a:r>
          </a:p>
        </p:txBody>
      </p:sp>
      <p:sp>
        <p:nvSpPr>
          <p:cNvPr id="12" name="">
            <a:extLst xmlns:a="http://schemas.openxmlformats.org/drawingml/2006/main">
              <a:ext uri="{FF2B5EF4-FFF2-40B4-BE49-F238E27FC236}">
                <a16:creationId xmlns:a16="http://schemas.microsoft.com/office/drawing/2014/main" id="{984E455C-EEB8-4312-AB79-F489C18BB6D1}"/>
              </a:ext>
            </a:extLst>
          </p:cNvPr>
          <p:cNvSpPr>
            <a:spLocks xmlns:a="http://schemas.openxmlformats.org/drawingml/2006/main" noGrp="1"/>
          </p:cNvSpPr>
          <p:nvPr/>
        </p:nvSpPr>
        <p:spPr>
          <a:xfrm xmlns:a="http://schemas.openxmlformats.org/drawingml/2006/main">
            <a:off x="6477000" y="5238750"/>
            <a:ext cx="4572000" cy="857250"/>
          </a:xfrm>
          <a:prstGeom xmlns:a="http://schemas.openxmlformats.org/drawingml/2006/main" prst="roundRect">
            <a:avLst>
              <a:gd name="adj" fmla="val 13333"/>
            </a:avLst>
          </a:prstGeom>
          <a:solidFill xmlns:a="http://schemas.openxmlformats.org/drawingml/2006/main">
            <a:srgbClr val="FFFAF1"/>
          </a:solidFill>
          <a:ln xmlns:a="http://schemas.openxmlformats.org/drawingml/2006/main" w="9525">
            <a:solidFill>
              <a:srgbClr val="DDCFBA"/>
            </a:solidFill>
            <a:prstDash val="solid"/>
          </a:ln>
        </p:spPr>
      </p:sp>
      <p:sp>
        <p:nvSpPr>
          <p:cNvPr id="13" name="">
            <a:extLst xmlns:a="http://schemas.openxmlformats.org/drawingml/2006/main">
              <a:ext uri="{FF2B5EF4-FFF2-40B4-BE49-F238E27FC236}">
                <a16:creationId xmlns:a16="http://schemas.microsoft.com/office/drawing/2014/main" id="{4CD4FE05-3C2C-435B-9D4D-01C095BD98BF}"/>
              </a:ext>
            </a:extLst>
          </p:cNvPr>
          <p:cNvSpPr>
            <a:spLocks xmlns:a="http://schemas.openxmlformats.org/drawingml/2006/main" noGrp="1"/>
          </p:cNvSpPr>
          <p:nvPr/>
        </p:nvSpPr>
        <p:spPr>
          <a:xfrm xmlns:a="http://schemas.openxmlformats.org/drawingml/2006/main">
            <a:off x="6477000" y="5238750"/>
            <a:ext cx="66675" cy="85725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8ED326-7D4D-4A1D-A1EB-70325F326BF4}"/>
              </a:ext>
            </a:extLst>
          </p:cNvPr>
          <p:cNvSpPr>
            <a:spLocks xmlns:a="http://schemas.openxmlformats.org/drawingml/2006/main" noGrp="1"/>
          </p:cNvSpPr>
          <p:nvPr/>
        </p:nvSpPr>
        <p:spPr>
          <a:xfrm xmlns:a="http://schemas.openxmlformats.org/drawingml/2006/main">
            <a:off x="6810375" y="53911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defRPr sz="1275" b="1" i="0">
                <a:solidFill>
                  <a:srgbClr val="A84632"/>
                </a:solidFill>
                <a:latin typeface="Aptos"/>
                <a:ea typeface="Aptos"/>
                <a:cs typeface="Aptos"/>
              </a:defRPr>
            </a:pPr>
            <a:r>
              <a:rPr sz="1275" b="1" i="0">
                <a:solidFill>
                  <a:srgbClr val="A84632"/>
                </a:solidFill>
                <a:latin typeface="Aptos"/>
                <a:ea typeface="Aptos"/>
                <a:cs typeface="Aptos"/>
              </a:rPr>
              <a:t>3 to 4 epochs</a:t>
            </a:r>
          </a:p>
        </p:txBody>
      </p:sp>
      <p:sp>
        <p:nvSpPr>
          <p:cNvPr id="15" name="">
            <a:extLst xmlns:a="http://schemas.openxmlformats.org/drawingml/2006/main">
              <a:ext uri="{FF2B5EF4-FFF2-40B4-BE49-F238E27FC236}">
                <a16:creationId xmlns:a16="http://schemas.microsoft.com/office/drawing/2014/main" id="{96632506-BF5D-44DE-8415-967D503091BA}"/>
              </a:ext>
            </a:extLst>
          </p:cNvPr>
          <p:cNvSpPr>
            <a:spLocks xmlns:a="http://schemas.openxmlformats.org/drawingml/2006/main" noGrp="1"/>
          </p:cNvSpPr>
          <p:nvPr/>
        </p:nvSpPr>
        <p:spPr>
          <a:xfrm xmlns:a="http://schemas.openxmlformats.org/drawingml/2006/main">
            <a:off x="6810375" y="5695950"/>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0" i="0">
                <a:solidFill>
                  <a:srgbClr val="17202A"/>
                </a:solidFill>
                <a:latin typeface="Aptos"/>
                <a:ea typeface="Aptos"/>
                <a:cs typeface="Aptos"/>
              </a:defRPr>
            </a:pPr>
            <a:r>
              <a:rPr sz="1200" b="0" i="0">
                <a:solidFill>
                  <a:srgbClr val="17202A"/>
                </a:solidFill>
                <a:latin typeface="Aptos"/>
                <a:ea typeface="Aptos"/>
                <a:cs typeface="Aptos"/>
              </a:rPr>
              <a:t>+0.38 pp (2 markets); -1.04 pp (8 markets).</a:t>
            </a:r>
          </a:p>
        </p:txBody>
      </p:sp>
    </p:spTree>
    <p:extLst>
      <p:ext uri="{BB962C8B-B14F-4D97-AF65-F5344CB8AC3E}">
        <p14:creationId xmlns:p14="http://schemas.microsoft.com/office/powerpoint/2010/main" val="2049636930"/>
      </p:ext>
    </p:extLst>
  </p:cSld>
</p:sld>
</file>

<file path=ppt/slides/slide11.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5BED31-A5DE-4673-A9D3-31E48020BB4A}"/>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COUNTERFACTUAL REWARD</a:t>
            </a:r>
          </a:p>
        </p:txBody>
      </p:sp>
      <p:sp>
        <p:nvSpPr>
          <p:cNvPr id="2" name="">
            <a:extLst xmlns:a="http://schemas.openxmlformats.org/drawingml/2006/main">
              <a:ext uri="{FF2B5EF4-FFF2-40B4-BE49-F238E27FC236}">
                <a16:creationId xmlns:a16="http://schemas.microsoft.com/office/drawing/2014/main" id="{2CD4D76A-81A6-4470-9A25-8F8F24958643}"/>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The current credit signal trades return for risk improvement at 3 epochs</a:t>
            </a:r>
          </a:p>
        </p:txBody>
      </p:sp>
      <p:sp>
        <p:nvSpPr>
          <p:cNvPr id="3" name="">
            <a:extLst xmlns:a="http://schemas.openxmlformats.org/drawingml/2006/main">
              <a:ext uri="{FF2B5EF4-FFF2-40B4-BE49-F238E27FC236}">
                <a16:creationId xmlns:a16="http://schemas.microsoft.com/office/drawing/2014/main" id="{C500FD52-D5B6-455A-BF77-D6878C3FDFB4}"/>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070141-A747-4FC3-8A61-2C0F14EAC6FE}"/>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9D95C137-6C31-4229-A96C-4E37257DB052}"/>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B04B0B48-5AC3-436D-BEFD-8611AC729755}"/>
              </a:ext>
            </a:extLst>
          </p:cNvPr>
          <p:cNvSpPr>
            <a:spLocks xmlns:a="http://schemas.openxmlformats.org/drawingml/2006/main" noGrp="1"/>
          </p:cNvSpPr>
          <p:nvPr/>
        </p:nvSpPr>
        <p:spPr>
          <a:xfrm xmlns:a="http://schemas.openxmlformats.org/drawingml/2006/main">
            <a:off x="666750" y="1762125"/>
            <a:ext cx="5286375"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9525">
            <a:solidFill>
              <a:srgbClr val="DDCFB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76beb5dbbb4b6a"/>
          <a:stretch xmlns:a="http://schemas.openxmlformats.org/drawingml/2006/main"/>
        </p:blipFill>
        <p:spPr>
          <a:xfrm xmlns:a="http://schemas.openxmlformats.org/drawingml/2006/main">
            <a:off x="762000" y="2576513"/>
            <a:ext cx="5095875" cy="20383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B2254EF-5683-4DA4-90A1-20035F29CE88}"/>
              </a:ext>
            </a:extLst>
          </p:cNvPr>
          <p:cNvSpPr>
            <a:spLocks xmlns:a="http://schemas.openxmlformats.org/drawingml/2006/main" noGrp="1"/>
          </p:cNvSpPr>
          <p:nvPr/>
        </p:nvSpPr>
        <p:spPr>
          <a:xfrm xmlns:a="http://schemas.openxmlformats.org/drawingml/2006/main">
            <a:off x="6238875" y="1762125"/>
            <a:ext cx="5286375"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9525">
            <a:solidFill>
              <a:srgbClr val="DDCFB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82dafe7c45e4aa5"/>
          <a:stretch xmlns:a="http://schemas.openxmlformats.org/drawingml/2006/main"/>
        </p:blipFill>
        <p:spPr>
          <a:xfrm xmlns:a="http://schemas.openxmlformats.org/drawingml/2006/main">
            <a:off x="6334125" y="2735759"/>
            <a:ext cx="5095875" cy="171985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4871ABD-3F29-4497-B4E6-5EF3288E2E90}"/>
              </a:ext>
            </a:extLst>
          </p:cNvPr>
          <p:cNvSpPr>
            <a:spLocks xmlns:a="http://schemas.openxmlformats.org/drawingml/2006/main" noGrp="1"/>
          </p:cNvSpPr>
          <p:nvPr/>
        </p:nvSpPr>
        <p:spPr>
          <a:xfrm xmlns:a="http://schemas.openxmlformats.org/drawingml/2006/main">
            <a:off x="1143000" y="56197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1" i="0">
                <a:solidFill>
                  <a:srgbClr val="17202A"/>
                </a:solidFill>
                <a:latin typeface="Aptos"/>
                <a:ea typeface="Aptos"/>
                <a:cs typeface="Aptos"/>
              </a:defRPr>
            </a:pPr>
            <a:r>
              <a:rPr sz="1575" b="1" i="0">
                <a:solidFill>
                  <a:srgbClr val="17202A"/>
                </a:solidFill>
                <a:latin typeface="Aptos"/>
                <a:ea typeface="Aptos"/>
                <a:cs typeface="Aptos"/>
              </a:rPr>
              <a:t>Conclusion: no return gain; at 3 epochs, -1.20 pp return buys +6.7 pp feasibility.</a:t>
            </a:r>
          </a:p>
        </p:txBody>
      </p:sp>
    </p:spTree>
    <p:extLst>
      <p:ext uri="{BB962C8B-B14F-4D97-AF65-F5344CB8AC3E}">
        <p14:creationId xmlns:p14="http://schemas.microsoft.com/office/powerpoint/2010/main" val="1556968819"/>
      </p:ext>
    </p:extLst>
  </p:cSld>
</p:sld>
</file>

<file path=ppt/slides/slide12.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10C00E-F046-4233-915D-BC656274BF71}"/>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CHECKPOINT SELECTION</a:t>
            </a:r>
          </a:p>
        </p:txBody>
      </p:sp>
      <p:sp>
        <p:nvSpPr>
          <p:cNvPr id="2" name="">
            <a:extLst xmlns:a="http://schemas.openxmlformats.org/drawingml/2006/main">
              <a:ext uri="{FF2B5EF4-FFF2-40B4-BE49-F238E27FC236}">
                <a16:creationId xmlns:a16="http://schemas.microsoft.com/office/drawing/2014/main" id="{29D52DA2-30E0-4CB5-9E07-B0A66AEDAC7C}"/>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Risk-oriented selection improves holdout risk but gives up return</a:t>
            </a:r>
          </a:p>
        </p:txBody>
      </p:sp>
      <p:sp>
        <p:nvSpPr>
          <p:cNvPr id="3" name="">
            <a:extLst xmlns:a="http://schemas.openxmlformats.org/drawingml/2006/main">
              <a:ext uri="{FF2B5EF4-FFF2-40B4-BE49-F238E27FC236}">
                <a16:creationId xmlns:a16="http://schemas.microsoft.com/office/drawing/2014/main" id="{2DEF92F7-2D27-45A5-80AC-981803FE7E26}"/>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790E8C-A292-48E1-A2CE-A1A3062303CF}"/>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F2D52114-E489-4327-91FA-CC66EF870E50}"/>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EA94390E-5C36-4279-91B3-9F3A35251974}"/>
              </a:ext>
            </a:extLst>
          </p:cNvPr>
          <p:cNvSpPr>
            <a:spLocks xmlns:a="http://schemas.openxmlformats.org/drawingml/2006/main" noGrp="1"/>
          </p:cNvSpPr>
          <p:nvPr/>
        </p:nvSpPr>
        <p:spPr>
          <a:xfrm xmlns:a="http://schemas.openxmlformats.org/drawingml/2006/main">
            <a:off x="666750" y="1809750"/>
            <a:ext cx="6667500"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CFB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7dbde98e3424e26"/>
          <a:stretch xmlns:a="http://schemas.openxmlformats.org/drawingml/2006/main"/>
        </p:blipFill>
        <p:spPr>
          <a:xfrm xmlns:a="http://schemas.openxmlformats.org/drawingml/2006/main">
            <a:off x="1412244" y="1905000"/>
            <a:ext cx="5176513" cy="3810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55BD2FB-385F-4127-BF53-4988ED3B5D1B}"/>
              </a:ext>
            </a:extLst>
          </p:cNvPr>
          <p:cNvSpPr>
            <a:spLocks xmlns:a="http://schemas.openxmlformats.org/drawingml/2006/main" noGrp="1"/>
          </p:cNvSpPr>
          <p:nvPr/>
        </p:nvSpPr>
        <p:spPr>
          <a:xfrm xmlns:a="http://schemas.openxmlformats.org/drawingml/2006/main">
            <a:off x="7762875" y="1952625"/>
            <a:ext cx="3476625" cy="1381125"/>
          </a:xfrm>
          <a:prstGeom xmlns:a="http://schemas.openxmlformats.org/drawingml/2006/main" prst="roundRect">
            <a:avLst>
              <a:gd name="adj" fmla="val 8276"/>
            </a:avLst>
          </a:prstGeom>
          <a:solidFill xmlns:a="http://schemas.openxmlformats.org/drawingml/2006/main">
            <a:srgbClr val="FFFAF1"/>
          </a:solidFill>
          <a:ln xmlns:a="http://schemas.openxmlformats.org/drawingml/2006/main" w="9525">
            <a:solidFill>
              <a:srgbClr val="DDCFBA"/>
            </a:solidFill>
            <a:prstDash val="solid"/>
          </a:ln>
        </p:spPr>
      </p:sp>
      <p:sp>
        <p:nvSpPr>
          <p:cNvPr id="9" name="">
            <a:extLst xmlns:a="http://schemas.openxmlformats.org/drawingml/2006/main">
              <a:ext uri="{FF2B5EF4-FFF2-40B4-BE49-F238E27FC236}">
                <a16:creationId xmlns:a16="http://schemas.microsoft.com/office/drawing/2014/main" id="{E89E39B3-D29F-4514-B19B-FBF1CA0C0AFD}"/>
              </a:ext>
            </a:extLst>
          </p:cNvPr>
          <p:cNvSpPr>
            <a:spLocks xmlns:a="http://schemas.openxmlformats.org/drawingml/2006/main" noGrp="1"/>
          </p:cNvSpPr>
          <p:nvPr/>
        </p:nvSpPr>
        <p:spPr>
          <a:xfrm xmlns:a="http://schemas.openxmlformats.org/drawingml/2006/main">
            <a:off x="7762875" y="1952625"/>
            <a:ext cx="66675" cy="1381125"/>
          </a:xfrm>
          <a:prstGeom xmlns:a="http://schemas.openxmlformats.org/drawingml/2006/main" prst="rect">
            <a:avLst/>
          </a:prstGeom>
          <a:solidFill xmlns:a="http://schemas.openxmlformats.org/drawingml/2006/main">
            <a:srgbClr val="C46A2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5BE290-80A0-44E8-B692-FE93EFD2CD1F}"/>
              </a:ext>
            </a:extLst>
          </p:cNvPr>
          <p:cNvSpPr>
            <a:spLocks xmlns:a="http://schemas.openxmlformats.org/drawingml/2006/main" noGrp="1"/>
          </p:cNvSpPr>
          <p:nvPr/>
        </p:nvSpPr>
        <p:spPr>
          <a:xfrm xmlns:a="http://schemas.openxmlformats.org/drawingml/2006/main">
            <a:off x="8029575" y="2162175"/>
            <a:ext cx="3019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C46A2B"/>
                </a:solidFill>
                <a:latin typeface="Aptos"/>
                <a:ea typeface="Aptos"/>
                <a:cs typeface="Aptos"/>
              </a:defRPr>
            </a:pPr>
            <a:r>
              <a:rPr sz="1500" b="1" i="0">
                <a:solidFill>
                  <a:srgbClr val="C46A2B"/>
                </a:solidFill>
                <a:latin typeface="Aptos"/>
                <a:ea typeface="Aptos"/>
                <a:cs typeface="Aptos"/>
              </a:rPr>
              <a:t>Best-return checkpoints</a:t>
            </a:r>
          </a:p>
        </p:txBody>
      </p:sp>
      <p:sp>
        <p:nvSpPr>
          <p:cNvPr id="11" name="">
            <a:extLst xmlns:a="http://schemas.openxmlformats.org/drawingml/2006/main">
              <a:ext uri="{FF2B5EF4-FFF2-40B4-BE49-F238E27FC236}">
                <a16:creationId xmlns:a16="http://schemas.microsoft.com/office/drawing/2014/main" id="{9094ECA0-607E-4A23-A3FD-C8915DA1F3D9}"/>
              </a:ext>
            </a:extLst>
          </p:cNvPr>
          <p:cNvSpPr>
            <a:spLocks xmlns:a="http://schemas.openxmlformats.org/drawingml/2006/main" noGrp="1"/>
          </p:cNvSpPr>
          <p:nvPr/>
        </p:nvSpPr>
        <p:spPr>
          <a:xfrm xmlns:a="http://schemas.openxmlformats.org/drawingml/2006/main">
            <a:off x="8029575" y="2571750"/>
            <a:ext cx="2981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07"/>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+7.49% relative wealth</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30.7% common feasibility</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15.17% mean max drawdown</a:t>
            </a:r>
          </a:p>
        </p:txBody>
      </p:sp>
      <p:sp>
        <p:nvSpPr>
          <p:cNvPr id="12" name="">
            <a:extLst xmlns:a="http://schemas.openxmlformats.org/drawingml/2006/main">
              <a:ext uri="{FF2B5EF4-FFF2-40B4-BE49-F238E27FC236}">
                <a16:creationId xmlns:a16="http://schemas.microsoft.com/office/drawing/2014/main" id="{14235C20-9F1C-44F9-9D4E-FCFED6845C85}"/>
              </a:ext>
            </a:extLst>
          </p:cNvPr>
          <p:cNvSpPr>
            <a:spLocks xmlns:a="http://schemas.openxmlformats.org/drawingml/2006/main" noGrp="1"/>
          </p:cNvSpPr>
          <p:nvPr/>
        </p:nvSpPr>
        <p:spPr>
          <a:xfrm xmlns:a="http://schemas.openxmlformats.org/drawingml/2006/main">
            <a:off x="7762875" y="3619500"/>
            <a:ext cx="3476625" cy="1619250"/>
          </a:xfrm>
          <a:prstGeom xmlns:a="http://schemas.openxmlformats.org/drawingml/2006/main" prst="roundRect">
            <a:avLst>
              <a:gd name="adj" fmla="val 7059"/>
            </a:avLst>
          </a:prstGeom>
          <a:solidFill xmlns:a="http://schemas.openxmlformats.org/drawingml/2006/main">
            <a:srgbClr val="FFFAF1"/>
          </a:solidFill>
          <a:ln xmlns:a="http://schemas.openxmlformats.org/drawingml/2006/main" w="9525">
            <a:solidFill>
              <a:srgbClr val="DDCFBA"/>
            </a:solidFill>
            <a:prstDash val="solid"/>
          </a:ln>
        </p:spPr>
      </p:sp>
      <p:sp>
        <p:nvSpPr>
          <p:cNvPr id="13" name="">
            <a:extLst xmlns:a="http://schemas.openxmlformats.org/drawingml/2006/main">
              <a:ext uri="{FF2B5EF4-FFF2-40B4-BE49-F238E27FC236}">
                <a16:creationId xmlns:a16="http://schemas.microsoft.com/office/drawing/2014/main" id="{AAA7BD0F-4D74-441D-81A7-62CE19994AE8}"/>
              </a:ext>
            </a:extLst>
          </p:cNvPr>
          <p:cNvSpPr>
            <a:spLocks xmlns:a="http://schemas.openxmlformats.org/drawingml/2006/main" noGrp="1"/>
          </p:cNvSpPr>
          <p:nvPr/>
        </p:nvSpPr>
        <p:spPr>
          <a:xfrm xmlns:a="http://schemas.openxmlformats.org/drawingml/2006/main">
            <a:off x="7762875" y="3619500"/>
            <a:ext cx="66675" cy="161925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89F2CEB-8D69-4A54-9876-B1AE7E22F435}"/>
              </a:ext>
            </a:extLst>
          </p:cNvPr>
          <p:cNvSpPr>
            <a:spLocks xmlns:a="http://schemas.openxmlformats.org/drawingml/2006/main" noGrp="1"/>
          </p:cNvSpPr>
          <p:nvPr/>
        </p:nvSpPr>
        <p:spPr>
          <a:xfrm xmlns:a="http://schemas.openxmlformats.org/drawingml/2006/main">
            <a:off x="8029575" y="3829050"/>
            <a:ext cx="3019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Robust-feasible-selected</a:t>
            </a:r>
          </a:p>
        </p:txBody>
      </p:sp>
      <p:sp>
        <p:nvSpPr>
          <p:cNvPr id="15" name="">
            <a:extLst xmlns:a="http://schemas.openxmlformats.org/drawingml/2006/main">
              <a:ext uri="{FF2B5EF4-FFF2-40B4-BE49-F238E27FC236}">
                <a16:creationId xmlns:a16="http://schemas.microsoft.com/office/drawing/2014/main" id="{DCD1F536-8C30-45B5-8B02-E38E5126B6FD}"/>
              </a:ext>
            </a:extLst>
          </p:cNvPr>
          <p:cNvSpPr>
            <a:spLocks xmlns:a="http://schemas.openxmlformats.org/drawingml/2006/main" noGrp="1"/>
          </p:cNvSpPr>
          <p:nvPr/>
        </p:nvSpPr>
        <p:spPr>
          <a:xfrm xmlns:a="http://schemas.openxmlformats.org/drawingml/2006/main">
            <a:off x="8029575" y="4238625"/>
            <a:ext cx="2981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+3.58% relative wealth</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45.4% common feasibility</a:t>
            </a:r>
          </a:p>
          <a:p xmlns:a="http://schemas.openxmlformats.org/drawingml/2006/main">
            <a:pPr>
              <a:defRPr sz="1350" b="0" i="0">
                <a:solidFill>
                  <a:srgbClr val="17202A"/>
                </a:solidFill>
                <a:latin typeface="Aptos"/>
                <a:ea typeface="Aptos"/>
                <a:cs typeface="Aptos"/>
              </a:defRPr>
            </a:pPr>
            <a:r>
              <a:rPr sz="1350" b="0" i="0">
                <a:solidFill>
                  <a:srgbClr val="17202A"/>
                </a:solidFill>
                <a:latin typeface="Aptos"/>
                <a:ea typeface="Aptos"/>
                <a:cs typeface="Aptos"/>
              </a:rPr>
              <a:t>14.35% mean max drawdown</a:t>
            </a:r>
          </a:p>
        </p:txBody>
      </p:sp>
      <p:sp>
        <p:nvSpPr>
          <p:cNvPr id="16" name="">
            <a:extLst xmlns:a="http://schemas.openxmlformats.org/drawingml/2006/main">
              <a:ext uri="{FF2B5EF4-FFF2-40B4-BE49-F238E27FC236}">
                <a16:creationId xmlns:a16="http://schemas.microsoft.com/office/drawing/2014/main" id="{19083C42-729B-400C-BBE5-CD1313B09BE8}"/>
              </a:ext>
            </a:extLst>
          </p:cNvPr>
          <p:cNvSpPr>
            <a:spLocks xmlns:a="http://schemas.openxmlformats.org/drawingml/2006/main" noGrp="1"/>
          </p:cNvSpPr>
          <p:nvPr/>
        </p:nvSpPr>
        <p:spPr>
          <a:xfrm xmlns:a="http://schemas.openxmlformats.org/drawingml/2006/main">
            <a:off x="7762875" y="54292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65"/>
          </a:bodyPr>
          <a:lstStyle xmlns:a="http://schemas.openxmlformats.org/drawingml/2006/main"/>
          <a:p xmlns:a="http://schemas.openxmlformats.org/drawingml/2006/main">
            <a:pPr>
              <a:defRPr sz="1275" b="1" i="0">
                <a:solidFill>
                  <a:srgbClr val="A84632"/>
                </a:solidFill>
                <a:latin typeface="Aptos"/>
                <a:ea typeface="Aptos"/>
                <a:cs typeface="Aptos"/>
              </a:defRPr>
            </a:pPr>
            <a:r>
              <a:rPr sz="1275" b="1" i="0">
                <a:solidFill>
                  <a:srgbClr val="A84632"/>
                </a:solidFill>
                <a:latin typeface="Aptos"/>
                <a:ea typeface="Aptos"/>
                <a:cs typeface="Aptos"/>
              </a:rPr>
              <a:t>Conclusion: better risk transfer, but holdout feasibility remains below 50%.</a:t>
            </a:r>
          </a:p>
        </p:txBody>
      </p:sp>
    </p:spTree>
    <p:extLst>
      <p:ext uri="{BB962C8B-B14F-4D97-AF65-F5344CB8AC3E}">
        <p14:creationId xmlns:p14="http://schemas.microsoft.com/office/powerpoint/2010/main" val="1950078884"/>
      </p:ext>
    </p:extLst>
  </p:cSld>
</p:sld>
</file>

<file path=ppt/slides/slide13.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5ACF23-977D-44B8-899B-6A1EADD27678}"/>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EXPLORATORY SWEEPS</a:t>
            </a:r>
          </a:p>
        </p:txBody>
      </p:sp>
      <p:sp>
        <p:nvSpPr>
          <p:cNvPr id="2" name="">
            <a:extLst xmlns:a="http://schemas.openxmlformats.org/drawingml/2006/main">
              <a:ext uri="{FF2B5EF4-FFF2-40B4-BE49-F238E27FC236}">
                <a16:creationId xmlns:a16="http://schemas.microsoft.com/office/drawing/2014/main" id="{DCB56DF4-4F87-418E-81EA-3686E7017EF1}"/>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Longer context raises return and risk; stricter margins do not transfer</a:t>
            </a:r>
          </a:p>
        </p:txBody>
      </p:sp>
      <p:sp>
        <p:nvSpPr>
          <p:cNvPr id="3" name="">
            <a:extLst xmlns:a="http://schemas.openxmlformats.org/drawingml/2006/main">
              <a:ext uri="{FF2B5EF4-FFF2-40B4-BE49-F238E27FC236}">
                <a16:creationId xmlns:a16="http://schemas.microsoft.com/office/drawing/2014/main" id="{84F8B8C9-08AA-44E9-B2FA-7DEDAE65D4BE}"/>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03101A-0362-4D31-944C-00E2C6FC9E52}"/>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957B2B8C-CB2C-4795-B9AB-6CE0CD79A29D}"/>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60B879AC-6C53-4E0C-9E57-96D2B56E6E51}"/>
              </a:ext>
            </a:extLst>
          </p:cNvPr>
          <p:cNvSpPr>
            <a:spLocks xmlns:a="http://schemas.openxmlformats.org/drawingml/2006/main" noGrp="1"/>
          </p:cNvSpPr>
          <p:nvPr/>
        </p:nvSpPr>
        <p:spPr>
          <a:xfrm xmlns:a="http://schemas.openxmlformats.org/drawingml/2006/main">
            <a:off x="666750" y="1762125"/>
            <a:ext cx="5286375"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DCFBA"/>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fb9828ba4dc4b54"/>
          <a:stretch xmlns:a="http://schemas.openxmlformats.org/drawingml/2006/main"/>
        </p:blipFill>
        <p:spPr>
          <a:xfrm xmlns:a="http://schemas.openxmlformats.org/drawingml/2006/main">
            <a:off x="762000" y="1903168"/>
            <a:ext cx="5095875" cy="352791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1060027-EAFA-4A1D-8B99-3A0F550837C7}"/>
              </a:ext>
            </a:extLst>
          </p:cNvPr>
          <p:cNvSpPr>
            <a:spLocks xmlns:a="http://schemas.openxmlformats.org/drawingml/2006/main" noGrp="1"/>
          </p:cNvSpPr>
          <p:nvPr/>
        </p:nvSpPr>
        <p:spPr>
          <a:xfrm xmlns:a="http://schemas.openxmlformats.org/drawingml/2006/main">
            <a:off x="6238875" y="1762125"/>
            <a:ext cx="5286375"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DCFB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8e892446659478e"/>
          <a:stretch xmlns:a="http://schemas.openxmlformats.org/drawingml/2006/main"/>
        </p:blipFill>
        <p:spPr>
          <a:xfrm xmlns:a="http://schemas.openxmlformats.org/drawingml/2006/main">
            <a:off x="6334125" y="1903168"/>
            <a:ext cx="5095875" cy="35279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1B4A40E-B153-4311-A262-1ADFC49B9374}"/>
              </a:ext>
            </a:extLst>
          </p:cNvPr>
          <p:cNvSpPr>
            <a:spLocks xmlns:a="http://schemas.openxmlformats.org/drawingml/2006/main" noGrp="1"/>
          </p:cNvSpPr>
          <p:nvPr/>
        </p:nvSpPr>
        <p:spPr>
          <a:xfrm xmlns:a="http://schemas.openxmlformats.org/drawingml/2006/main">
            <a:off x="762000" y="57150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315F8D"/>
                </a:solidFill>
                <a:latin typeface="Aptos"/>
                <a:ea typeface="Aptos"/>
                <a:cs typeface="Aptos"/>
              </a:defRPr>
            </a:pPr>
            <a:r>
              <a:rPr sz="1275" b="1" i="0">
                <a:solidFill>
                  <a:srgbClr val="315F8D"/>
                </a:solidFill>
                <a:latin typeface="Aptos"/>
                <a:ea typeface="Aptos"/>
                <a:cs typeface="Aptos"/>
              </a:rPr>
              <a:t>Window conclusion: more return, more risk (single seed)</a:t>
            </a:r>
          </a:p>
        </p:txBody>
      </p:sp>
      <p:sp>
        <p:nvSpPr>
          <p:cNvPr id="11" name="">
            <a:extLst xmlns:a="http://schemas.openxmlformats.org/drawingml/2006/main">
              <a:ext uri="{FF2B5EF4-FFF2-40B4-BE49-F238E27FC236}">
                <a16:creationId xmlns:a16="http://schemas.microsoft.com/office/drawing/2014/main" id="{6EFA8D5C-56C6-4FC8-AD51-7C37A29C7A7B}"/>
              </a:ext>
            </a:extLst>
          </p:cNvPr>
          <p:cNvSpPr>
            <a:spLocks xmlns:a="http://schemas.openxmlformats.org/drawingml/2006/main" noGrp="1"/>
          </p:cNvSpPr>
          <p:nvPr/>
        </p:nvSpPr>
        <p:spPr>
          <a:xfrm xmlns:a="http://schemas.openxmlformats.org/drawingml/2006/main">
            <a:off x="6191250" y="57150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A84632"/>
                </a:solidFill>
                <a:latin typeface="Aptos"/>
                <a:ea typeface="Aptos"/>
                <a:cs typeface="Aptos"/>
              </a:defRPr>
            </a:pPr>
            <a:r>
              <a:rPr sz="1275" b="1" i="0">
                <a:solidFill>
                  <a:srgbClr val="A84632"/>
                </a:solidFill>
                <a:latin typeface="Aptos"/>
                <a:ea typeface="Aptos"/>
                <a:cs typeface="Aptos"/>
              </a:rPr>
              <a:t>Margin conclusion: stricter setting did not transfer (single seed)</a:t>
            </a:r>
          </a:p>
        </p:txBody>
      </p:sp>
    </p:spTree>
    <p:extLst>
      <p:ext uri="{BB962C8B-B14F-4D97-AF65-F5344CB8AC3E}">
        <p14:creationId xmlns:p14="http://schemas.microsoft.com/office/powerpoint/2010/main" val="529408366"/>
      </p:ext>
    </p:extLst>
  </p:cSld>
</p:sld>
</file>

<file path=ppt/slides/slide14.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83223F-1F59-4A6C-AE5B-3B716FC923F4}"/>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GENERALIZATION DIAGNOSTICS</a:t>
            </a:r>
          </a:p>
        </p:txBody>
      </p:sp>
      <p:sp>
        <p:nvSpPr>
          <p:cNvPr id="2" name="">
            <a:extLst xmlns:a="http://schemas.openxmlformats.org/drawingml/2006/main">
              <a:ext uri="{FF2B5EF4-FFF2-40B4-BE49-F238E27FC236}">
                <a16:creationId xmlns:a16="http://schemas.microsoft.com/office/drawing/2014/main" id="{BDCF5F14-8B85-4177-9CB2-BBCF71CA8C1C}"/>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V3.4 strengthens the diagnosis but does not remove validation optimism</a:t>
            </a:r>
          </a:p>
        </p:txBody>
      </p:sp>
      <p:sp>
        <p:nvSpPr>
          <p:cNvPr id="3" name="">
            <a:extLst xmlns:a="http://schemas.openxmlformats.org/drawingml/2006/main">
              <a:ext uri="{FF2B5EF4-FFF2-40B4-BE49-F238E27FC236}">
                <a16:creationId xmlns:a16="http://schemas.microsoft.com/office/drawing/2014/main" id="{97FA1E90-6992-4D7D-ACA1-1EAFFB991F9C}"/>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130818-4A3A-4CFA-8874-18B79EBF9D1D}"/>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74E9DCF8-6593-4726-99C9-34370E55A334}"/>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FA828885-D84D-4C1C-93F0-7901180FD322}"/>
              </a:ext>
            </a:extLst>
          </p:cNvPr>
          <p:cNvSpPr>
            <a:spLocks xmlns:a="http://schemas.openxmlformats.org/drawingml/2006/main" noGrp="1"/>
          </p:cNvSpPr>
          <p:nvPr/>
        </p:nvSpPr>
        <p:spPr>
          <a:xfrm xmlns:a="http://schemas.openxmlformats.org/drawingml/2006/main">
            <a:off x="666750" y="1762125"/>
            <a:ext cx="5286375" cy="3857625"/>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DCFB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537b34d7c744559"/>
          <a:stretch xmlns:a="http://schemas.openxmlformats.org/drawingml/2006/main"/>
        </p:blipFill>
        <p:spPr>
          <a:xfrm xmlns:a="http://schemas.openxmlformats.org/drawingml/2006/main">
            <a:off x="912202" y="1857375"/>
            <a:ext cx="4795471" cy="3667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E0C290F-C55E-4C38-837D-C8F0884990E4}"/>
              </a:ext>
            </a:extLst>
          </p:cNvPr>
          <p:cNvSpPr>
            <a:spLocks xmlns:a="http://schemas.openxmlformats.org/drawingml/2006/main" noGrp="1"/>
          </p:cNvSpPr>
          <p:nvPr/>
        </p:nvSpPr>
        <p:spPr>
          <a:xfrm xmlns:a="http://schemas.openxmlformats.org/drawingml/2006/main">
            <a:off x="6238875" y="1762125"/>
            <a:ext cx="5286375" cy="3857625"/>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DCFB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3891f0e2754408d"/>
          <a:stretch xmlns:a="http://schemas.openxmlformats.org/drawingml/2006/main"/>
        </p:blipFill>
        <p:spPr>
          <a:xfrm xmlns:a="http://schemas.openxmlformats.org/drawingml/2006/main">
            <a:off x="6446862" y="1857375"/>
            <a:ext cx="4870400" cy="3667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247EE2E-A5C2-4919-B00D-C1625EBB4A89}"/>
              </a:ext>
            </a:extLst>
          </p:cNvPr>
          <p:cNvSpPr>
            <a:spLocks xmlns:a="http://schemas.openxmlformats.org/drawingml/2006/main" noGrp="1"/>
          </p:cNvSpPr>
          <p:nvPr/>
        </p:nvSpPr>
        <p:spPr>
          <a:xfrm xmlns:a="http://schemas.openxmlformats.org/drawingml/2006/main">
            <a:off x="952500" y="57531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A84632"/>
                </a:solidFill>
                <a:latin typeface="Aptos"/>
                <a:ea typeface="Aptos"/>
                <a:cs typeface="Aptos"/>
              </a:defRPr>
            </a:pPr>
            <a:r>
              <a:rPr sz="1350" b="1" i="0">
                <a:solidFill>
                  <a:srgbClr val="A84632"/>
                </a:solidFill>
                <a:latin typeface="Aptos"/>
                <a:ea typeface="Aptos"/>
                <a:cs typeface="Aptos"/>
              </a:rPr>
              <a:t>Conclusion: validation optimism persists; V3.4 holdout gap is -3.50 pp.</a:t>
            </a:r>
          </a:p>
        </p:txBody>
      </p:sp>
    </p:spTree>
    <p:extLst>
      <p:ext uri="{BB962C8B-B14F-4D97-AF65-F5344CB8AC3E}">
        <p14:creationId xmlns:p14="http://schemas.microsoft.com/office/powerpoint/2010/main" val="685022854"/>
      </p:ext>
    </p:extLst>
  </p:cSld>
</p:sld>
</file>

<file path=ppt/slides/slide15.xml><?xml version="1.0" encoding="utf-8"?>
<p:sld xmlns:p="http://schemas.openxmlformats.org/presentationml/2006/main">
  <p:cSld>
    <p:bg>
      <p:bgPr>
        <a:solidFill xmlns:a="http://schemas.openxmlformats.org/drawingml/2006/main">
          <a:srgbClr val="FFFA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1CC8603-A94A-4BE6-8BF0-1B2214F5D68C}"/>
              </a:ext>
            </a:extLst>
          </p:cNvPr>
          <p:cNvSpPr>
            <a:spLocks xmlns:a="http://schemas.openxmlformats.org/drawingml/2006/main" noGrp="1"/>
          </p:cNvSpPr>
          <p:nvPr/>
        </p:nvSpPr>
        <p:spPr>
          <a:xfrm xmlns:a="http://schemas.openxmlformats.org/drawingml/2006/main">
            <a:off x="762000" y="40005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1" i="0">
                <a:solidFill>
                  <a:srgbClr val="A84632"/>
                </a:solidFill>
                <a:latin typeface="Aptos"/>
                <a:ea typeface="Aptos"/>
                <a:cs typeface="Aptos"/>
              </a:defRPr>
            </a:pPr>
            <a:r>
              <a:rPr sz="900" b="1" i="0">
                <a:solidFill>
                  <a:srgbClr val="A84632"/>
                </a:solidFill>
                <a:latin typeface="Aptos"/>
                <a:ea typeface="Aptos"/>
                <a:cs typeface="Aptos"/>
              </a:rPr>
              <a:t>CURRENT CONCLUSIONS</a:t>
            </a:r>
          </a:p>
        </p:txBody>
      </p:sp>
      <p:sp>
        <p:nvSpPr>
          <p:cNvPr id="2" name="">
            <a:extLst xmlns:a="http://schemas.openxmlformats.org/drawingml/2006/main">
              <a:ext uri="{FF2B5EF4-FFF2-40B4-BE49-F238E27FC236}">
                <a16:creationId xmlns:a16="http://schemas.microsoft.com/office/drawing/2014/main" id="{7F4FFCB9-0614-4BEB-8125-C1F3004CC6F1}"/>
              </a:ext>
            </a:extLst>
          </p:cNvPr>
          <p:cNvSpPr>
            <a:spLocks xmlns:a="http://schemas.openxmlformats.org/drawingml/2006/main" noGrp="1"/>
          </p:cNvSpPr>
          <p:nvPr/>
        </p:nvSpPr>
        <p:spPr>
          <a:xfrm xmlns:a="http://schemas.openxmlformats.org/drawingml/2006/main">
            <a:off x="762000" y="723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625" b="1" i="0">
                <a:solidFill>
                  <a:srgbClr val="17202A"/>
                </a:solidFill>
                <a:latin typeface="Aptos"/>
                <a:ea typeface="Aptos"/>
                <a:cs typeface="Aptos"/>
              </a:defRPr>
            </a:pPr>
            <a:r>
              <a:rPr sz="2625" b="1" i="0">
                <a:solidFill>
                  <a:srgbClr val="17202A"/>
                </a:solidFill>
                <a:latin typeface="Aptos"/>
                <a:ea typeface="Aptos"/>
                <a:cs typeface="Aptos"/>
              </a:rPr>
              <a:t>The strongest findings are conditional effects and a persistent selection gap</a:t>
            </a:r>
          </a:p>
        </p:txBody>
      </p:sp>
      <p:sp>
        <p:nvSpPr>
          <p:cNvPr id="3" name="">
            <a:extLst xmlns:a="http://schemas.openxmlformats.org/drawingml/2006/main">
              <a:ext uri="{FF2B5EF4-FFF2-40B4-BE49-F238E27FC236}">
                <a16:creationId xmlns:a16="http://schemas.microsoft.com/office/drawing/2014/main" id="{672BB16B-10AB-47A3-B628-CB9A83A1C783}"/>
              </a:ext>
            </a:extLst>
          </p:cNvPr>
          <p:cNvSpPr>
            <a:spLocks xmlns:a="http://schemas.openxmlformats.org/drawingml/2006/main" noGrp="1"/>
          </p:cNvSpPr>
          <p:nvPr/>
        </p:nvSpPr>
        <p:spPr>
          <a:xfrm xmlns:a="http://schemas.openxmlformats.org/drawingml/2006/main">
            <a:off x="666750" y="1466850"/>
            <a:ext cx="1714500" cy="381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9A9686-0069-47AB-977C-57304781190D}"/>
              </a:ext>
            </a:extLst>
          </p:cNvPr>
          <p:cNvSpPr>
            <a:spLocks xmlns:a="http://schemas.openxmlformats.org/drawingml/2006/main" noGrp="1"/>
          </p:cNvSpPr>
          <p:nvPr/>
        </p:nvSpPr>
        <p:spPr>
          <a:xfrm xmlns:a="http://schemas.openxmlformats.org/drawingml/2006/main">
            <a:off x="762000" y="638175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Constraint-Aware Portfolio RL | 3 October 2026</a:t>
            </a:r>
          </a:p>
        </p:txBody>
      </p:sp>
      <p:sp>
        <p:nvSpPr>
          <p:cNvPr id="5" name="">
            <a:extLst xmlns:a="http://schemas.openxmlformats.org/drawingml/2006/main">
              <a:ext uri="{FF2B5EF4-FFF2-40B4-BE49-F238E27FC236}">
                <a16:creationId xmlns:a16="http://schemas.microsoft.com/office/drawing/2014/main" id="{92594DBE-C145-4F8D-A71D-29001B31B9FE}"/>
              </a:ext>
            </a:extLst>
          </p:cNvPr>
          <p:cNvSpPr>
            <a:spLocks xmlns:a="http://schemas.openxmlformats.org/drawingml/2006/main" noGrp="1"/>
          </p:cNvSpPr>
          <p:nvPr/>
        </p:nvSpPr>
        <p:spPr>
          <a:xfrm xmlns:a="http://schemas.openxmlformats.org/drawingml/2006/main">
            <a:off x="11001375" y="6381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96979"/>
                </a:solidFill>
                <a:latin typeface="Aptos"/>
                <a:ea typeface="Aptos"/>
                <a:cs typeface="Aptos"/>
              </a:defRPr>
            </a:pPr>
            <a:r>
              <a:rPr sz="825" b="0" i="0">
                <a:solidFill>
                  <a:srgbClr val="596979"/>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10C871F0-1318-410C-8EC4-10127C45DECE}"/>
              </a:ext>
            </a:extLst>
          </p:cNvPr>
          <p:cNvSpPr>
            <a:spLocks xmlns:a="http://schemas.openxmlformats.org/drawingml/2006/main" noGrp="1"/>
          </p:cNvSpPr>
          <p:nvPr/>
        </p:nvSpPr>
        <p:spPr>
          <a:xfrm xmlns:a="http://schemas.openxmlformats.org/drawingml/2006/main">
            <a:off x="762000" y="1809750"/>
            <a:ext cx="3333750" cy="1600200"/>
          </a:xfrm>
          <a:prstGeom xmlns:a="http://schemas.openxmlformats.org/drawingml/2006/main" prst="roundRect">
            <a:avLst>
              <a:gd name="adj" fmla="val 7143"/>
            </a:avLst>
          </a:prstGeom>
          <a:solidFill xmlns:a="http://schemas.openxmlformats.org/drawingml/2006/main">
            <a:srgbClr val="FFFAF1"/>
          </a:solidFill>
          <a:ln xmlns:a="http://schemas.openxmlformats.org/drawingml/2006/main" w="9525">
            <a:solidFill>
              <a:srgbClr val="DDCFBA"/>
            </a:solidFill>
            <a:prstDash val="solid"/>
          </a:ln>
        </p:spPr>
      </p:sp>
      <p:sp>
        <p:nvSpPr>
          <p:cNvPr id="7" name="">
            <a:extLst xmlns:a="http://schemas.openxmlformats.org/drawingml/2006/main">
              <a:ext uri="{FF2B5EF4-FFF2-40B4-BE49-F238E27FC236}">
                <a16:creationId xmlns:a16="http://schemas.microsoft.com/office/drawing/2014/main" id="{693DF70D-2175-48B9-A638-E3DD8FF62C62}"/>
              </a:ext>
            </a:extLst>
          </p:cNvPr>
          <p:cNvSpPr>
            <a:spLocks xmlns:a="http://schemas.openxmlformats.org/drawingml/2006/main" noGrp="1"/>
          </p:cNvSpPr>
          <p:nvPr/>
        </p:nvSpPr>
        <p:spPr>
          <a:xfrm xmlns:a="http://schemas.openxmlformats.org/drawingml/2006/main">
            <a:off x="762000" y="1809750"/>
            <a:ext cx="66675" cy="1600200"/>
          </a:xfrm>
          <a:prstGeom xmlns:a="http://schemas.openxmlformats.org/drawingml/2006/main" prst="rect">
            <a:avLst/>
          </a:prstGeom>
          <a:solidFill xmlns:a="http://schemas.openxmlformats.org/drawingml/2006/main">
            <a:srgbClr val="1F6F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6A9DA6-51FC-464D-A56A-C642D104B3C1}"/>
              </a:ext>
            </a:extLst>
          </p:cNvPr>
          <p:cNvSpPr>
            <a:spLocks xmlns:a="http://schemas.openxmlformats.org/drawingml/2006/main" noGrp="1"/>
          </p:cNvSpPr>
          <p:nvPr/>
        </p:nvSpPr>
        <p:spPr>
          <a:xfrm xmlns:a="http://schemas.openxmlformats.org/drawingml/2006/main">
            <a:off x="1028700" y="20193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1F6F68"/>
                </a:solidFill>
                <a:latin typeface="Aptos"/>
                <a:ea typeface="Aptos"/>
                <a:cs typeface="Aptos"/>
              </a:defRPr>
            </a:pPr>
            <a:r>
              <a:rPr sz="1500" b="1" i="0">
                <a:solidFill>
                  <a:srgbClr val="1F6F68"/>
                </a:solidFill>
                <a:latin typeface="Aptos"/>
                <a:ea typeface="Aptos"/>
                <a:cs typeface="Aptos"/>
              </a:rPr>
              <a:t>Replicated finding</a:t>
            </a:r>
          </a:p>
        </p:txBody>
      </p:sp>
      <p:sp>
        <p:nvSpPr>
          <p:cNvPr id="9" name="">
            <a:extLst xmlns:a="http://schemas.openxmlformats.org/drawingml/2006/main">
              <a:ext uri="{FF2B5EF4-FFF2-40B4-BE49-F238E27FC236}">
                <a16:creationId xmlns:a16="http://schemas.microsoft.com/office/drawing/2014/main" id="{5922F6B1-7F70-421A-9717-2B72F238DCE2}"/>
              </a:ext>
            </a:extLst>
          </p:cNvPr>
          <p:cNvSpPr>
            <a:spLocks xmlns:a="http://schemas.openxmlformats.org/drawingml/2006/main" noGrp="1"/>
          </p:cNvSpPr>
          <p:nvPr/>
        </p:nvSpPr>
        <p:spPr>
          <a:xfrm xmlns:a="http://schemas.openxmlformats.org/drawingml/2006/main">
            <a:off x="1028700" y="2428875"/>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544"/>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Eight markets help modestly at 3 epochs, but the effect reverses at 4 epochs. A fourth epoch is not reliably better.</a:t>
            </a:r>
          </a:p>
        </p:txBody>
      </p:sp>
      <p:sp>
        <p:nvSpPr>
          <p:cNvPr id="10" name="">
            <a:extLst xmlns:a="http://schemas.openxmlformats.org/drawingml/2006/main">
              <a:ext uri="{FF2B5EF4-FFF2-40B4-BE49-F238E27FC236}">
                <a16:creationId xmlns:a16="http://schemas.microsoft.com/office/drawing/2014/main" id="{8046DCFE-FDD0-495C-89DA-C43AC49D86F3}"/>
              </a:ext>
            </a:extLst>
          </p:cNvPr>
          <p:cNvSpPr>
            <a:spLocks xmlns:a="http://schemas.openxmlformats.org/drawingml/2006/main" noGrp="1"/>
          </p:cNvSpPr>
          <p:nvPr/>
        </p:nvSpPr>
        <p:spPr>
          <a:xfrm xmlns:a="http://schemas.openxmlformats.org/drawingml/2006/main">
            <a:off x="4429125" y="1809750"/>
            <a:ext cx="3333750" cy="1600200"/>
          </a:xfrm>
          <a:prstGeom xmlns:a="http://schemas.openxmlformats.org/drawingml/2006/main" prst="roundRect">
            <a:avLst>
              <a:gd name="adj" fmla="val 7143"/>
            </a:avLst>
          </a:prstGeom>
          <a:solidFill xmlns:a="http://schemas.openxmlformats.org/drawingml/2006/main">
            <a:srgbClr val="FFFAF1"/>
          </a:solidFill>
          <a:ln xmlns:a="http://schemas.openxmlformats.org/drawingml/2006/main" w="9525">
            <a:solidFill>
              <a:srgbClr val="DDCFBA"/>
            </a:solidFill>
            <a:prstDash val="solid"/>
          </a:ln>
        </p:spPr>
      </p:sp>
      <p:sp>
        <p:nvSpPr>
          <p:cNvPr id="11" name="">
            <a:extLst xmlns:a="http://schemas.openxmlformats.org/drawingml/2006/main">
              <a:ext uri="{FF2B5EF4-FFF2-40B4-BE49-F238E27FC236}">
                <a16:creationId xmlns:a16="http://schemas.microsoft.com/office/drawing/2014/main" id="{52747BFC-F250-423B-B4E0-1F6D656E75D0}"/>
              </a:ext>
            </a:extLst>
          </p:cNvPr>
          <p:cNvSpPr>
            <a:spLocks xmlns:a="http://schemas.openxmlformats.org/drawingml/2006/main" noGrp="1"/>
          </p:cNvSpPr>
          <p:nvPr/>
        </p:nvSpPr>
        <p:spPr>
          <a:xfrm xmlns:a="http://schemas.openxmlformats.org/drawingml/2006/main">
            <a:off x="4429125" y="1809750"/>
            <a:ext cx="66675" cy="1600200"/>
          </a:xfrm>
          <a:prstGeom xmlns:a="http://schemas.openxmlformats.org/drawingml/2006/main" prst="rect">
            <a:avLst/>
          </a:prstGeom>
          <a:solidFill xmlns:a="http://schemas.openxmlformats.org/drawingml/2006/main">
            <a:srgbClr val="C46A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571F60-AEEB-49AD-9088-6846707ABD76}"/>
              </a:ext>
            </a:extLst>
          </p:cNvPr>
          <p:cNvSpPr>
            <a:spLocks xmlns:a="http://schemas.openxmlformats.org/drawingml/2006/main" noGrp="1"/>
          </p:cNvSpPr>
          <p:nvPr/>
        </p:nvSpPr>
        <p:spPr>
          <a:xfrm xmlns:a="http://schemas.openxmlformats.org/drawingml/2006/main">
            <a:off x="4695825" y="20193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C46A2B"/>
                </a:solidFill>
                <a:latin typeface="Aptos"/>
                <a:ea typeface="Aptos"/>
                <a:cs typeface="Aptos"/>
              </a:defRPr>
            </a:pPr>
            <a:r>
              <a:rPr sz="1500" b="1" i="0">
                <a:solidFill>
                  <a:srgbClr val="C46A2B"/>
                </a:solidFill>
                <a:latin typeface="Aptos"/>
                <a:ea typeface="Aptos"/>
                <a:cs typeface="Aptos"/>
              </a:rPr>
              <a:t>Credit finding</a:t>
            </a:r>
          </a:p>
        </p:txBody>
      </p:sp>
      <p:sp>
        <p:nvSpPr>
          <p:cNvPr id="13" name="">
            <a:extLst xmlns:a="http://schemas.openxmlformats.org/drawingml/2006/main">
              <a:ext uri="{FF2B5EF4-FFF2-40B4-BE49-F238E27FC236}">
                <a16:creationId xmlns:a16="http://schemas.microsoft.com/office/drawing/2014/main" id="{6DD33E77-A902-4705-A11B-44C7D33576D7}"/>
              </a:ext>
            </a:extLst>
          </p:cNvPr>
          <p:cNvSpPr>
            <a:spLocks xmlns:a="http://schemas.openxmlformats.org/drawingml/2006/main" noGrp="1"/>
          </p:cNvSpPr>
          <p:nvPr/>
        </p:nvSpPr>
        <p:spPr>
          <a:xfrm xmlns:a="http://schemas.openxmlformats.org/drawingml/2006/main">
            <a:off x="4695825" y="2428875"/>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491"/>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Counterfactual reward does not improve return across seeds. At 3 epochs it exchanges return for better risk metrics.</a:t>
            </a:r>
          </a:p>
        </p:txBody>
      </p:sp>
      <p:sp>
        <p:nvSpPr>
          <p:cNvPr id="14" name="">
            <a:extLst xmlns:a="http://schemas.openxmlformats.org/drawingml/2006/main">
              <a:ext uri="{FF2B5EF4-FFF2-40B4-BE49-F238E27FC236}">
                <a16:creationId xmlns:a16="http://schemas.microsoft.com/office/drawing/2014/main" id="{60C4353E-F33C-40E4-994F-F32A9F4ED7D1}"/>
              </a:ext>
            </a:extLst>
          </p:cNvPr>
          <p:cNvSpPr>
            <a:spLocks xmlns:a="http://schemas.openxmlformats.org/drawingml/2006/main" noGrp="1"/>
          </p:cNvSpPr>
          <p:nvPr/>
        </p:nvSpPr>
        <p:spPr>
          <a:xfrm xmlns:a="http://schemas.openxmlformats.org/drawingml/2006/main">
            <a:off x="8096250" y="1809750"/>
            <a:ext cx="3333750" cy="1600200"/>
          </a:xfrm>
          <a:prstGeom xmlns:a="http://schemas.openxmlformats.org/drawingml/2006/main" prst="roundRect">
            <a:avLst>
              <a:gd name="adj" fmla="val 7143"/>
            </a:avLst>
          </a:prstGeom>
          <a:solidFill xmlns:a="http://schemas.openxmlformats.org/drawingml/2006/main">
            <a:srgbClr val="FFFAF1"/>
          </a:solidFill>
          <a:ln xmlns:a="http://schemas.openxmlformats.org/drawingml/2006/main" w="9525">
            <a:solidFill>
              <a:srgbClr val="DDCFBA"/>
            </a:solidFill>
            <a:prstDash val="solid"/>
          </a:ln>
        </p:spPr>
      </p:sp>
      <p:sp>
        <p:nvSpPr>
          <p:cNvPr id="15" name="">
            <a:extLst xmlns:a="http://schemas.openxmlformats.org/drawingml/2006/main">
              <a:ext uri="{FF2B5EF4-FFF2-40B4-BE49-F238E27FC236}">
                <a16:creationId xmlns:a16="http://schemas.microsoft.com/office/drawing/2014/main" id="{D4AA83F3-47B0-4F8F-86F5-6821EB0897CF}"/>
              </a:ext>
            </a:extLst>
          </p:cNvPr>
          <p:cNvSpPr>
            <a:spLocks xmlns:a="http://schemas.openxmlformats.org/drawingml/2006/main" noGrp="1"/>
          </p:cNvSpPr>
          <p:nvPr/>
        </p:nvSpPr>
        <p:spPr>
          <a:xfrm xmlns:a="http://schemas.openxmlformats.org/drawingml/2006/main">
            <a:off x="8096250" y="1809750"/>
            <a:ext cx="66675" cy="1600200"/>
          </a:xfrm>
          <a:prstGeom xmlns:a="http://schemas.openxmlformats.org/drawingml/2006/main" prst="rect">
            <a:avLst/>
          </a:prstGeom>
          <a:solidFill xmlns:a="http://schemas.openxmlformats.org/drawingml/2006/main">
            <a:srgbClr val="A846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395695-F6CD-4427-8FEC-CF80A562A145}"/>
              </a:ext>
            </a:extLst>
          </p:cNvPr>
          <p:cNvSpPr>
            <a:spLocks xmlns:a="http://schemas.openxmlformats.org/drawingml/2006/main" noGrp="1"/>
          </p:cNvSpPr>
          <p:nvPr/>
        </p:nvSpPr>
        <p:spPr>
          <a:xfrm xmlns:a="http://schemas.openxmlformats.org/drawingml/2006/main">
            <a:off x="8362950" y="20193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i="0">
                <a:solidFill>
                  <a:srgbClr val="A84632"/>
                </a:solidFill>
                <a:latin typeface="Aptos"/>
                <a:ea typeface="Aptos"/>
                <a:cs typeface="Aptos"/>
              </a:defRPr>
            </a:pPr>
            <a:r>
              <a:rPr sz="1500" b="1" i="0">
                <a:solidFill>
                  <a:srgbClr val="A84632"/>
                </a:solidFill>
                <a:latin typeface="Aptos"/>
                <a:ea typeface="Aptos"/>
                <a:cs typeface="Aptos"/>
              </a:rPr>
              <a:t>Selection finding</a:t>
            </a:r>
          </a:p>
        </p:txBody>
      </p:sp>
      <p:sp>
        <p:nvSpPr>
          <p:cNvPr id="17" name="">
            <a:extLst xmlns:a="http://schemas.openxmlformats.org/drawingml/2006/main">
              <a:ext uri="{FF2B5EF4-FFF2-40B4-BE49-F238E27FC236}">
                <a16:creationId xmlns:a16="http://schemas.microsoft.com/office/drawing/2014/main" id="{837DEA6A-B743-4118-B2A2-F18F7EED2113}"/>
              </a:ext>
            </a:extLst>
          </p:cNvPr>
          <p:cNvSpPr>
            <a:spLocks xmlns:a="http://schemas.openxmlformats.org/drawingml/2006/main" noGrp="1"/>
          </p:cNvSpPr>
          <p:nvPr/>
        </p:nvSpPr>
        <p:spPr>
          <a:xfrm xmlns:a="http://schemas.openxmlformats.org/drawingml/2006/main">
            <a:off x="8362950" y="2428875"/>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i="0">
                <a:solidFill>
                  <a:srgbClr val="17202A"/>
                </a:solidFill>
                <a:latin typeface="Aptos"/>
                <a:ea typeface="Aptos"/>
                <a:cs typeface="Aptos"/>
              </a:defRPr>
            </a:pPr>
            <a:r>
              <a:rPr sz="1275" b="0" i="0">
                <a:solidFill>
                  <a:srgbClr val="17202A"/>
                </a:solidFill>
                <a:latin typeface="Aptos"/>
                <a:ea typeface="Aptos"/>
                <a:cs typeface="Aptos"/>
              </a:rPr>
              <a:t>Robust-feasible selection improves holdout risk, but validation optimism and low feasibility remain unresolved.</a:t>
            </a:r>
          </a:p>
        </p:txBody>
      </p:sp>
      <p:sp>
        <p:nvSpPr>
          <p:cNvPr id="18" name="">
            <a:extLst xmlns:a="http://schemas.openxmlformats.org/drawingml/2006/main">
              <a:ext uri="{FF2B5EF4-FFF2-40B4-BE49-F238E27FC236}">
                <a16:creationId xmlns:a16="http://schemas.microsoft.com/office/drawing/2014/main" id="{53581E1A-C4B2-4485-B64D-573FB5316449}"/>
              </a:ext>
            </a:extLst>
          </p:cNvPr>
          <p:cNvSpPr>
            <a:spLocks xmlns:a="http://schemas.openxmlformats.org/drawingml/2006/main" noGrp="1"/>
          </p:cNvSpPr>
          <p:nvPr/>
        </p:nvSpPr>
        <p:spPr>
          <a:xfrm xmlns:a="http://schemas.openxmlformats.org/drawingml/2006/main">
            <a:off x="857250" y="38576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defRPr sz="1800" b="1" i="0">
                <a:solidFill>
                  <a:srgbClr val="17202A"/>
                </a:solidFill>
                <a:latin typeface="Aptos"/>
                <a:ea typeface="Aptos"/>
                <a:cs typeface="Aptos"/>
              </a:defRPr>
            </a:pPr>
            <a:r>
              <a:rPr sz="1800" b="1" i="0">
                <a:solidFill>
                  <a:srgbClr val="17202A"/>
                </a:solidFill>
                <a:latin typeface="Aptos"/>
                <a:ea typeface="Aptos"/>
                <a:cs typeface="Aptos"/>
              </a:rPr>
              <a:t>Discussion</a:t>
            </a:r>
          </a:p>
        </p:txBody>
      </p:sp>
      <p:sp>
        <p:nvSpPr>
          <p:cNvPr id="19" name="">
            <a:extLst xmlns:a="http://schemas.openxmlformats.org/drawingml/2006/main">
              <a:ext uri="{FF2B5EF4-FFF2-40B4-BE49-F238E27FC236}">
                <a16:creationId xmlns:a16="http://schemas.microsoft.com/office/drawing/2014/main" id="{55925F59-F880-45FA-979A-836A3CFC6BEC}"/>
              </a:ext>
            </a:extLst>
          </p:cNvPr>
          <p:cNvSpPr>
            <a:spLocks xmlns:a="http://schemas.openxmlformats.org/drawingml/2006/main" noGrp="1"/>
          </p:cNvSpPr>
          <p:nvPr/>
        </p:nvSpPr>
        <p:spPr>
          <a:xfrm xmlns:a="http://schemas.openxmlformats.org/drawingml/2006/main">
            <a:off x="1047750" y="43053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1" i="0">
                <a:solidFill>
                  <a:srgbClr val="1F6F68"/>
                </a:solidFill>
                <a:latin typeface="Aptos"/>
                <a:ea typeface="Aptos"/>
                <a:cs typeface="Aptos"/>
              </a:defRPr>
            </a:pPr>
            <a:r>
              <a:rPr sz="1425" b="1" i="0">
                <a:solidFill>
                  <a:srgbClr val="1F6F68"/>
                </a:solidFill>
                <a:latin typeface="Aptos"/>
                <a:ea typeface="Aptos"/>
                <a:cs typeface="Aptos"/>
              </a:rPr>
              <a:t>1  Improve validation and checkpoint selection first?</a:t>
            </a:r>
          </a:p>
        </p:txBody>
      </p:sp>
      <p:sp>
        <p:nvSpPr>
          <p:cNvPr id="20" name="">
            <a:extLst xmlns:a="http://schemas.openxmlformats.org/drawingml/2006/main">
              <a:ext uri="{FF2B5EF4-FFF2-40B4-BE49-F238E27FC236}">
                <a16:creationId xmlns:a16="http://schemas.microsoft.com/office/drawing/2014/main" id="{046544A1-0440-4E30-85BE-7C3968BDBF4A}"/>
              </a:ext>
            </a:extLst>
          </p:cNvPr>
          <p:cNvSpPr>
            <a:spLocks xmlns:a="http://schemas.openxmlformats.org/drawingml/2006/main" noGrp="1"/>
          </p:cNvSpPr>
          <p:nvPr/>
        </p:nvSpPr>
        <p:spPr>
          <a:xfrm xmlns:a="http://schemas.openxmlformats.org/drawingml/2006/main">
            <a:off x="1047750" y="47053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0" i="0">
                <a:solidFill>
                  <a:srgbClr val="17202A"/>
                </a:solidFill>
                <a:latin typeface="Aptos"/>
                <a:ea typeface="Aptos"/>
                <a:cs typeface="Aptos"/>
              </a:defRPr>
            </a:pPr>
            <a:r>
              <a:rPr sz="1425" b="0" i="0">
                <a:solidFill>
                  <a:srgbClr val="17202A"/>
                </a:solidFill>
                <a:latin typeface="Aptos"/>
                <a:ea typeface="Aptos"/>
                <a:cs typeface="Aptos"/>
              </a:rPr>
              <a:t>2  Refine counterfactual credit as a risk-oriented method?</a:t>
            </a:r>
          </a:p>
        </p:txBody>
      </p:sp>
      <p:sp>
        <p:nvSpPr>
          <p:cNvPr id="21" name="">
            <a:extLst xmlns:a="http://schemas.openxmlformats.org/drawingml/2006/main">
              <a:ext uri="{FF2B5EF4-FFF2-40B4-BE49-F238E27FC236}">
                <a16:creationId xmlns:a16="http://schemas.microsoft.com/office/drawing/2014/main" id="{1C6D87B4-8B13-4CCA-B167-74F430DEF9AA}"/>
              </a:ext>
            </a:extLst>
          </p:cNvPr>
          <p:cNvSpPr>
            <a:spLocks xmlns:a="http://schemas.openxmlformats.org/drawingml/2006/main" noGrp="1"/>
          </p:cNvSpPr>
          <p:nvPr/>
        </p:nvSpPr>
        <p:spPr>
          <a:xfrm xmlns:a="http://schemas.openxmlformats.org/drawingml/2006/main">
            <a:off x="1047750" y="51054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0" i="0">
                <a:solidFill>
                  <a:srgbClr val="17202A"/>
                </a:solidFill>
                <a:latin typeface="Aptos"/>
                <a:ea typeface="Aptos"/>
                <a:cs typeface="Aptos"/>
              </a:defRPr>
            </a:pPr>
            <a:r>
              <a:rPr sz="1425" b="0" i="0">
                <a:solidFill>
                  <a:srgbClr val="17202A"/>
                </a:solidFill>
                <a:latin typeface="Aptos"/>
                <a:ea typeface="Aptos"/>
                <a:cs typeface="Aptos"/>
              </a:rPr>
              <a:t>3  Use 8 markets and 3 epochs as the next replicated default?</a:t>
            </a:r>
          </a:p>
        </p:txBody>
      </p:sp>
      <p:sp>
        <p:nvSpPr>
          <p:cNvPr id="22" name="">
            <a:extLst xmlns:a="http://schemas.openxmlformats.org/drawingml/2006/main">
              <a:ext uri="{FF2B5EF4-FFF2-40B4-BE49-F238E27FC236}">
                <a16:creationId xmlns:a16="http://schemas.microsoft.com/office/drawing/2014/main" id="{9F014689-93F4-4C9F-85A4-22A8110395CF}"/>
              </a:ext>
            </a:extLst>
          </p:cNvPr>
          <p:cNvSpPr>
            <a:spLocks xmlns:a="http://schemas.openxmlformats.org/drawingml/2006/main" noGrp="1"/>
          </p:cNvSpPr>
          <p:nvPr/>
        </p:nvSpPr>
        <p:spPr>
          <a:xfrm xmlns:a="http://schemas.openxmlformats.org/drawingml/2006/main">
            <a:off x="1047750" y="55054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0" i="0">
                <a:solidFill>
                  <a:srgbClr val="17202A"/>
                </a:solidFill>
                <a:latin typeface="Aptos"/>
                <a:ea typeface="Aptos"/>
                <a:cs typeface="Aptos"/>
              </a:defRPr>
            </a:pPr>
            <a:r>
              <a:rPr sz="1425" b="0" i="0">
                <a:solidFill>
                  <a:srgbClr val="17202A"/>
                </a:solidFill>
                <a:latin typeface="Aptos"/>
                <a:ea typeface="Aptos"/>
                <a:cs typeface="Aptos"/>
              </a:rPr>
              <a:t>4  Replicate the window study or move toward real-market data?</a:t>
            </a:r>
          </a:p>
        </p:txBody>
      </p:sp>
    </p:spTree>
    <p:extLst>
      <p:ext uri="{BB962C8B-B14F-4D97-AF65-F5344CB8AC3E}">
        <p14:creationId xmlns:p14="http://schemas.microsoft.com/office/powerpoint/2010/main" val="891432452"/>
      </p:ext>
    </p:extLst>
  </p:cSld>
</p:sld>
</file>

<file path=ppt/theme/theme1.xml><?xml version="1.0" encoding="utf-8"?>
<a:theme xmlns:a="http://schemas.openxmlformats.org/drawingml/2006/main" name="ChatGPT">
  <a:themeElements>
    <a:clrScheme name="Warm Research">
      <a:dk1>
        <a:srgbClr val="000000"/>
      </a:dk1>
      <a:lt1>
        <a:srgbClr val="FFFFFF"/>
      </a:lt1>
      <a:dk2>
        <a:srgbClr val="25343D"/>
      </a:dk2>
      <a:lt2>
        <a:srgbClr val="F7F4EC"/>
      </a:lt2>
      <a:accent1>
        <a:srgbClr val="1F6F68"/>
      </a:accent1>
      <a:accent2>
        <a:srgbClr val="A84632"/>
      </a:accent2>
      <a:accent3>
        <a:srgbClr val="C46A2B"/>
      </a:accent3>
      <a:accent4>
        <a:srgbClr val="315F8D"/>
      </a:accent4>
      <a:accent5>
        <a:srgbClr val="D39A24"/>
      </a:accent5>
      <a:accent6>
        <a:srgbClr val="596979"/>
      </a:accent6>
      <a:hlink>
        <a:srgbClr val="315F8D"/>
      </a:hlink>
      <a:folHlink>
        <a:srgbClr val="A84632"/>
      </a:folHlink>
    </a:clrScheme>
    <a:fontScheme name="Office">
      <a:majorFont>
        <a:latin typeface="Calibri Light"/>
        <a:ea typeface="Calibri Light"/>
        <a:cs typeface="Calibri Light"/>
      </a:majorFont>
      <a:minorFont>
        <a:latin typeface="Calibri"/>
        <a:ea typeface="Calibri"/>
        <a:cs typeface="Calibri"/>
      </a:minorFont>
    </a:fontScheme>
    <a:fmtScheme name="Warm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2026-10-04T21:16:44.6940000Z</dcterms:created>
  <dcterms:modified xsi:type="dcterms:W3CDTF">2026-10-04T21:16:44.6950000Z</dcterms:modified>
</coreProperties>
</file>