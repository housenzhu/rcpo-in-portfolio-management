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3b3788ee5247b3" /><Relationship Type="http://schemas.openxmlformats.org/officeDocument/2006/relationships/extended-properties" Target="/docProps/app.xml" Id="R7f9688847cad49aa" /><Relationship Type="http://schemas.openxmlformats.org/officeDocument/2006/relationships/officeDocument" Target="/ppt/presentation.xml" Id="Rb61394354e954bc5" /></Relationships>
</file>

<file path=ppt/presentation.xml><?xml version="1.0" encoding="utf-8"?>
<p:presentation xmlns:p="http://schemas.openxmlformats.org/presentationml/2006/main">
  <p:sldMasterIdLst>
    <p:sldMasterId xmlns:r="http://schemas.openxmlformats.org/officeDocument/2006/relationships" id="2147483648" r:id="R8691b80d0f1f40b2"/>
  </p:sldMasterIdLst>
  <p:notesMasterIdLst>
    <p:notesMasterId xmlns:r="http://schemas.openxmlformats.org/officeDocument/2006/relationships" r:id="R75be459b8c354255"/>
  </p:notesMasterIdLst>
  <p:sldIdLst>
    <p:sldId xmlns:r="http://schemas.openxmlformats.org/officeDocument/2006/relationships" id="256" r:id="R307dc991c2384e0d"/>
    <p:sldId xmlns:r="http://schemas.openxmlformats.org/officeDocument/2006/relationships" id="257" r:id="R8bf3acc30c2d4fe0"/>
    <p:sldId xmlns:r="http://schemas.openxmlformats.org/officeDocument/2006/relationships" id="258" r:id="Ra94db42e06e64b9c"/>
    <p:sldId xmlns:r="http://schemas.openxmlformats.org/officeDocument/2006/relationships" id="259" r:id="Rdbd92b040e8c405d"/>
    <p:sldId xmlns:r="http://schemas.openxmlformats.org/officeDocument/2006/relationships" id="260" r:id="Recc2ccf8bcba4776"/>
    <p:sldId xmlns:r="http://schemas.openxmlformats.org/officeDocument/2006/relationships" id="261" r:id="R2150e0eceaef496c"/>
    <p:sldId xmlns:r="http://schemas.openxmlformats.org/officeDocument/2006/relationships" id="262" r:id="Rab54986bb1c642e0"/>
    <p:sldId xmlns:r="http://schemas.openxmlformats.org/officeDocument/2006/relationships" id="263" r:id="Ra1ecf901f604483d"/>
    <p:sldId xmlns:r="http://schemas.openxmlformats.org/officeDocument/2006/relationships" id="264" r:id="Re0d725e748c94d34"/>
    <p:sldId xmlns:r="http://schemas.openxmlformats.org/officeDocument/2006/relationships" id="265" r:id="R3a42f33ff64a435b"/>
    <p:sldId xmlns:r="http://schemas.openxmlformats.org/officeDocument/2006/relationships" id="266" r:id="Rad7c65c085a64a73"/>
    <p:sldId xmlns:r="http://schemas.openxmlformats.org/officeDocument/2006/relationships" id="267" r:id="Rac03afffebf641fb"/>
    <p:sldId xmlns:r="http://schemas.openxmlformats.org/officeDocument/2006/relationships" id="268" r:id="R7c23b4db286b4c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a5d0d0aaea4dc7" /><Relationship Type="http://schemas.openxmlformats.org/officeDocument/2006/relationships/slideMaster" Target="/ppt/slideMasters/slideMaster1.xml" Id="R8691b80d0f1f40b2" /><Relationship Type="http://schemas.openxmlformats.org/officeDocument/2006/relationships/notesMaster" Target="/ppt/notesMasters/notesMaster1.xml" Id="R75be459b8c354255" /><Relationship Type="http://schemas.openxmlformats.org/officeDocument/2006/relationships/presProps" Target="/ppt/presProps.xml" Id="Rd0dae78e3a944633" /><Relationship Type="http://schemas.openxmlformats.org/officeDocument/2006/relationships/tableStyles" Target="/ppt/tableStyles.xml" Id="R15efdef730a447d7" /><Relationship Type="http://schemas.openxmlformats.org/officeDocument/2006/relationships/slide" Target="/ppt/slides/slide1.xml" Id="R307dc991c2384e0d" /><Relationship Type="http://schemas.openxmlformats.org/officeDocument/2006/relationships/slide" Target="/ppt/slides/slide2.xml" Id="R8bf3acc30c2d4fe0" /><Relationship Type="http://schemas.openxmlformats.org/officeDocument/2006/relationships/slide" Target="/ppt/slides/slide3.xml" Id="Ra94db42e06e64b9c" /><Relationship Type="http://schemas.openxmlformats.org/officeDocument/2006/relationships/slide" Target="/ppt/slides/slide4.xml" Id="Rdbd92b040e8c405d" /><Relationship Type="http://schemas.openxmlformats.org/officeDocument/2006/relationships/slide" Target="/ppt/slides/slide5.xml" Id="Recc2ccf8bcba4776" /><Relationship Type="http://schemas.openxmlformats.org/officeDocument/2006/relationships/slide" Target="/ppt/slides/slide6.xml" Id="R2150e0eceaef496c" /><Relationship Type="http://schemas.openxmlformats.org/officeDocument/2006/relationships/slide" Target="/ppt/slides/slide7.xml" Id="Rab54986bb1c642e0" /><Relationship Type="http://schemas.openxmlformats.org/officeDocument/2006/relationships/slide" Target="/ppt/slides/slide8.xml" Id="Ra1ecf901f604483d" /><Relationship Type="http://schemas.openxmlformats.org/officeDocument/2006/relationships/slide" Target="/ppt/slides/slide9.xml" Id="Re0d725e748c94d34" /><Relationship Type="http://schemas.openxmlformats.org/officeDocument/2006/relationships/slide" Target="/ppt/slides/slide10.xml" Id="R3a42f33ff64a435b" /><Relationship Type="http://schemas.openxmlformats.org/officeDocument/2006/relationships/slide" Target="/ppt/slides/slide11.xml" Id="Rad7c65c085a64a73" /><Relationship Type="http://schemas.openxmlformats.org/officeDocument/2006/relationships/slide" Target="/ppt/slides/slide12.xml" Id="Rac03afffebf641fb" /><Relationship Type="http://schemas.openxmlformats.org/officeDocument/2006/relationships/slide" Target="/ppt/slides/slide13.xml" Id="R7c23b4db286b4c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0f55b6cc5046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b690de69104905" /><Relationship Type="http://schemas.openxmlformats.org/officeDocument/2006/relationships/notesMaster" Target="/ppt/notesMasters/notesMaster1.xml" Id="R5fb9d03370854d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6ee43916104151" /><Relationship Type="http://schemas.openxmlformats.org/officeDocument/2006/relationships/notesMaster" Target="/ppt/notesMasters/notesMaster1.xml" Id="R09f32329b29042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93b0c7930443ea" /><Relationship Type="http://schemas.openxmlformats.org/officeDocument/2006/relationships/notesMaster" Target="/ppt/notesMasters/notesMaster1.xml" Id="R75b2e6e4cf1647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5a724f469e4943" /><Relationship Type="http://schemas.openxmlformats.org/officeDocument/2006/relationships/notesMaster" Target="/ppt/notesMasters/notesMaster1.xml" Id="Rca4ca44eb10045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b7497ed4fc4796" /><Relationship Type="http://schemas.openxmlformats.org/officeDocument/2006/relationships/notesMaster" Target="/ppt/notesMasters/notesMaster1.xml" Id="R7ae48504644b49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2ddb5ecdaf43b3" /><Relationship Type="http://schemas.openxmlformats.org/officeDocument/2006/relationships/notesMaster" Target="/ppt/notesMasters/notesMaster1.xml" Id="R9c3335e9eed547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0112d0cd9b4611" /><Relationship Type="http://schemas.openxmlformats.org/officeDocument/2006/relationships/notesMaster" Target="/ppt/notesMasters/notesMaster1.xml" Id="Re4c7afcd6f3544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1a839bdd5748ba" /><Relationship Type="http://schemas.openxmlformats.org/officeDocument/2006/relationships/notesMaster" Target="/ppt/notesMasters/notesMaster1.xml" Id="Rceed6695eaf24b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bff319055c4e78" /><Relationship Type="http://schemas.openxmlformats.org/officeDocument/2006/relationships/notesMaster" Target="/ppt/notesMasters/notesMaster1.xml" Id="R25415f92141841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a734b686c44085" /><Relationship Type="http://schemas.openxmlformats.org/officeDocument/2006/relationships/notesMaster" Target="/ppt/notesMasters/notesMaster1.xml" Id="Reaaa7ea188e447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94ac448ca046ab" /><Relationship Type="http://schemas.openxmlformats.org/officeDocument/2006/relationships/notesMaster" Target="/ppt/notesMasters/notesMaster1.xml" Id="R4dfc340c60f145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1c87c6cca14b8e" /><Relationship Type="http://schemas.openxmlformats.org/officeDocument/2006/relationships/notesMaster" Target="/ppt/notesMasters/notesMaster1.xml" Id="Rf6b6fe8844b846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0359337d7d4564" /><Relationship Type="http://schemas.openxmlformats.org/officeDocument/2006/relationships/notesMaster" Target="/ppt/notesMasters/notesMaster1.xml" Id="R743ca9ed103e45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Since our last meeting, I have completed the continuation of all six V3.2 experiments to sixty thousand updates, evaluated them against the matched V2.6 controls, and written the final report draft. Today I would like to focus on what the completed evidence actually supports. The strongest result remains the separation between hard allocation feasibility and learned risk control. Counterfactual credit changes the trade-off, but it does not solve every remaining weakness. I will first recap the experiment, then discuss the results and limitations, and finally ask for feedback on the report framing.</a:t>
            </a:r>
          </a:p>
          <a:p xmlns:a="http://schemas.openxmlformats.org/drawingml/2006/main">
            <a:r>
              <a:t/>
            </a:r>
          </a:p>
          <a:p xmlns:a="http://schemas.openxmlformats.org/drawingml/2006/main">
            <a:r>
              <a:t>Sources:</a:t>
            </a:r>
          </a:p>
          <a:p xmlns:a="http://schemas.openxmlformats.org/drawingml/2006/main">
            <a:r>
              <a:t>C:\Users\miaoj\Desktop\RCPO in trading\evaluation\section9_simplex_v3.2_policy_comparison\section9_comparison_summary.json</a:t>
            </a:r>
          </a:p>
          <a:p xmlns:a="http://schemas.openxmlformats.org/drawingml/2006/main">
            <a:r>
              <a:t>C:\Users\miaoj\Desktop\RCPO in trading\reports\final_project_report.tex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change is that the earlier V3.2 results are no longer interim results. All six runs have now completed sixty thousand updates. This gives the counterfactual variants the same environment-interaction budget as the V2.6 controls. The second change is a shared final evaluation, rather than comparing isolated training curves. The third is the manuscript: I have organised the project into problem formulation, method, experiments, and limitations. These three pieces let us distinguish a completed implementation from a demonstrated improvement. The training summaries verify completion; the comparison summaries are the source of the results shown today.</a:t>
            </a:r>
          </a:p>
          <a:p xmlns:a="http://schemas.openxmlformats.org/drawingml/2006/main">
            <a:r>
              <a:t/>
            </a:r>
          </a:p>
          <a:p xmlns:a="http://schemas.openxmlformats.org/drawingml/2006/main">
            <a:r>
              <a:t>Sources:</a:t>
            </a:r>
          </a:p>
          <a:p xmlns:a="http://schemas.openxmlformats.org/drawingml/2006/main">
            <a:r>
              <a:t>C:\Users\miaoj\Desktop\RCPO in trading\evaluation\section9_simplex_v3.2_policy_comparison\section9_comparison_summary.json</a:t>
            </a:r>
          </a:p>
          <a:p xmlns:a="http://schemas.openxmlformats.org/drawingml/2006/main">
            <a:r>
              <a:t>C:\Users\miaoj\Desktop\RCPO in trading\reports\final_project_report.tex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has three layers. First, the CAOSD mapping guarantees the two allocation requirements for each action. In this experiment they are fifty percent in assets one, four, and six, and forty percent in assets two, four, and seven. Second, RCPO addresses path-dependent drawdown. Its budget is the larger of five percent and ninety percent of the constrained-neutral benchmark current drawdown. The cost is the squared positive excess divided by zero point one. Third, branch credit is a learning question: after the branch actions are combined, how should each branch receive credit? V3.2 changes that third layer while keeping the hard map and global risk target.</a:t>
            </a:r>
          </a:p>
          <a:p xmlns:a="http://schemas.openxmlformats.org/drawingml/2006/main">
            <a:r>
              <a:t/>
            </a:r>
          </a:p>
          <a:p xmlns:a="http://schemas.openxmlformats.org/drawingml/2006/main">
            <a:r>
              <a:t>Sources:</a:t>
            </a:r>
          </a:p>
          <a:p xmlns:a="http://schemas.openxmlformats.org/drawingml/2006/main">
            <a:r>
              <a:t>C:\Users\miaoj\Desktop\RCPO in trading\evaluation\section9_simplex_v3.2_policy_comparison\section9_comparison_summary.json</a:t>
            </a:r>
          </a:p>
          <a:p xmlns:a="http://schemas.openxmlformats.org/drawingml/2006/main">
            <a:r>
              <a:t>C:\Users\miaoj\Desktop\RCPO in trading\reports\final_project_report.tex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rule I train both an autoregressive Gaussian-logit actor and an autoregressive Dirichlet actor. The counterfactual replaces one branch with its neutral allocation, keeps the other realised branch actions fixed, and recomputes the full CAOSD map. Each alternative has its own turnover and wealth history on the same market returns. The reward or cost difference is actual minus counterfactual. Importantly, the reward-only variant retains global actual cost, while the cost-only variant retains standalone reward. The combined variant changes both signals. A single global lambda still updates from actual portfolio cost, not from signed counterfactual differences. Because downstream actions are held fixed, this is an open-loop credit heuristic, not an unbiased causal effect.</a:t>
            </a:r>
          </a:p>
          <a:p xmlns:a="http://schemas.openxmlformats.org/drawingml/2006/main">
            <a:r>
              <a:t/>
            </a:r>
          </a:p>
          <a:p xmlns:a="http://schemas.openxmlformats.org/drawingml/2006/main">
            <a:r>
              <a:t>Sources:</a:t>
            </a:r>
          </a:p>
          <a:p xmlns:a="http://schemas.openxmlformats.org/drawingml/2006/main">
            <a:r>
              <a:t>C:\Users\miaoj\Desktop\RCPO in trading\evaluation\section9_simplex_v3.2_policy_comparison\section9_comparison_summary.json</a:t>
            </a:r>
          </a:p>
          <a:p xmlns:a="http://schemas.openxmlformats.org/drawingml/2006/main">
            <a:r>
              <a:t>C:\Users\miaoj\Desktop\RCPO in trading\reports\final_project_report.tex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market contains eight risky assets and cash. Training uses eight synthetic paths, and each episode lasts two hundred and fifty-two trading steps. Every policy has sixty thousand rollouts of two thousand and forty-eight transitions, which is about one hundred and twenty-three million environment transitions. The validation continuations select the checkpoint; the twenty separate test continuations evaluate it. Gaussian and Dirichlet use different numbers of optimisation epochs, so equal interaction budget should not be described as equal computation. Most importantly, the twenty markets are not twenty independent training seeds. They describe future-path variation conditional on a single trained seed. Relative wealth is calculated within each market as model wealth divided by baseline wealth minus one, and only then averaged.</a:t>
            </a:r>
          </a:p>
          <a:p xmlns:a="http://schemas.openxmlformats.org/drawingml/2006/main">
            <a:r>
              <a:t/>
            </a:r>
          </a:p>
          <a:p xmlns:a="http://schemas.openxmlformats.org/drawingml/2006/main">
            <a:r>
              <a:t>Sources:</a:t>
            </a:r>
          </a:p>
          <a:p xmlns:a="http://schemas.openxmlformats.org/drawingml/2006/main">
            <a:r>
              <a:t>C:\Users\miaoj\Desktop\RCPO in trading\evaluation\section9_simplex_v3.2_policy_comparison\section9_comparison_summary.json</a:t>
            </a:r>
          </a:p>
          <a:p xmlns:a="http://schemas.openxmlformats.org/drawingml/2006/main">
            <a:r>
              <a:t>C:\Users\miaoj\Desktop\RCPO in trading\reports\final_project_report.tex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figure shows the mean relative-wealth path on the same twenty future markets. The horizontal zero line is the constrained-neutral baseline. The selected V3.2 policies are all positive on average, and the Dirichlet policies generally have the higher terminal relative wealth. However, this figure should not be used alone to judge the method. A small return gain can coincide with higher turnover or a low drawdown-feasible rate. The next two slides therefore compare each architecture with its own V2.6 standalone-credit control, rather than treating the highest line as a complete success.</a:t>
            </a:r>
          </a:p>
          <a:p xmlns:a="http://schemas.openxmlformats.org/drawingml/2006/main">
            <a:r>
              <a:t/>
            </a:r>
          </a:p>
          <a:p xmlns:a="http://schemas.openxmlformats.org/drawingml/2006/main">
            <a:r>
              <a:t>Sources:</a:t>
            </a:r>
          </a:p>
          <a:p xmlns:a="http://schemas.openxmlformats.org/drawingml/2006/main">
            <a:r>
              <a:t>C:\Users\miaoj\Desktop\RCPO in trading\evaluation\section9_simplex_v3.2_policy_comparison\section9_comparison_summary.json</a:t>
            </a:r>
          </a:p>
          <a:p xmlns:a="http://schemas.openxmlformats.org/drawingml/2006/main">
            <a:r>
              <a:t>C:\Users\miaoj\Desktop\RCPO in trading\evaluation\section9_simplex_v3.2_policy_comparison\section9_cumulative_return_means_only.png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Gaussian, the counterfactual-cost experiment gives the clearest improvement. Mean relative wealth increases by about zero point three six percentage points. Mean maximum drawdown falls by about one point one one percentage points, and six of twenty test branches satisfy the drawdown target rather than three. This is useful evidence that cost-side branch credit can matter. It is not a free improvement: mean full-L1 turnover rises from about one point nine percent to seven point two percent per step. Counterfactual reward alone is essentially tied with the control, and changing both reward and cost is weaker than changing cost alone. I would therefore retain the cost-only result as the strongest Gaussian finding, without claiming that the risk problem is solved.</a:t>
            </a:r>
          </a:p>
          <a:p xmlns:a="http://schemas.openxmlformats.org/drawingml/2006/main">
            <a:r>
              <a:t/>
            </a:r>
          </a:p>
          <a:p xmlns:a="http://schemas.openxmlformats.org/drawingml/2006/main">
            <a:r>
              <a:t>Sources:</a:t>
            </a:r>
          </a:p>
          <a:p xmlns:a="http://schemas.openxmlformats.org/drawingml/2006/main">
            <a:r>
              <a:t>C:\Users\miaoj\Desktop\RCPO in trading\evaluation\section9_simplex_v3.2_policy_comparison\section9_comparison_summary.json</a:t>
            </a:r>
          </a:p>
          <a:p xmlns:a="http://schemas.openxmlformats.org/drawingml/2006/main">
            <a:r>
              <a:t>C:\Users\miaoj\Desktop\RCPO in trading\reports\final_project_report.tex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Counterfactual reward produces the highest observed mean relative wealth, eight point one eight percent. But the matched standalone control is already at eight point zero six percent. The gain is only around zero point one two percentage points. Meanwhile, turnover rises substantially and the fraction of markets where the model beats the baseline falls from ninety to eighty-five percent. The lower maximum drawdown and higher drawdown-feasible rate are encouraging, but these are small changes over one training seed. The manuscript correctly treats this as an observed leader rather than conclusive superiority. The cost-only and joint variants do not improve return over the control. This makes the result architecture dependent, rather than a universal advantage of counterfactual credit.</a:t>
            </a:r>
          </a:p>
          <a:p xmlns:a="http://schemas.openxmlformats.org/drawingml/2006/main">
            <a:r>
              <a:t/>
            </a:r>
          </a:p>
          <a:p xmlns:a="http://schemas.openxmlformats.org/drawingml/2006/main">
            <a:r>
              <a:t>Sources:</a:t>
            </a:r>
          </a:p>
          <a:p xmlns:a="http://schemas.openxmlformats.org/drawingml/2006/main">
            <a:r>
              <a:t>C:\Users\miaoj\Desktop\RCPO in trading\evaluation\section9_simplex_v3.2_policy_comparison\section9_comparison_summary.json</a:t>
            </a:r>
          </a:p>
          <a:p xmlns:a="http://schemas.openxmlformats.org/drawingml/2006/main">
            <a:r>
              <a:t>C:\Users\miaoj\Desktop\RCPO in trading\reports\final_project_report.tex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structural result is unchanged: all evaluated simplex actions satisfy the allocation constraints. That does not translate into guaranteed drawdown feasibility. Even the best V3.2 return-selected policy satisfies the active drawdown-cost target on only nine of twenty branches. Maximum drawdown summarises the worst peak-to-trough loss. The constraint instead compares current drawdown with a time-varying benchmark budget, so similar maximum drawdown can hide very different cost histories. A branch is feasible when its average actual cost does not exceed its average dynamic alpha, not when every step has zero violation. This distinction is central to the final report and to how we evaluate the role of RCPO.</a:t>
            </a:r>
          </a:p>
          <a:p xmlns:a="http://schemas.openxmlformats.org/drawingml/2006/main">
            <a:r>
              <a:t/>
            </a:r>
          </a:p>
          <a:p xmlns:a="http://schemas.openxmlformats.org/drawingml/2006/main">
            <a:r>
              <a:t>Sources:</a:t>
            </a:r>
          </a:p>
          <a:p xmlns:a="http://schemas.openxmlformats.org/drawingml/2006/main">
            <a:r>
              <a:t>C:\Users\miaoj\Desktop\RCPO in trading\evaluation\section9_simplex_v3.2_policy_comparison\section9_comparison_summary.json</a:t>
            </a:r>
          </a:p>
          <a:p xmlns:a="http://schemas.openxmlformats.org/drawingml/2006/main">
            <a:r>
              <a:t>C:\Users\miaoj\Desktop\RCPO in trading\evaluation\section9_simplex_v3.2_policy_comparison\section9_max_drawdown_comparison.png</a:t>
            </a:r>
          </a:p>
          <a:p xmlns:a="http://schemas.openxmlformats.org/drawingml/2006/main">
            <a:r>
              <a:t>C:\Users\miaoj\Desktop\RCPO in trading\reports\final_project_report.tex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also reviewed the separately saved feasibility-ranked checkpoints. The rule prioritises validation feasible-branch rate and then validation return. The file name should not be interpreted as a guarantee. On the unseen test markets, the highest feasible rate is still forty-five percent. The cost-only Dirichlet example is particularly revealing: choosing its feasibility-ranked checkpoint reduces test relative wealth from six point one eight percent to zero point nine two percent, while the test feasible rate stays at forty percent. This does not mean that we should select using test results. It means that the validation selection rule is not yet reliably aligned with future risk-return performance, and its name and interpretation need to remain precise.</a:t>
            </a:r>
          </a:p>
          <a:p xmlns:a="http://schemas.openxmlformats.org/drawingml/2006/main">
            <a:r>
              <a:t/>
            </a:r>
          </a:p>
          <a:p xmlns:a="http://schemas.openxmlformats.org/drawingml/2006/main">
            <a:r>
              <a:t>Sources:</a:t>
            </a:r>
          </a:p>
          <a:p xmlns:a="http://schemas.openxmlformats.org/drawingml/2006/main">
            <a:r>
              <a:t>C:\Users\miaoj\Desktop\RCPO in trading\evaluation\section9_simplex_v3.2_policy_comparison\section9_comparison_summary.json</a:t>
            </a:r>
          </a:p>
          <a:p xmlns:a="http://schemas.openxmlformats.org/drawingml/2006/main">
            <a:r>
              <a:t>C:\Users\miaoj\Desktop\RCPO in trading\evaluation\section9_simplex_v3.2_best_feasible_policy_comparison\section9_comparison_summary.json</a:t>
            </a:r>
          </a:p>
          <a:p xmlns:a="http://schemas.openxmlformats.org/drawingml/2006/main">
            <a:r>
              <a:t>C:\Users\miaoj\Desktop\RCPO in trading\reports\final_project_report.tex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overall assessment is that the contribution is methodological rather than a claim of real-market profitability. We have a working separation between action-level constraints and path-level risk preferences, plus a controlled experiment on branch credit. The counterfactual-cost Gaussian result is a meaningful risk-side signal, while the Dirichlet reward result is much more marginal than the highest return number initially suggests. There is no uniform winner across return, risk, feasibility and turnover. Historical versions also used different markets and constraint groups, so a lower raw return in a newer version is not enough to diagnose regression. The matched V2.6 comparison is more informative. The main open question is how to make risk learning and model selection transfer reliably to unseen paths.</a:t>
            </a:r>
          </a:p>
          <a:p xmlns:a="http://schemas.openxmlformats.org/drawingml/2006/main">
            <a:r>
              <a:t/>
            </a:r>
          </a:p>
          <a:p xmlns:a="http://schemas.openxmlformats.org/drawingml/2006/main">
            <a:r>
              <a:t>Sources:</a:t>
            </a:r>
          </a:p>
          <a:p xmlns:a="http://schemas.openxmlformats.org/drawingml/2006/main">
            <a:r>
              <a:t>C:\Users\miaoj\Desktop\RCPO in trading\evaluation\section9_simplex_v3.2_policy_comparison\section9_comparison_summary.json</a:t>
            </a:r>
          </a:p>
          <a:p xmlns:a="http://schemas.openxmlformats.org/drawingml/2006/main">
            <a:r>
              <a:t>C:\Users\miaoj\Desktop\RCPO in trading\reports\final_project_report.tex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have written the LaTeX report under the title Towards Robust Portfolio Reinforcement Learning with Constraint-Aware Simplex Decomposition. It now explains the portfolio process, the two hard constraints, the benchmark-relative current-drawdown cost, the counterfactual variants, and the completed evaluation. The conclusion is deliberately narrower than saying that counterfactual credit solves the problem. Before submission, I would like feedback on whether the contribution should be framed mainly as the hybrid constrained design or as the evaluation of branch credit within that design. I also need a final technical and presentation pass: formula notation, source-to-table consistency, figure readability, bibliography checks, and compilation. The current draft should be treated as ready for discussion, not as already approved or publication ready.</a:t>
            </a:r>
          </a:p>
          <a:p xmlns:a="http://schemas.openxmlformats.org/drawingml/2006/main">
            <a:r>
              <a:t/>
            </a:r>
          </a:p>
          <a:p xmlns:a="http://schemas.openxmlformats.org/drawingml/2006/main">
            <a:r>
              <a:t>Sources:</a:t>
            </a:r>
          </a:p>
          <a:p xmlns:a="http://schemas.openxmlformats.org/drawingml/2006/main">
            <a:r>
              <a:t>C:\Users\miaoj\Desktop\RCPO in trading\reports\final_project_report.tex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decisions I would like to discuss. First, is the current hybrid design and controlled counterfactual study a sufficient core for the MEng report, with the limitations stated clearly? Second, if there is time for one more experiment, I would prioritise replication across training seeds and transaction-cost sensitivity before another broad hyperparameter sweep. If the priority is strict risk feasibility instead, that may require a different risk objective or model-selection procedure rather than merely increasing lambda. Third, should historical-market validation and reward correction remain explicitly outside the completed experimental scope? My proposed closing message is that CAOSD successfully handles the hard allocation problem, while RCPO risk learning and counterfactual credit produce useful but incomplete improvements.</a:t>
            </a:r>
          </a:p>
          <a:p xmlns:a="http://schemas.openxmlformats.org/drawingml/2006/main">
            <a:r>
              <a:t/>
            </a:r>
          </a:p>
          <a:p xmlns:a="http://schemas.openxmlformats.org/drawingml/2006/main">
            <a:r>
              <a:t>Sources:</a:t>
            </a:r>
          </a:p>
          <a:p xmlns:a="http://schemas.openxmlformats.org/drawingml/2006/main">
            <a:r>
              <a:t>C:\Users\miaoj\Desktop\RCPO in trading\evaluation\section9_simplex_v3.2_policy_comparison\section9_comparison_summary.json</a:t>
            </a:r>
          </a:p>
          <a:p xmlns:a="http://schemas.openxmlformats.org/drawingml/2006/main">
            <a:r>
              <a:t>C:\Users\miaoj\Desktop\RCPO in trading\reports\final_project_report.tex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5e938068b54b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3ac1917a3b451e" /><Relationship Type="http://schemas.openxmlformats.org/officeDocument/2006/relationships/slideLayout" Target="/ppt/slideLayouts/slideLayout1.xml" Id="Rf94598ba678240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4598ba678240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c8f0695d4a45b5" /><Relationship Type="http://schemas.openxmlformats.org/officeDocument/2006/relationships/notesSlide" Target="/ppt/notesSlides/notesSlide1.xml" Id="Rc811aec340b848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49dfd2bcbe458b" /><Relationship Type="http://schemas.openxmlformats.org/officeDocument/2006/relationships/notesSlide" Target="/ppt/notesSlides/notesSlide2.xml" Id="R80320b7b07fa4f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405e1d0b714b30" /><Relationship Type="http://schemas.openxmlformats.org/officeDocument/2006/relationships/notesSlide" Target="/ppt/notesSlides/notesSlide3.xml" Id="R8b18a479183140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f25716aa40423e" /><Relationship Type="http://schemas.openxmlformats.org/officeDocument/2006/relationships/notesSlide" Target="/ppt/notesSlides/notesSlide4.xml" Id="Rb86f107cfd5c4d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fcf39f891274cff" /><Relationship Type="http://schemas.openxmlformats.org/officeDocument/2006/relationships/notesSlide" Target="/ppt/notesSlides/notesSlide5.xml" Id="R9f1b4f8871c446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eba7f55ab24593" /><Relationship Type="http://schemas.openxmlformats.org/officeDocument/2006/relationships/image" Target="/ppt/media/image.png" Id="R0f71f996aedd402c" /><Relationship Type="http://schemas.openxmlformats.org/officeDocument/2006/relationships/notesSlide" Target="/ppt/notesSlides/notesSlide6.xml" Id="Rccd3c4bd77bb48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3724101f684ba4" /><Relationship Type="http://schemas.openxmlformats.org/officeDocument/2006/relationships/notesSlide" Target="/ppt/notesSlides/notesSlide7.xml" Id="R04ce0c01f05a48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2dec9d559647c5" /><Relationship Type="http://schemas.openxmlformats.org/officeDocument/2006/relationships/notesSlide" Target="/ppt/notesSlides/notesSlide8.xml" Id="Rf7230e76a3e049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a6582f9f5448ad" /><Relationship Type="http://schemas.openxmlformats.org/officeDocument/2006/relationships/image" Target="/ppt/media/image2.png" Id="Rb4f14348490447b2" /><Relationship Type="http://schemas.openxmlformats.org/officeDocument/2006/relationships/notesSlide" Target="/ppt/notesSlides/notesSlide9.xml" Id="Re63c78c67a144c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45b40dd2f7c42bd" /><Relationship Type="http://schemas.openxmlformats.org/officeDocument/2006/relationships/notesSlide" Target="/ppt/notesSlides/notesSlide10.xml" Id="R912985499d9846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7d481a18a344754" /><Relationship Type="http://schemas.openxmlformats.org/officeDocument/2006/relationships/notesSlide" Target="/ppt/notesSlides/notesSlide11.xml" Id="R31c642da269249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3c73c984cb34473" /><Relationship Type="http://schemas.openxmlformats.org/officeDocument/2006/relationships/notesSlide" Target="/ppt/notesSlides/notesSlide12.xml" Id="Rc236e9f56fd648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26d20d4ac04f5b" /><Relationship Type="http://schemas.openxmlformats.org/officeDocument/2006/relationships/notesSlide" Target="/ppt/notesSlides/notesSlide13.xml" Id="R204a1ca5f7e342f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7BB5A0-B39C-4399-ADEF-D9FA672D27DE}"/>
              </a:ext>
            </a:extLst>
          </p:cNvPr>
          <p:cNvSpPr>
            <a:spLocks xmlns:a="http://schemas.openxmlformats.org/drawingml/2006/main" noGrp="1"/>
          </p:cNvSpPr>
          <p:nvPr/>
        </p:nvSpPr>
        <p:spPr>
          <a:xfrm xmlns:a="http://schemas.openxmlformats.org/drawingml/2006/main">
            <a:off x="571500" y="4381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F3E"/>
                </a:solidFill>
                <a:latin typeface="Aptos"/>
                <a:ea typeface="Aptos"/>
                <a:cs typeface="Aptos"/>
              </a:defRPr>
            </a:pPr>
            <a:r>
              <a:rPr sz="2775" b="1">
                <a:solidFill>
                  <a:srgbClr val="172F3E"/>
                </a:solidFill>
                <a:latin typeface="Aptos"/>
                <a:ea typeface="Aptos"/>
                <a:cs typeface="Aptos"/>
              </a:rPr>
              <a:t>Constraint-Aware Portfolio RL</a:t>
            </a:r>
          </a:p>
        </p:txBody>
      </p:sp>
      <p:sp>
        <p:nvSpPr>
          <p:cNvPr id="2" name="">
            <a:extLst xmlns:a="http://schemas.openxmlformats.org/drawingml/2006/main">
              <a:ext uri="{FF2B5EF4-FFF2-40B4-BE49-F238E27FC236}">
                <a16:creationId xmlns:a16="http://schemas.microsoft.com/office/drawing/2014/main" id="{F9302D6F-7484-4AB6-B7A8-307B8D1CDCD4}"/>
              </a:ext>
            </a:extLst>
          </p:cNvPr>
          <p:cNvSpPr>
            <a:spLocks xmlns:a="http://schemas.openxmlformats.org/drawingml/2006/main" noGrp="1"/>
          </p:cNvSpPr>
          <p:nvPr/>
        </p:nvSpPr>
        <p:spPr>
          <a:xfrm xmlns:a="http://schemas.openxmlformats.org/drawingml/2006/main">
            <a:off x="571500" y="1304925"/>
            <a:ext cx="110490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52518F-3521-450B-B464-452299EB6B5B}"/>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3"/>
                </a:solidFill>
                <a:latin typeface="Aptos"/>
                <a:ea typeface="Aptos"/>
                <a:cs typeface="Aptos"/>
              </a:defRPr>
            </a:pPr>
            <a:r>
              <a:rPr sz="1050" b="0">
                <a:solidFill>
                  <a:srgbClr val="526573"/>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B8C49F00-520C-451F-BD53-44D8B015A56C}"/>
              </a:ext>
            </a:extLst>
          </p:cNvPr>
          <p:cNvSpPr>
            <a:spLocks xmlns:a="http://schemas.openxmlformats.org/drawingml/2006/main" noGrp="1"/>
          </p:cNvSpPr>
          <p:nvPr/>
        </p:nvSpPr>
        <p:spPr>
          <a:xfrm xmlns:a="http://schemas.openxmlformats.org/drawingml/2006/main">
            <a:off x="609600" y="17430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6D83"/>
                </a:solidFill>
                <a:latin typeface="Aptos"/>
                <a:ea typeface="Aptos"/>
                <a:cs typeface="Aptos"/>
              </a:defRPr>
            </a:pPr>
            <a:r>
              <a:rPr sz="3000" b="1">
                <a:solidFill>
                  <a:srgbClr val="176D83"/>
                </a:solidFill>
                <a:latin typeface="Aptos"/>
                <a:ea typeface="Aptos"/>
                <a:cs typeface="Aptos"/>
              </a:rPr>
              <a:t>Completed V3.2 study and project review</a:t>
            </a:r>
          </a:p>
        </p:txBody>
      </p:sp>
      <p:sp>
        <p:nvSpPr>
          <p:cNvPr id="5" name="">
            <a:extLst xmlns:a="http://schemas.openxmlformats.org/drawingml/2006/main">
              <a:ext uri="{FF2B5EF4-FFF2-40B4-BE49-F238E27FC236}">
                <a16:creationId xmlns:a16="http://schemas.microsoft.com/office/drawing/2014/main" id="{35A3EFAF-36CB-47D2-8F2D-EDA7C040EB6A}"/>
              </a:ext>
            </a:extLst>
          </p:cNvPr>
          <p:cNvSpPr>
            <a:spLocks xmlns:a="http://schemas.openxmlformats.org/drawingml/2006/main" noGrp="1"/>
          </p:cNvSpPr>
          <p:nvPr/>
        </p:nvSpPr>
        <p:spPr>
          <a:xfrm xmlns:a="http://schemas.openxmlformats.org/drawingml/2006/main">
            <a:off x="609600" y="27241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E"/>
                </a:solidFill>
                <a:latin typeface="Aptos"/>
                <a:ea typeface="Aptos"/>
                <a:cs typeface="Aptos"/>
              </a:defRPr>
            </a:pPr>
            <a:r>
              <a:rPr sz="2100" b="0">
                <a:solidFill>
                  <a:srgbClr val="172F3E"/>
                </a:solidFill>
                <a:latin typeface="Aptos"/>
                <a:ea typeface="Aptos"/>
                <a:cs typeface="Aptos"/>
              </a:rPr>
              <a:t>CAOSD allocation feasibility + RCPO drawdown control</a:t>
            </a:r>
          </a:p>
        </p:txBody>
      </p:sp>
      <p:sp>
        <p:nvSpPr>
          <p:cNvPr id="6" name="">
            <a:extLst xmlns:a="http://schemas.openxmlformats.org/drawingml/2006/main">
              <a:ext uri="{FF2B5EF4-FFF2-40B4-BE49-F238E27FC236}">
                <a16:creationId xmlns:a16="http://schemas.microsoft.com/office/drawing/2014/main" id="{3CDAF98B-FBB7-4F3C-BA3C-E1F036FC419E}"/>
              </a:ext>
            </a:extLst>
          </p:cNvPr>
          <p:cNvSpPr>
            <a:spLocks xmlns:a="http://schemas.openxmlformats.org/drawingml/2006/main" noGrp="1"/>
          </p:cNvSpPr>
          <p:nvPr/>
        </p:nvSpPr>
        <p:spPr>
          <a:xfrm xmlns:a="http://schemas.openxmlformats.org/drawingml/2006/main">
            <a:off x="609600" y="3648075"/>
            <a:ext cx="7143750" cy="38100"/>
          </a:xfrm>
          <a:prstGeom xmlns:a="http://schemas.openxmlformats.org/drawingml/2006/main" prst="rect">
            <a:avLst/>
          </a:prstGeom>
          <a:solidFill xmlns:a="http://schemas.openxmlformats.org/drawingml/2006/main">
            <a:srgbClr val="176D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13A6B0A-602E-4744-AE78-D10D12C15E0E}"/>
              </a:ext>
            </a:extLst>
          </p:cNvPr>
          <p:cNvSpPr>
            <a:spLocks xmlns:a="http://schemas.openxmlformats.org/drawingml/2006/main" noGrp="1"/>
          </p:cNvSpPr>
          <p:nvPr/>
        </p:nvSpPr>
        <p:spPr>
          <a:xfrm xmlns:a="http://schemas.openxmlformats.org/drawingml/2006/main">
            <a:off x="609600" y="4010025"/>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Completed V3.2 experiments  /  Project evaluation  /  Final manuscript and discussion</a:t>
            </a:r>
          </a:p>
        </p:txBody>
      </p:sp>
      <p:sp>
        <p:nvSpPr>
          <p:cNvPr id="8" name="">
            <a:extLst xmlns:a="http://schemas.openxmlformats.org/drawingml/2006/main">
              <a:ext uri="{FF2B5EF4-FFF2-40B4-BE49-F238E27FC236}">
                <a16:creationId xmlns:a16="http://schemas.microsoft.com/office/drawing/2014/main" id="{CB20A34D-0D84-4B91-890A-D334A3717AE9}"/>
              </a:ext>
            </a:extLst>
          </p:cNvPr>
          <p:cNvSpPr>
            <a:spLocks xmlns:a="http://schemas.openxmlformats.org/drawingml/2006/main" noGrp="1"/>
          </p:cNvSpPr>
          <p:nvPr/>
        </p:nvSpPr>
        <p:spPr>
          <a:xfrm xmlns:a="http://schemas.openxmlformats.org/drawingml/2006/main">
            <a:off x="609600" y="5467350"/>
            <a:ext cx="1009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573"/>
                </a:solidFill>
                <a:latin typeface="Aptos"/>
                <a:ea typeface="Aptos"/>
                <a:cs typeface="Aptos"/>
              </a:defRPr>
            </a:pPr>
            <a:r>
              <a:rPr sz="1650" b="0">
                <a:solidFill>
                  <a:srgbClr val="526573"/>
                </a:solidFill>
                <a:latin typeface="Aptos"/>
                <a:ea typeface="Aptos"/>
                <a:cs typeface="Aptos"/>
              </a:rPr>
              <a:t>Housen Zhu | Supervisor: A. Bereyhi</a:t>
            </a:r>
          </a:p>
          <a:p xmlns:a="http://schemas.openxmlformats.org/drawingml/2006/main">
            <a:pPr>
              <a:defRPr sz="1650" b="0">
                <a:solidFill>
                  <a:srgbClr val="526573"/>
                </a:solidFill>
                <a:latin typeface="Aptos"/>
                <a:ea typeface="Aptos"/>
                <a:cs typeface="Aptos"/>
              </a:defRPr>
            </a:pPr>
            <a:r>
              <a:rPr sz="1650" b="0">
                <a:solidFill>
                  <a:srgbClr val="526573"/>
                </a:solidFill>
                <a:latin typeface="Aptos"/>
                <a:ea typeface="Aptos"/>
                <a:cs typeface="Aptos"/>
              </a:rPr>
              <a:t>Meeting preparation | 13 September 2026</a:t>
            </a:r>
          </a:p>
        </p:txBody>
      </p:sp>
    </p:spTree>
    <p:extLst>
      <p:ext uri="{BB962C8B-B14F-4D97-AF65-F5344CB8AC3E}">
        <p14:creationId xmlns:p14="http://schemas.microsoft.com/office/powerpoint/2010/main" val="11395036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42B32BE-D860-4CE7-BA9E-9B707B8A46E2}"/>
              </a:ext>
            </a:extLst>
          </p:cNvPr>
          <p:cNvSpPr>
            <a:spLocks xmlns:a="http://schemas.openxmlformats.org/drawingml/2006/main" noGrp="1"/>
          </p:cNvSpPr>
          <p:nvPr/>
        </p:nvSpPr>
        <p:spPr>
          <a:xfrm xmlns:a="http://schemas.openxmlformats.org/drawingml/2006/main">
            <a:off x="571500" y="4381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F3E"/>
                </a:solidFill>
                <a:latin typeface="Aptos"/>
                <a:ea typeface="Aptos"/>
                <a:cs typeface="Aptos"/>
              </a:defRPr>
            </a:pPr>
            <a:r>
              <a:rPr sz="2775" b="1">
                <a:solidFill>
                  <a:srgbClr val="172F3E"/>
                </a:solidFill>
                <a:latin typeface="Aptos"/>
                <a:ea typeface="Aptos"/>
                <a:cs typeface="Aptos"/>
              </a:rPr>
              <a:t>Progress since the last meeting</a:t>
            </a:r>
          </a:p>
        </p:txBody>
      </p:sp>
      <p:sp>
        <p:nvSpPr>
          <p:cNvPr id="2" name="">
            <a:extLst xmlns:a="http://schemas.openxmlformats.org/drawingml/2006/main">
              <a:ext uri="{FF2B5EF4-FFF2-40B4-BE49-F238E27FC236}">
                <a16:creationId xmlns:a16="http://schemas.microsoft.com/office/drawing/2014/main" id="{B4954EFA-35C5-441C-8612-7601FA909BF4}"/>
              </a:ext>
            </a:extLst>
          </p:cNvPr>
          <p:cNvSpPr>
            <a:spLocks xmlns:a="http://schemas.openxmlformats.org/drawingml/2006/main" noGrp="1"/>
          </p:cNvSpPr>
          <p:nvPr/>
        </p:nvSpPr>
        <p:spPr>
          <a:xfrm xmlns:a="http://schemas.openxmlformats.org/drawingml/2006/main">
            <a:off x="571500" y="1304925"/>
            <a:ext cx="110490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A92864-16C2-4426-A0B0-C6D0EB0B8C70}"/>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3"/>
                </a:solidFill>
                <a:latin typeface="Aptos"/>
                <a:ea typeface="Aptos"/>
                <a:cs typeface="Aptos"/>
              </a:defRPr>
            </a:pPr>
            <a:r>
              <a:rPr sz="1050" b="0">
                <a:solidFill>
                  <a:srgbClr val="526573"/>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51C32483-EAF9-4374-BF92-97C112675F6A}"/>
              </a:ext>
            </a:extLst>
          </p:cNvPr>
          <p:cNvSpPr>
            <a:spLocks xmlns:a="http://schemas.openxmlformats.org/drawingml/2006/main" noGrp="1"/>
          </p:cNvSpPr>
          <p:nvPr/>
        </p:nvSpPr>
        <p:spPr>
          <a:xfrm xmlns:a="http://schemas.openxmlformats.org/drawingml/2006/main">
            <a:off x="609600" y="1809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B86337EE-54ED-45B7-B806-C0C79279E20E}"/>
              </a:ext>
            </a:extLst>
          </p:cNvPr>
          <p:cNvSpPr>
            <a:spLocks xmlns:a="http://schemas.openxmlformats.org/drawingml/2006/main" noGrp="1"/>
          </p:cNvSpPr>
          <p:nvPr/>
        </p:nvSpPr>
        <p:spPr>
          <a:xfrm xmlns:a="http://schemas.openxmlformats.org/drawingml/2006/main">
            <a:off x="1257300" y="1809750"/>
            <a:ext cx="1000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3E"/>
                </a:solidFill>
                <a:latin typeface="Aptos"/>
                <a:ea typeface="Aptos"/>
                <a:cs typeface="Aptos"/>
              </a:defRPr>
            </a:pPr>
            <a:r>
              <a:rPr sz="2025" b="0">
                <a:solidFill>
                  <a:srgbClr val="172F3E"/>
                </a:solidFill>
                <a:latin typeface="Aptos"/>
                <a:ea typeface="Aptos"/>
                <a:cs typeface="Aptos"/>
              </a:rPr>
              <a:t>Six V3.2 runs: 11,400 to 60,000 updates each</a:t>
            </a:r>
          </a:p>
        </p:txBody>
      </p:sp>
      <p:sp>
        <p:nvSpPr>
          <p:cNvPr id="6" name="">
            <a:extLst xmlns:a="http://schemas.openxmlformats.org/drawingml/2006/main">
              <a:ext uri="{FF2B5EF4-FFF2-40B4-BE49-F238E27FC236}">
                <a16:creationId xmlns:a16="http://schemas.microsoft.com/office/drawing/2014/main" id="{D9868ECB-D8DD-400E-B036-F9C5195F5D35}"/>
              </a:ext>
            </a:extLst>
          </p:cNvPr>
          <p:cNvSpPr>
            <a:spLocks xmlns:a="http://schemas.openxmlformats.org/drawingml/2006/main" noGrp="1"/>
          </p:cNvSpPr>
          <p:nvPr/>
        </p:nvSpPr>
        <p:spPr>
          <a:xfrm xmlns:a="http://schemas.openxmlformats.org/drawingml/2006/main">
            <a:off x="609600" y="26479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664F6C2E-F918-4502-B3B8-AE7A950018D3}"/>
              </a:ext>
            </a:extLst>
          </p:cNvPr>
          <p:cNvSpPr>
            <a:spLocks xmlns:a="http://schemas.openxmlformats.org/drawingml/2006/main" noGrp="1"/>
          </p:cNvSpPr>
          <p:nvPr/>
        </p:nvSpPr>
        <p:spPr>
          <a:xfrm xmlns:a="http://schemas.openxmlformats.org/drawingml/2006/main">
            <a:off x="1257300" y="2647950"/>
            <a:ext cx="1000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3E"/>
                </a:solidFill>
                <a:latin typeface="Aptos"/>
                <a:ea typeface="Aptos"/>
                <a:cs typeface="Aptos"/>
              </a:defRPr>
            </a:pPr>
            <a:r>
              <a:rPr sz="2025" b="0">
                <a:solidFill>
                  <a:srgbClr val="172F3E"/>
                </a:solidFill>
                <a:latin typeface="Aptos"/>
                <a:ea typeface="Aptos"/>
                <a:cs typeface="Aptos"/>
              </a:rPr>
              <a:t>Final evaluation: 20 shared unseen continuation markets</a:t>
            </a:r>
          </a:p>
        </p:txBody>
      </p:sp>
      <p:sp>
        <p:nvSpPr>
          <p:cNvPr id="8" name="">
            <a:extLst xmlns:a="http://schemas.openxmlformats.org/drawingml/2006/main">
              <a:ext uri="{FF2B5EF4-FFF2-40B4-BE49-F238E27FC236}">
                <a16:creationId xmlns:a16="http://schemas.microsoft.com/office/drawing/2014/main" id="{BA7C4E2A-27FF-4184-B5F8-D0AE61279704}"/>
              </a:ext>
            </a:extLst>
          </p:cNvPr>
          <p:cNvSpPr>
            <a:spLocks xmlns:a="http://schemas.openxmlformats.org/drawingml/2006/main" noGrp="1"/>
          </p:cNvSpPr>
          <p:nvPr/>
        </p:nvSpPr>
        <p:spPr>
          <a:xfrm xmlns:a="http://schemas.openxmlformats.org/drawingml/2006/main">
            <a:off x="609600" y="34861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817EE4C6-E275-4B22-A385-F155EA06EC7A}"/>
              </a:ext>
            </a:extLst>
          </p:cNvPr>
          <p:cNvSpPr>
            <a:spLocks xmlns:a="http://schemas.openxmlformats.org/drawingml/2006/main" noGrp="1"/>
          </p:cNvSpPr>
          <p:nvPr/>
        </p:nvSpPr>
        <p:spPr>
          <a:xfrm xmlns:a="http://schemas.openxmlformats.org/drawingml/2006/main">
            <a:off x="1257300" y="3486150"/>
            <a:ext cx="1000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3E"/>
                </a:solidFill>
                <a:latin typeface="Aptos"/>
                <a:ea typeface="Aptos"/>
                <a:cs typeface="Aptos"/>
              </a:defRPr>
            </a:pPr>
            <a:r>
              <a:rPr sz="2025" b="0">
                <a:solidFill>
                  <a:srgbClr val="172F3E"/>
                </a:solidFill>
                <a:latin typeface="Aptos"/>
                <a:ea typeface="Aptos"/>
                <a:cs typeface="Aptos"/>
              </a:rPr>
              <a:t>Project assessment and final_project_report.tex draft</a:t>
            </a:r>
          </a:p>
        </p:txBody>
      </p:sp>
      <p:sp>
        <p:nvSpPr>
          <p:cNvPr id="10" name="">
            <a:extLst xmlns:a="http://schemas.openxmlformats.org/drawingml/2006/main">
              <a:ext uri="{FF2B5EF4-FFF2-40B4-BE49-F238E27FC236}">
                <a16:creationId xmlns:a16="http://schemas.microsoft.com/office/drawing/2014/main" id="{CAD0E38E-370B-4B01-A698-4545AC833C5F}"/>
              </a:ext>
            </a:extLst>
          </p:cNvPr>
          <p:cNvSpPr>
            <a:spLocks xmlns:a="http://schemas.openxmlformats.org/drawingml/2006/main" noGrp="1"/>
          </p:cNvSpPr>
          <p:nvPr/>
        </p:nvSpPr>
        <p:spPr>
          <a:xfrm xmlns:a="http://schemas.openxmlformats.org/drawingml/2006/main">
            <a:off x="609600" y="5610225"/>
            <a:ext cx="109347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1423D81-612D-4CAD-ACC3-D747F6BB0AE9}"/>
              </a:ext>
            </a:extLst>
          </p:cNvPr>
          <p:cNvSpPr>
            <a:spLocks xmlns:a="http://schemas.openxmlformats.org/drawingml/2006/main" noGrp="1"/>
          </p:cNvSpPr>
          <p:nvPr/>
        </p:nvSpPr>
        <p:spPr>
          <a:xfrm xmlns:a="http://schemas.openxmlformats.org/drawingml/2006/main">
            <a:off x="609600" y="584835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6D83"/>
                </a:solidFill>
                <a:latin typeface="Aptos"/>
                <a:ea typeface="Aptos"/>
                <a:cs typeface="Aptos"/>
              </a:defRPr>
            </a:pPr>
            <a:r>
              <a:rPr sz="1725" b="1">
                <a:solidFill>
                  <a:srgbClr val="176D83"/>
                </a:solidFill>
                <a:latin typeface="Aptos"/>
                <a:ea typeface="Aptos"/>
                <a:cs typeface="Aptos"/>
              </a:rPr>
              <a:t>Completed training is not the same as conclusive improvement.</a:t>
            </a:r>
          </a:p>
        </p:txBody>
      </p:sp>
    </p:spTree>
    <p:extLst>
      <p:ext uri="{BB962C8B-B14F-4D97-AF65-F5344CB8AC3E}">
        <p14:creationId xmlns:p14="http://schemas.microsoft.com/office/powerpoint/2010/main" val="7714128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3B23BB0-C7A8-4100-AAEC-C4A9039B9FA9}"/>
              </a:ext>
            </a:extLst>
          </p:cNvPr>
          <p:cNvSpPr>
            <a:spLocks xmlns:a="http://schemas.openxmlformats.org/drawingml/2006/main" noGrp="1"/>
          </p:cNvSpPr>
          <p:nvPr/>
        </p:nvSpPr>
        <p:spPr>
          <a:xfrm xmlns:a="http://schemas.openxmlformats.org/drawingml/2006/main">
            <a:off x="571500" y="4381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F3E"/>
                </a:solidFill>
                <a:latin typeface="Aptos"/>
                <a:ea typeface="Aptos"/>
                <a:cs typeface="Aptos"/>
              </a:defRPr>
            </a:pPr>
            <a:r>
              <a:rPr sz="2775" b="1">
                <a:solidFill>
                  <a:srgbClr val="172F3E"/>
                </a:solidFill>
                <a:latin typeface="Aptos"/>
                <a:ea typeface="Aptos"/>
                <a:cs typeface="Aptos"/>
              </a:rPr>
              <a:t>Three distinct parts of the problem</a:t>
            </a:r>
          </a:p>
        </p:txBody>
      </p:sp>
      <p:sp>
        <p:nvSpPr>
          <p:cNvPr id="2" name="">
            <a:extLst xmlns:a="http://schemas.openxmlformats.org/drawingml/2006/main">
              <a:ext uri="{FF2B5EF4-FFF2-40B4-BE49-F238E27FC236}">
                <a16:creationId xmlns:a16="http://schemas.microsoft.com/office/drawing/2014/main" id="{6839CBFF-7CB9-42A9-89C0-D468945636C3}"/>
              </a:ext>
            </a:extLst>
          </p:cNvPr>
          <p:cNvSpPr>
            <a:spLocks xmlns:a="http://schemas.openxmlformats.org/drawingml/2006/main" noGrp="1"/>
          </p:cNvSpPr>
          <p:nvPr/>
        </p:nvSpPr>
        <p:spPr>
          <a:xfrm xmlns:a="http://schemas.openxmlformats.org/drawingml/2006/main">
            <a:off x="571500" y="1304925"/>
            <a:ext cx="110490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676E904-EEA2-4A7B-B0F1-8235BF55F191}"/>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3"/>
                </a:solidFill>
                <a:latin typeface="Aptos"/>
                <a:ea typeface="Aptos"/>
                <a:cs typeface="Aptos"/>
              </a:defRPr>
            </a:pPr>
            <a:r>
              <a:rPr sz="1050" b="0">
                <a:solidFill>
                  <a:srgbClr val="526573"/>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0F82CBB7-82E7-443E-9A34-4495760506B4}"/>
              </a:ext>
            </a:extLst>
          </p:cNvPr>
          <p:cNvSpPr>
            <a:spLocks xmlns:a="http://schemas.openxmlformats.org/drawingml/2006/main" noGrp="1"/>
          </p:cNvSpPr>
          <p:nvPr/>
        </p:nvSpPr>
        <p:spPr>
          <a:xfrm xmlns:a="http://schemas.openxmlformats.org/drawingml/2006/main">
            <a:off x="609600" y="16764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720772E3-67DC-41D5-963D-9F9084EC3155}"/>
              </a:ext>
            </a:extLst>
          </p:cNvPr>
          <p:cNvSpPr>
            <a:spLocks xmlns:a="http://schemas.openxmlformats.org/drawingml/2006/main" noGrp="1"/>
          </p:cNvSpPr>
          <p:nvPr/>
        </p:nvSpPr>
        <p:spPr>
          <a:xfrm xmlns:a="http://schemas.openxmlformats.org/drawingml/2006/main">
            <a:off x="1257300" y="16764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Hard: two overlapping minimum-allocation constraints</a:t>
            </a:r>
          </a:p>
        </p:txBody>
      </p:sp>
      <p:sp>
        <p:nvSpPr>
          <p:cNvPr id="6" name="">
            <a:extLst xmlns:a="http://schemas.openxmlformats.org/drawingml/2006/main">
              <a:ext uri="{FF2B5EF4-FFF2-40B4-BE49-F238E27FC236}">
                <a16:creationId xmlns:a16="http://schemas.microsoft.com/office/drawing/2014/main" id="{E129B109-7394-4E33-9975-A2B3FA4FE866}"/>
              </a:ext>
            </a:extLst>
          </p:cNvPr>
          <p:cNvSpPr>
            <a:spLocks xmlns:a="http://schemas.openxmlformats.org/drawingml/2006/main" noGrp="1"/>
          </p:cNvSpPr>
          <p:nvPr/>
        </p:nvSpPr>
        <p:spPr>
          <a:xfrm xmlns:a="http://schemas.openxmlformats.org/drawingml/2006/main">
            <a:off x="609600" y="24288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7AAA425E-9DA5-45ED-9DC1-04F65BCCC8D3}"/>
              </a:ext>
            </a:extLst>
          </p:cNvPr>
          <p:cNvSpPr>
            <a:spLocks xmlns:a="http://schemas.openxmlformats.org/drawingml/2006/main" noGrp="1"/>
          </p:cNvSpPr>
          <p:nvPr/>
        </p:nvSpPr>
        <p:spPr>
          <a:xfrm xmlns:a="http://schemas.openxmlformats.org/drawingml/2006/main">
            <a:off x="1257300" y="242887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Soft: benchmark-relative current-drawdown cost</a:t>
            </a:r>
          </a:p>
        </p:txBody>
      </p:sp>
      <p:sp>
        <p:nvSpPr>
          <p:cNvPr id="8" name="">
            <a:extLst xmlns:a="http://schemas.openxmlformats.org/drawingml/2006/main">
              <a:ext uri="{FF2B5EF4-FFF2-40B4-BE49-F238E27FC236}">
                <a16:creationId xmlns:a16="http://schemas.microsoft.com/office/drawing/2014/main" id="{4C8D2759-D4CE-4198-994B-D477608B4C3A}"/>
              </a:ext>
            </a:extLst>
          </p:cNvPr>
          <p:cNvSpPr>
            <a:spLocks xmlns:a="http://schemas.openxmlformats.org/drawingml/2006/main" noGrp="1"/>
          </p:cNvSpPr>
          <p:nvPr/>
        </p:nvSpPr>
        <p:spPr>
          <a:xfrm xmlns:a="http://schemas.openxmlformats.org/drawingml/2006/main">
            <a:off x="609600" y="31813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042F50D9-9395-4CD7-9E72-182C81D97EE8}"/>
              </a:ext>
            </a:extLst>
          </p:cNvPr>
          <p:cNvSpPr>
            <a:spLocks xmlns:a="http://schemas.openxmlformats.org/drawingml/2006/main" noGrp="1"/>
          </p:cNvSpPr>
          <p:nvPr/>
        </p:nvSpPr>
        <p:spPr>
          <a:xfrm xmlns:a="http://schemas.openxmlformats.org/drawingml/2006/main">
            <a:off x="1257300" y="31813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Credit: which branch improved the final portfolio?</a:t>
            </a:r>
          </a:p>
        </p:txBody>
      </p:sp>
      <p:sp>
        <p:nvSpPr>
          <p:cNvPr id="10" name="">
            <a:extLst xmlns:a="http://schemas.openxmlformats.org/drawingml/2006/main">
              <a:ext uri="{FF2B5EF4-FFF2-40B4-BE49-F238E27FC236}">
                <a16:creationId xmlns:a16="http://schemas.microsoft.com/office/drawing/2014/main" id="{0F971400-BC89-4F85-9197-AB332A660A4D}"/>
              </a:ext>
            </a:extLst>
          </p:cNvPr>
          <p:cNvSpPr>
            <a:spLocks xmlns:a="http://schemas.openxmlformats.org/drawingml/2006/main" noGrp="1"/>
          </p:cNvSpPr>
          <p:nvPr/>
        </p:nvSpPr>
        <p:spPr>
          <a:xfrm xmlns:a="http://schemas.openxmlformats.org/drawingml/2006/main">
            <a:off x="1257300" y="4133850"/>
            <a:ext cx="10191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6D83"/>
                </a:solidFill>
                <a:latin typeface="Aptos"/>
                <a:ea typeface="Aptos"/>
                <a:cs typeface="Aptos"/>
              </a:defRPr>
            </a:pPr>
            <a:r>
              <a:rPr sz="1725" b="1">
                <a:solidFill>
                  <a:srgbClr val="176D83"/>
                </a:solidFill>
                <a:latin typeface="Aptos"/>
                <a:ea typeface="Aptos"/>
                <a:cs typeface="Aptos"/>
              </a:rPr>
              <a:t>budget = max(0.05, 0.90 x baseline current drawdown)</a:t>
            </a:r>
          </a:p>
          <a:p xmlns:a="http://schemas.openxmlformats.org/drawingml/2006/main">
            <a:pPr>
              <a:defRPr sz="1725" b="1">
                <a:solidFill>
                  <a:srgbClr val="176D83"/>
                </a:solidFill>
                <a:latin typeface="Aptos"/>
                <a:ea typeface="Aptos"/>
                <a:cs typeface="Aptos"/>
              </a:defRPr>
            </a:pPr>
            <a:r>
              <a:rPr sz="1725" b="1">
                <a:solidFill>
                  <a:srgbClr val="176D83"/>
                </a:solidFill>
                <a:latin typeface="Aptos"/>
                <a:ea typeface="Aptos"/>
                <a:cs typeface="Aptos"/>
              </a:rPr>
              <a:t>cost = max(0, agent current drawdown - budget)^2 / 0.10</a:t>
            </a:r>
          </a:p>
        </p:txBody>
      </p:sp>
      <p:sp>
        <p:nvSpPr>
          <p:cNvPr id="11" name="">
            <a:extLst xmlns:a="http://schemas.openxmlformats.org/drawingml/2006/main">
              <a:ext uri="{FF2B5EF4-FFF2-40B4-BE49-F238E27FC236}">
                <a16:creationId xmlns:a16="http://schemas.microsoft.com/office/drawing/2014/main" id="{AA9B7AB7-FDD1-49E4-9AB6-6063B2C0A34A}"/>
              </a:ext>
            </a:extLst>
          </p:cNvPr>
          <p:cNvSpPr>
            <a:spLocks xmlns:a="http://schemas.openxmlformats.org/drawingml/2006/main" noGrp="1"/>
          </p:cNvSpPr>
          <p:nvPr/>
        </p:nvSpPr>
        <p:spPr>
          <a:xfrm xmlns:a="http://schemas.openxmlformats.org/drawingml/2006/main">
            <a:off x="609600" y="5610225"/>
            <a:ext cx="109347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1B9749A-214E-4B2E-86AE-A29AE963098B}"/>
              </a:ext>
            </a:extLst>
          </p:cNvPr>
          <p:cNvSpPr>
            <a:spLocks xmlns:a="http://schemas.openxmlformats.org/drawingml/2006/main" noGrp="1"/>
          </p:cNvSpPr>
          <p:nvPr/>
        </p:nvSpPr>
        <p:spPr>
          <a:xfrm xmlns:a="http://schemas.openxmlformats.org/drawingml/2006/main">
            <a:off x="609600" y="584835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6D83"/>
                </a:solidFill>
                <a:latin typeface="Aptos"/>
                <a:ea typeface="Aptos"/>
                <a:cs typeface="Aptos"/>
              </a:defRPr>
            </a:pPr>
            <a:r>
              <a:rPr sz="1725" b="1">
                <a:solidFill>
                  <a:srgbClr val="176D83"/>
                </a:solidFill>
                <a:latin typeface="Aptos"/>
                <a:ea typeface="Aptos"/>
                <a:cs typeface="Aptos"/>
              </a:rPr>
              <a:t>Hard feasibility is guaranteed; out-of-sample drawdown control is learned.</a:t>
            </a:r>
          </a:p>
        </p:txBody>
      </p:sp>
    </p:spTree>
    <p:extLst>
      <p:ext uri="{BB962C8B-B14F-4D97-AF65-F5344CB8AC3E}">
        <p14:creationId xmlns:p14="http://schemas.microsoft.com/office/powerpoint/2010/main" val="17626839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5FB4F84-9199-47C4-9FDA-9EA7A837F256}"/>
              </a:ext>
            </a:extLst>
          </p:cNvPr>
          <p:cNvSpPr>
            <a:spLocks xmlns:a="http://schemas.openxmlformats.org/drawingml/2006/main" noGrp="1"/>
          </p:cNvSpPr>
          <p:nvPr/>
        </p:nvSpPr>
        <p:spPr>
          <a:xfrm xmlns:a="http://schemas.openxmlformats.org/drawingml/2006/main">
            <a:off x="571500" y="4381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F3E"/>
                </a:solidFill>
                <a:latin typeface="Aptos"/>
                <a:ea typeface="Aptos"/>
                <a:cs typeface="Aptos"/>
              </a:defRPr>
            </a:pPr>
            <a:r>
              <a:rPr sz="2775" b="1">
                <a:solidFill>
                  <a:srgbClr val="172F3E"/>
                </a:solidFill>
                <a:latin typeface="Aptos"/>
                <a:ea typeface="Aptos"/>
                <a:cs typeface="Aptos"/>
              </a:rPr>
              <a:t>V3.2 tests three credit rules, twice</a:t>
            </a:r>
          </a:p>
        </p:txBody>
      </p:sp>
      <p:sp>
        <p:nvSpPr>
          <p:cNvPr id="2" name="">
            <a:extLst xmlns:a="http://schemas.openxmlformats.org/drawingml/2006/main">
              <a:ext uri="{FF2B5EF4-FFF2-40B4-BE49-F238E27FC236}">
                <a16:creationId xmlns:a16="http://schemas.microsoft.com/office/drawing/2014/main" id="{77FD2109-C172-4AAA-A830-39B17A7E38CD}"/>
              </a:ext>
            </a:extLst>
          </p:cNvPr>
          <p:cNvSpPr>
            <a:spLocks xmlns:a="http://schemas.openxmlformats.org/drawingml/2006/main" noGrp="1"/>
          </p:cNvSpPr>
          <p:nvPr/>
        </p:nvSpPr>
        <p:spPr>
          <a:xfrm xmlns:a="http://schemas.openxmlformats.org/drawingml/2006/main">
            <a:off x="571500" y="1304925"/>
            <a:ext cx="110490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ED322F-14B2-45A6-A8A9-615820FA969C}"/>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3"/>
                </a:solidFill>
                <a:latin typeface="Aptos"/>
                <a:ea typeface="Aptos"/>
                <a:cs typeface="Aptos"/>
              </a:defRPr>
            </a:pPr>
            <a:r>
              <a:rPr sz="1050" b="0">
                <a:solidFill>
                  <a:srgbClr val="526573"/>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7FF973DB-1618-4C8F-9326-F1ED1821ED2B}"/>
              </a:ext>
            </a:extLst>
          </p:cNvPr>
          <p:cNvSpPr>
            <a:spLocks xmlns:a="http://schemas.openxmlformats.org/drawingml/2006/main" noGrp="1"/>
          </p:cNvSpPr>
          <p:nvPr/>
        </p:nvSpPr>
        <p:spPr>
          <a:xfrm xmlns:a="http://schemas.openxmlformats.org/drawingml/2006/main">
            <a:off x="609600" y="16859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E5B880F3-75D3-49D1-945C-9F0FE91D0092}"/>
              </a:ext>
            </a:extLst>
          </p:cNvPr>
          <p:cNvSpPr>
            <a:spLocks xmlns:a="http://schemas.openxmlformats.org/drawingml/2006/main" noGrp="1"/>
          </p:cNvSpPr>
          <p:nvPr/>
        </p:nvSpPr>
        <p:spPr>
          <a:xfrm xmlns:a="http://schemas.openxmlformats.org/drawingml/2006/main">
            <a:off x="1257300" y="168592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CF reward: counterfactual reward + global actual cost</a:t>
            </a:r>
          </a:p>
        </p:txBody>
      </p:sp>
      <p:sp>
        <p:nvSpPr>
          <p:cNvPr id="6" name="">
            <a:extLst xmlns:a="http://schemas.openxmlformats.org/drawingml/2006/main">
              <a:ext uri="{FF2B5EF4-FFF2-40B4-BE49-F238E27FC236}">
                <a16:creationId xmlns:a16="http://schemas.microsoft.com/office/drawing/2014/main" id="{BDB2B1F2-EF51-448E-A259-1A72422FA741}"/>
              </a:ext>
            </a:extLst>
          </p:cNvPr>
          <p:cNvSpPr>
            <a:spLocks xmlns:a="http://schemas.openxmlformats.org/drawingml/2006/main" noGrp="1"/>
          </p:cNvSpPr>
          <p:nvPr/>
        </p:nvSpPr>
        <p:spPr>
          <a:xfrm xmlns:a="http://schemas.openxmlformats.org/drawingml/2006/main">
            <a:off x="609600" y="24860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E3E7068B-54B0-4E36-9565-2BDF97CA9A7C}"/>
              </a:ext>
            </a:extLst>
          </p:cNvPr>
          <p:cNvSpPr>
            <a:spLocks xmlns:a="http://schemas.openxmlformats.org/drawingml/2006/main" noGrp="1"/>
          </p:cNvSpPr>
          <p:nvPr/>
        </p:nvSpPr>
        <p:spPr>
          <a:xfrm xmlns:a="http://schemas.openxmlformats.org/drawingml/2006/main">
            <a:off x="1257300" y="248602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CF cost: standalone reward + counterfactual cost</a:t>
            </a:r>
          </a:p>
        </p:txBody>
      </p:sp>
      <p:sp>
        <p:nvSpPr>
          <p:cNvPr id="8" name="">
            <a:extLst xmlns:a="http://schemas.openxmlformats.org/drawingml/2006/main">
              <a:ext uri="{FF2B5EF4-FFF2-40B4-BE49-F238E27FC236}">
                <a16:creationId xmlns:a16="http://schemas.microsoft.com/office/drawing/2014/main" id="{911A36DD-A724-4C68-952D-A3B18B9DD68D}"/>
              </a:ext>
            </a:extLst>
          </p:cNvPr>
          <p:cNvSpPr>
            <a:spLocks xmlns:a="http://schemas.openxmlformats.org/drawingml/2006/main" noGrp="1"/>
          </p:cNvSpPr>
          <p:nvPr/>
        </p:nvSpPr>
        <p:spPr>
          <a:xfrm xmlns:a="http://schemas.openxmlformats.org/drawingml/2006/main">
            <a:off x="609600" y="3286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08820608-B57C-4337-AA1B-FC6350D4D249}"/>
              </a:ext>
            </a:extLst>
          </p:cNvPr>
          <p:cNvSpPr>
            <a:spLocks xmlns:a="http://schemas.openxmlformats.org/drawingml/2006/main" noGrp="1"/>
          </p:cNvSpPr>
          <p:nvPr/>
        </p:nvSpPr>
        <p:spPr>
          <a:xfrm xmlns:a="http://schemas.openxmlformats.org/drawingml/2006/main">
            <a:off x="1257300" y="328612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CF reward + cost: both branch signals are counterfactual</a:t>
            </a:r>
          </a:p>
        </p:txBody>
      </p:sp>
      <p:sp>
        <p:nvSpPr>
          <p:cNvPr id="10" name="">
            <a:extLst xmlns:a="http://schemas.openxmlformats.org/drawingml/2006/main">
              <a:ext uri="{FF2B5EF4-FFF2-40B4-BE49-F238E27FC236}">
                <a16:creationId xmlns:a16="http://schemas.microsoft.com/office/drawing/2014/main" id="{6AB74003-B698-442A-86E3-ABCE67DEBDDD}"/>
              </a:ext>
            </a:extLst>
          </p:cNvPr>
          <p:cNvSpPr>
            <a:spLocks xmlns:a="http://schemas.openxmlformats.org/drawingml/2006/main" noGrp="1"/>
          </p:cNvSpPr>
          <p:nvPr/>
        </p:nvSpPr>
        <p:spPr>
          <a:xfrm xmlns:a="http://schemas.openxmlformats.org/drawingml/2006/main">
            <a:off x="609600" y="44481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D83"/>
                </a:solidFill>
                <a:latin typeface="Aptos"/>
                <a:ea typeface="Aptos"/>
                <a:cs typeface="Aptos"/>
              </a:defRPr>
            </a:pPr>
            <a:r>
              <a:rPr sz="2100" b="1">
                <a:solidFill>
                  <a:srgbClr val="176D83"/>
                </a:solidFill>
                <a:latin typeface="Aptos"/>
                <a:ea typeface="Aptos"/>
                <a:cs typeface="Aptos"/>
              </a:rPr>
              <a:t>Replace one branch -&gt; recompute CAOSD -&gt; compare shadow paths</a:t>
            </a:r>
          </a:p>
        </p:txBody>
      </p:sp>
      <p:sp>
        <p:nvSpPr>
          <p:cNvPr id="11" name="">
            <a:extLst xmlns:a="http://schemas.openxmlformats.org/drawingml/2006/main">
              <a:ext uri="{FF2B5EF4-FFF2-40B4-BE49-F238E27FC236}">
                <a16:creationId xmlns:a16="http://schemas.microsoft.com/office/drawing/2014/main" id="{5D0BD718-D0EB-43CD-92FA-AB9D5CD69387}"/>
              </a:ext>
            </a:extLst>
          </p:cNvPr>
          <p:cNvSpPr>
            <a:spLocks xmlns:a="http://schemas.openxmlformats.org/drawingml/2006/main" noGrp="1"/>
          </p:cNvSpPr>
          <p:nvPr/>
        </p:nvSpPr>
        <p:spPr>
          <a:xfrm xmlns:a="http://schemas.openxmlformats.org/drawingml/2006/main">
            <a:off x="609600" y="5610225"/>
            <a:ext cx="109347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F3E779F-824A-4FEA-BBC4-D581CC6A9B8E}"/>
              </a:ext>
            </a:extLst>
          </p:cNvPr>
          <p:cNvSpPr>
            <a:spLocks xmlns:a="http://schemas.openxmlformats.org/drawingml/2006/main" noGrp="1"/>
          </p:cNvSpPr>
          <p:nvPr/>
        </p:nvSpPr>
        <p:spPr>
          <a:xfrm xmlns:a="http://schemas.openxmlformats.org/drawingml/2006/main">
            <a:off x="609600" y="584835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6D83"/>
                </a:solidFill>
                <a:latin typeface="Aptos"/>
                <a:ea typeface="Aptos"/>
                <a:cs typeface="Aptos"/>
              </a:defRPr>
            </a:pPr>
            <a:r>
              <a:rPr sz="1725" b="1">
                <a:solidFill>
                  <a:srgbClr val="176D83"/>
                </a:solidFill>
                <a:latin typeface="Aptos"/>
                <a:ea typeface="Aptos"/>
                <a:cs typeface="Aptos"/>
              </a:rPr>
              <a:t>One global lambda; no separate market rollout; no reward-noise injection.</a:t>
            </a:r>
          </a:p>
        </p:txBody>
      </p:sp>
    </p:spTree>
    <p:extLst>
      <p:ext uri="{BB962C8B-B14F-4D97-AF65-F5344CB8AC3E}">
        <p14:creationId xmlns:p14="http://schemas.microsoft.com/office/powerpoint/2010/main" val="7302466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5BD0C34-A533-4C90-BCDB-5EA56C846E43}"/>
              </a:ext>
            </a:extLst>
          </p:cNvPr>
          <p:cNvSpPr>
            <a:spLocks xmlns:a="http://schemas.openxmlformats.org/drawingml/2006/main" noGrp="1"/>
          </p:cNvSpPr>
          <p:nvPr/>
        </p:nvSpPr>
        <p:spPr>
          <a:xfrm xmlns:a="http://schemas.openxmlformats.org/drawingml/2006/main">
            <a:off x="571500" y="4381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F3E"/>
                </a:solidFill>
                <a:latin typeface="Aptos"/>
                <a:ea typeface="Aptos"/>
                <a:cs typeface="Aptos"/>
              </a:defRPr>
            </a:pPr>
            <a:r>
              <a:rPr sz="2775" b="1">
                <a:solidFill>
                  <a:srgbClr val="172F3E"/>
                </a:solidFill>
                <a:latin typeface="Aptos"/>
                <a:ea typeface="Aptos"/>
                <a:cs typeface="Aptos"/>
              </a:rPr>
              <a:t>A matched comparison, with limits</a:t>
            </a:r>
          </a:p>
        </p:txBody>
      </p:sp>
      <p:sp>
        <p:nvSpPr>
          <p:cNvPr id="2" name="">
            <a:extLst xmlns:a="http://schemas.openxmlformats.org/drawingml/2006/main">
              <a:ext uri="{FF2B5EF4-FFF2-40B4-BE49-F238E27FC236}">
                <a16:creationId xmlns:a16="http://schemas.microsoft.com/office/drawing/2014/main" id="{74BCE444-44FB-4362-96E3-91DA705930A8}"/>
              </a:ext>
            </a:extLst>
          </p:cNvPr>
          <p:cNvSpPr>
            <a:spLocks xmlns:a="http://schemas.openxmlformats.org/drawingml/2006/main" noGrp="1"/>
          </p:cNvSpPr>
          <p:nvPr/>
        </p:nvSpPr>
        <p:spPr>
          <a:xfrm xmlns:a="http://schemas.openxmlformats.org/drawingml/2006/main">
            <a:off x="571500" y="1304925"/>
            <a:ext cx="110490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5DEC5FB-1CB6-4D9A-9726-687EB7B2038C}"/>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3"/>
                </a:solidFill>
                <a:latin typeface="Aptos"/>
                <a:ea typeface="Aptos"/>
                <a:cs typeface="Aptos"/>
              </a:defRPr>
            </a:pPr>
            <a:r>
              <a:rPr sz="1050" b="0">
                <a:solidFill>
                  <a:srgbClr val="526573"/>
                </a:solidFill>
                <a:latin typeface="Aptos"/>
                <a:ea typeface="Aptos"/>
                <a:cs typeface="Aptos"/>
              </a:rPr>
              <a:t>05</a:t>
            </a:r>
          </a:p>
        </p:txBody>
      </p:sp>
      <p:sp>
        <p:nvSpPr>
          <p:cNvPr id="4" name="">
            <a:extLst xmlns:a="http://schemas.openxmlformats.org/drawingml/2006/main">
              <a:ext uri="{FF2B5EF4-FFF2-40B4-BE49-F238E27FC236}">
                <a16:creationId xmlns:a16="http://schemas.microsoft.com/office/drawing/2014/main" id="{1BA70D1F-F288-4B74-AF08-31CBD29E024C}"/>
              </a:ext>
            </a:extLst>
          </p:cNvPr>
          <p:cNvSpPr>
            <a:spLocks xmlns:a="http://schemas.openxmlformats.org/drawingml/2006/main" noGrp="1"/>
          </p:cNvSpPr>
          <p:nvPr/>
        </p:nvSpPr>
        <p:spPr>
          <a:xfrm xmlns:a="http://schemas.openxmlformats.org/drawingml/2006/main">
            <a:off x="609600" y="16478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A413B2D1-412B-4AE6-ADB9-58D30284C124}"/>
              </a:ext>
            </a:extLst>
          </p:cNvPr>
          <p:cNvSpPr>
            <a:spLocks xmlns:a="http://schemas.openxmlformats.org/drawingml/2006/main" noGrp="1"/>
          </p:cNvSpPr>
          <p:nvPr/>
        </p:nvSpPr>
        <p:spPr>
          <a:xfrm xmlns:a="http://schemas.openxmlformats.org/drawingml/2006/main">
            <a:off x="1257300" y="1647825"/>
            <a:ext cx="10001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8 training markets; 8 risky assets + cash; 252-step episodes</a:t>
            </a:r>
          </a:p>
        </p:txBody>
      </p:sp>
      <p:sp>
        <p:nvSpPr>
          <p:cNvPr id="6" name="">
            <a:extLst xmlns:a="http://schemas.openxmlformats.org/drawingml/2006/main">
              <a:ext uri="{FF2B5EF4-FFF2-40B4-BE49-F238E27FC236}">
                <a16:creationId xmlns:a16="http://schemas.microsoft.com/office/drawing/2014/main" id="{61DA7614-CA84-4C43-9277-8534FCE48533}"/>
              </a:ext>
            </a:extLst>
          </p:cNvPr>
          <p:cNvSpPr>
            <a:spLocks xmlns:a="http://schemas.openxmlformats.org/drawingml/2006/main" noGrp="1"/>
          </p:cNvSpPr>
          <p:nvPr/>
        </p:nvSpPr>
        <p:spPr>
          <a:xfrm xmlns:a="http://schemas.openxmlformats.org/drawingml/2006/main">
            <a:off x="609600" y="24384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E7EF2CD8-CBD2-414F-906B-0D9D5B5BC446}"/>
              </a:ext>
            </a:extLst>
          </p:cNvPr>
          <p:cNvSpPr>
            <a:spLocks xmlns:a="http://schemas.openxmlformats.org/drawingml/2006/main" noGrp="1"/>
          </p:cNvSpPr>
          <p:nvPr/>
        </p:nvSpPr>
        <p:spPr>
          <a:xfrm xmlns:a="http://schemas.openxmlformats.org/drawingml/2006/main">
            <a:off x="1257300" y="2438400"/>
            <a:ext cx="10001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60,000 x 2,048 transitions per policy; one training seed</a:t>
            </a:r>
          </a:p>
        </p:txBody>
      </p:sp>
      <p:sp>
        <p:nvSpPr>
          <p:cNvPr id="8" name="">
            <a:extLst xmlns:a="http://schemas.openxmlformats.org/drawingml/2006/main">
              <a:ext uri="{FF2B5EF4-FFF2-40B4-BE49-F238E27FC236}">
                <a16:creationId xmlns:a16="http://schemas.microsoft.com/office/drawing/2014/main" id="{91464F81-8E1D-42C1-9163-B1B2264F2688}"/>
              </a:ext>
            </a:extLst>
          </p:cNvPr>
          <p:cNvSpPr>
            <a:spLocks xmlns:a="http://schemas.openxmlformats.org/drawingml/2006/main" noGrp="1"/>
          </p:cNvSpPr>
          <p:nvPr/>
        </p:nvSpPr>
        <p:spPr>
          <a:xfrm xmlns:a="http://schemas.openxmlformats.org/drawingml/2006/main">
            <a:off x="609600" y="32289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4F552315-4471-406B-A385-10E800D4B275}"/>
              </a:ext>
            </a:extLst>
          </p:cNvPr>
          <p:cNvSpPr>
            <a:spLocks xmlns:a="http://schemas.openxmlformats.org/drawingml/2006/main" noGrp="1"/>
          </p:cNvSpPr>
          <p:nvPr/>
        </p:nvSpPr>
        <p:spPr>
          <a:xfrm xmlns:a="http://schemas.openxmlformats.org/drawingml/2006/main">
            <a:off x="1257300" y="3228975"/>
            <a:ext cx="10001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10 validation branches for selection; 20 shared test branches</a:t>
            </a:r>
          </a:p>
        </p:txBody>
      </p:sp>
      <p:sp>
        <p:nvSpPr>
          <p:cNvPr id="10" name="">
            <a:extLst xmlns:a="http://schemas.openxmlformats.org/drawingml/2006/main">
              <a:ext uri="{FF2B5EF4-FFF2-40B4-BE49-F238E27FC236}">
                <a16:creationId xmlns:a16="http://schemas.microsoft.com/office/drawing/2014/main" id="{E352AE7D-2CAE-4185-87D1-5BF963C2C6DD}"/>
              </a:ext>
            </a:extLst>
          </p:cNvPr>
          <p:cNvSpPr>
            <a:spLocks xmlns:a="http://schemas.openxmlformats.org/drawingml/2006/main" noGrp="1"/>
          </p:cNvSpPr>
          <p:nvPr/>
        </p:nvSpPr>
        <p:spPr>
          <a:xfrm xmlns:a="http://schemas.openxmlformats.org/drawingml/2006/main">
            <a:off x="609600" y="44386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D83"/>
                </a:solidFill>
                <a:latin typeface="Aptos"/>
                <a:ea typeface="Aptos"/>
                <a:cs typeface="Aptos"/>
              </a:defRPr>
            </a:pPr>
            <a:r>
              <a:rPr sz="1875" b="1">
                <a:solidFill>
                  <a:srgbClr val="176D83"/>
                </a:solidFill>
                <a:latin typeface="Aptos"/>
                <a:ea typeface="Aptos"/>
                <a:cs typeface="Aptos"/>
              </a:rPr>
              <a:t>Relative wealth = model terminal wealth / baseline terminal wealth - 1</a:t>
            </a:r>
          </a:p>
        </p:txBody>
      </p:sp>
      <p:sp>
        <p:nvSpPr>
          <p:cNvPr id="11" name="">
            <a:extLst xmlns:a="http://schemas.openxmlformats.org/drawingml/2006/main">
              <a:ext uri="{FF2B5EF4-FFF2-40B4-BE49-F238E27FC236}">
                <a16:creationId xmlns:a16="http://schemas.microsoft.com/office/drawing/2014/main" id="{1040EB2A-63A1-43B0-A9A6-1B28BB7001CF}"/>
              </a:ext>
            </a:extLst>
          </p:cNvPr>
          <p:cNvSpPr>
            <a:spLocks xmlns:a="http://schemas.openxmlformats.org/drawingml/2006/main" noGrp="1"/>
          </p:cNvSpPr>
          <p:nvPr/>
        </p:nvSpPr>
        <p:spPr>
          <a:xfrm xmlns:a="http://schemas.openxmlformats.org/drawingml/2006/main">
            <a:off x="609600" y="5610225"/>
            <a:ext cx="109347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CBA9AD3-112F-4EDF-BA83-AA62CAA1DA3C}"/>
              </a:ext>
            </a:extLst>
          </p:cNvPr>
          <p:cNvSpPr>
            <a:spLocks xmlns:a="http://schemas.openxmlformats.org/drawingml/2006/main" noGrp="1"/>
          </p:cNvSpPr>
          <p:nvPr/>
        </p:nvSpPr>
        <p:spPr>
          <a:xfrm xmlns:a="http://schemas.openxmlformats.org/drawingml/2006/main">
            <a:off x="609600" y="584835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6D83"/>
                </a:solidFill>
                <a:latin typeface="Aptos"/>
                <a:ea typeface="Aptos"/>
                <a:cs typeface="Aptos"/>
              </a:defRPr>
            </a:pPr>
            <a:r>
              <a:rPr sz="1725" b="1">
                <a:solidFill>
                  <a:srgbClr val="176D83"/>
                </a:solidFill>
                <a:latin typeface="Aptos"/>
                <a:ea typeface="Aptos"/>
                <a:cs typeface="Aptos"/>
              </a:rPr>
              <a:t>Constrained-neutral is a feasible CAOSD allocation, not arithmetic 1/N.</a:t>
            </a:r>
          </a:p>
        </p:txBody>
      </p:sp>
    </p:spTree>
    <p:extLst>
      <p:ext uri="{BB962C8B-B14F-4D97-AF65-F5344CB8AC3E}">
        <p14:creationId xmlns:p14="http://schemas.microsoft.com/office/powerpoint/2010/main" val="10110392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9754A4-7FD1-493A-9A2B-6C766454E680}"/>
              </a:ext>
            </a:extLst>
          </p:cNvPr>
          <p:cNvSpPr>
            <a:spLocks xmlns:a="http://schemas.openxmlformats.org/drawingml/2006/main" noGrp="1"/>
          </p:cNvSpPr>
          <p:nvPr/>
        </p:nvSpPr>
        <p:spPr>
          <a:xfrm xmlns:a="http://schemas.openxmlformats.org/drawingml/2006/main">
            <a:off x="571500" y="4381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F3E"/>
                </a:solidFill>
                <a:latin typeface="Aptos"/>
                <a:ea typeface="Aptos"/>
                <a:cs typeface="Aptos"/>
              </a:defRPr>
            </a:pPr>
            <a:r>
              <a:rPr sz="2775" b="1">
                <a:solidFill>
                  <a:srgbClr val="172F3E"/>
                </a:solidFill>
                <a:latin typeface="Aptos"/>
                <a:ea typeface="Aptos"/>
                <a:cs typeface="Aptos"/>
              </a:rPr>
              <a:t>Completed future-market return comparison</a:t>
            </a:r>
          </a:p>
        </p:txBody>
      </p:sp>
      <p:sp>
        <p:nvSpPr>
          <p:cNvPr id="2" name="">
            <a:extLst xmlns:a="http://schemas.openxmlformats.org/drawingml/2006/main">
              <a:ext uri="{FF2B5EF4-FFF2-40B4-BE49-F238E27FC236}">
                <a16:creationId xmlns:a16="http://schemas.microsoft.com/office/drawing/2014/main" id="{AF92ACFC-5DAE-459E-8628-8281EAB541AD}"/>
              </a:ext>
            </a:extLst>
          </p:cNvPr>
          <p:cNvSpPr>
            <a:spLocks xmlns:a="http://schemas.openxmlformats.org/drawingml/2006/main" noGrp="1"/>
          </p:cNvSpPr>
          <p:nvPr/>
        </p:nvSpPr>
        <p:spPr>
          <a:xfrm xmlns:a="http://schemas.openxmlformats.org/drawingml/2006/main">
            <a:off x="571500" y="1304925"/>
            <a:ext cx="110490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E10FE54-8EFE-4956-B071-6EE85FDB643B}"/>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3"/>
                </a:solidFill>
                <a:latin typeface="Aptos"/>
                <a:ea typeface="Aptos"/>
                <a:cs typeface="Aptos"/>
              </a:defRPr>
            </a:pPr>
            <a:r>
              <a:rPr sz="1050" b="0">
                <a:solidFill>
                  <a:srgbClr val="526573"/>
                </a:solidFill>
                <a:latin typeface="Aptos"/>
                <a:ea typeface="Aptos"/>
                <a:cs typeface="Aptos"/>
              </a:rPr>
              <a:t>06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f71f996aedd402c"/>
          <a:stretch xmlns:a="http://schemas.openxmlformats.org/drawingml/2006/main"/>
        </p:blipFill>
        <p:spPr>
          <a:xfrm xmlns:a="http://schemas.openxmlformats.org/drawingml/2006/main">
            <a:off x="2889250" y="1552575"/>
            <a:ext cx="6413500" cy="38481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F1AC56E-C7D6-4F9D-B45E-7BBC73B30E00}"/>
              </a:ext>
            </a:extLst>
          </p:cNvPr>
          <p:cNvSpPr>
            <a:spLocks xmlns:a="http://schemas.openxmlformats.org/drawingml/2006/main" noGrp="1"/>
          </p:cNvSpPr>
          <p:nvPr/>
        </p:nvSpPr>
        <p:spPr>
          <a:xfrm xmlns:a="http://schemas.openxmlformats.org/drawingml/2006/main">
            <a:off x="609600" y="5610225"/>
            <a:ext cx="109347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B24DC36-A318-456D-86F5-AF3B81884238}"/>
              </a:ext>
            </a:extLst>
          </p:cNvPr>
          <p:cNvSpPr>
            <a:spLocks xmlns:a="http://schemas.openxmlformats.org/drawingml/2006/main" noGrp="1"/>
          </p:cNvSpPr>
          <p:nvPr/>
        </p:nvSpPr>
        <p:spPr>
          <a:xfrm xmlns:a="http://schemas.openxmlformats.org/drawingml/2006/main">
            <a:off x="609600" y="584835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6D83"/>
                </a:solidFill>
                <a:latin typeface="Aptos"/>
                <a:ea typeface="Aptos"/>
                <a:cs typeface="Aptos"/>
              </a:defRPr>
            </a:pPr>
            <a:r>
              <a:rPr sz="1725" b="1">
                <a:solidFill>
                  <a:srgbClr val="176D83"/>
                </a:solidFill>
                <a:latin typeface="Aptos"/>
                <a:ea typeface="Aptos"/>
                <a:cs typeface="Aptos"/>
              </a:rPr>
              <a:t>Read return together with drawdown, turnover and feasible-branch rate.</a:t>
            </a:r>
          </a:p>
        </p:txBody>
      </p:sp>
    </p:spTree>
    <p:extLst>
      <p:ext uri="{BB962C8B-B14F-4D97-AF65-F5344CB8AC3E}">
        <p14:creationId xmlns:p14="http://schemas.microsoft.com/office/powerpoint/2010/main" val="14161680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FE4168-969F-45DF-864D-E2AFC20FD28D}"/>
              </a:ext>
            </a:extLst>
          </p:cNvPr>
          <p:cNvSpPr>
            <a:spLocks xmlns:a="http://schemas.openxmlformats.org/drawingml/2006/main" noGrp="1"/>
          </p:cNvSpPr>
          <p:nvPr/>
        </p:nvSpPr>
        <p:spPr>
          <a:xfrm xmlns:a="http://schemas.openxmlformats.org/drawingml/2006/main">
            <a:off x="571500" y="4381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F3E"/>
                </a:solidFill>
                <a:latin typeface="Aptos"/>
                <a:ea typeface="Aptos"/>
                <a:cs typeface="Aptos"/>
              </a:defRPr>
            </a:pPr>
            <a:r>
              <a:rPr sz="2775" b="1">
                <a:solidFill>
                  <a:srgbClr val="172F3E"/>
                </a:solidFill>
                <a:latin typeface="Aptos"/>
                <a:ea typeface="Aptos"/>
                <a:cs typeface="Aptos"/>
              </a:rPr>
              <a:t>Gaussian: counterfactual cost is most useful</a:t>
            </a:r>
          </a:p>
        </p:txBody>
      </p:sp>
      <p:sp>
        <p:nvSpPr>
          <p:cNvPr id="2" name="">
            <a:extLst xmlns:a="http://schemas.openxmlformats.org/drawingml/2006/main">
              <a:ext uri="{FF2B5EF4-FFF2-40B4-BE49-F238E27FC236}">
                <a16:creationId xmlns:a16="http://schemas.microsoft.com/office/drawing/2014/main" id="{930360A0-67E7-4AD7-8920-9A376FDED588}"/>
              </a:ext>
            </a:extLst>
          </p:cNvPr>
          <p:cNvSpPr>
            <a:spLocks xmlns:a="http://schemas.openxmlformats.org/drawingml/2006/main" noGrp="1"/>
          </p:cNvSpPr>
          <p:nvPr/>
        </p:nvSpPr>
        <p:spPr>
          <a:xfrm xmlns:a="http://schemas.openxmlformats.org/drawingml/2006/main">
            <a:off x="571500" y="1304925"/>
            <a:ext cx="110490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2C75675-45A2-452C-B186-9412E733DD12}"/>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3"/>
                </a:solidFill>
                <a:latin typeface="Aptos"/>
                <a:ea typeface="Aptos"/>
                <a:cs typeface="Aptos"/>
              </a:defRPr>
            </a:pPr>
            <a:r>
              <a:rPr sz="1050" b="0">
                <a:solidFill>
                  <a:srgbClr val="526573"/>
                </a:solidFill>
                <a:latin typeface="Aptos"/>
                <a:ea typeface="Aptos"/>
                <a:cs typeface="Aptos"/>
              </a:rPr>
              <a:t>07</a:t>
            </a:r>
          </a:p>
        </p:txBody>
      </p:sp>
      <p:graphicFrame>
        <p:nvGraphicFramePr>
          <p:cNvPr id="11" name=""/>
          <p:cNvGraphicFramePr/>
          <p:nvPr/>
        </p:nvGraphicFramePr>
        <p:xfrm>
          <a:off xmlns:a="http://schemas.openxmlformats.org/drawingml/2006/main" x="609600" y="1809750"/>
          <a:ext xmlns:a="http://schemas.openxmlformats.org/drawingml/2006/main" cx="10953750" cy="2762250"/>
        </p:xfrm>
        <a:graphic xmlns:a="http://schemas.openxmlformats.org/drawingml/2006/main">
          <a:graphicData uri="http://schemas.openxmlformats.org/drawingml/2006/table">
            <a:tbl>
              <a:tblPr/>
              <a:tblGrid>
                <a:gridCol w="3333750"/>
                <a:gridCol w="2000250"/>
                <a:gridCol w="1809750"/>
                <a:gridCol w="1905000"/>
                <a:gridCol w="1905000"/>
              </a:tblGrid>
              <a:tr h="552450">
                <a:tc>
                  <a:txBody>
                    <a:bodyPr/>
                    <a:lstStyle/>
                    <a:p>
                      <a:r>
                        <a:rPr sz="1650" b="1">
                          <a:solidFill>
                            <a:srgbClr val="FFFFFF"/>
                          </a:solidFill>
                          <a:latin typeface="Aptos"/>
                          <a:ea typeface="Aptos"/>
                          <a:cs typeface="Aptos"/>
                        </a:rPr>
                        <a:t>Credit mode</a:t>
                      </a:r>
                    </a:p>
                  </a:txBody>
                  <a:tcPr marL="91440" marR="91440" marT="45720" marB="45720">
                    <a:solidFill>
                      <a:srgbClr val="172F3E"/>
                    </a:solidFill>
                  </a:tcPr>
                </a:tc>
                <a:tc>
                  <a:txBody>
                    <a:bodyPr/>
                    <a:lstStyle/>
                    <a:p>
                      <a:r>
                        <a:rPr sz="1650" b="1">
                          <a:solidFill>
                            <a:srgbClr val="FFFFFF"/>
                          </a:solidFill>
                          <a:latin typeface="Aptos"/>
                          <a:ea typeface="Aptos"/>
                          <a:cs typeface="Aptos"/>
                        </a:rPr>
                        <a:t>Rel. wealth</a:t>
                      </a:r>
                    </a:p>
                  </a:txBody>
                  <a:tcPr marL="91440" marR="91440" marT="45720" marB="45720">
                    <a:solidFill>
                      <a:srgbClr val="172F3E"/>
                    </a:solidFill>
                  </a:tcPr>
                </a:tc>
                <a:tc>
                  <a:txBody>
                    <a:bodyPr/>
                    <a:lstStyle/>
                    <a:p>
                      <a:r>
                        <a:rPr sz="1650" b="1">
                          <a:solidFill>
                            <a:srgbClr val="FFFFFF"/>
                          </a:solidFill>
                          <a:latin typeface="Aptos"/>
                          <a:ea typeface="Aptos"/>
                          <a:cs typeface="Aptos"/>
                        </a:rPr>
                        <a:t>Mean MDD</a:t>
                      </a:r>
                    </a:p>
                  </a:txBody>
                  <a:tcPr marL="91440" marR="91440" marT="45720" marB="45720">
                    <a:solidFill>
                      <a:srgbClr val="172F3E"/>
                    </a:solidFill>
                  </a:tcPr>
                </a:tc>
                <a:tc>
                  <a:txBody>
                    <a:bodyPr/>
                    <a:lstStyle/>
                    <a:p>
                      <a:r>
                        <a:rPr sz="1650" b="1">
                          <a:solidFill>
                            <a:srgbClr val="FFFFFF"/>
                          </a:solidFill>
                          <a:latin typeface="Aptos"/>
                          <a:ea typeface="Aptos"/>
                          <a:cs typeface="Aptos"/>
                        </a:rPr>
                        <a:t>Turnover</a:t>
                      </a:r>
                    </a:p>
                  </a:txBody>
                  <a:tcPr marL="91440" marR="91440" marT="45720" marB="45720">
                    <a:solidFill>
                      <a:srgbClr val="172F3E"/>
                    </a:solidFill>
                  </a:tcPr>
                </a:tc>
                <a:tc>
                  <a:txBody>
                    <a:bodyPr/>
                    <a:lstStyle/>
                    <a:p>
                      <a:r>
                        <a:rPr sz="1650" b="1">
                          <a:solidFill>
                            <a:srgbClr val="FFFFFF"/>
                          </a:solidFill>
                          <a:latin typeface="Aptos"/>
                          <a:ea typeface="Aptos"/>
                          <a:cs typeface="Aptos"/>
                        </a:rPr>
                        <a:t>DD feasible</a:t>
                      </a:r>
                    </a:p>
                  </a:txBody>
                  <a:tcPr marL="91440" marR="91440" marT="45720" marB="45720">
                    <a:solidFill>
                      <a:srgbClr val="172F3E"/>
                    </a:solidFill>
                  </a:tcPr>
                </a:tc>
              </a:tr>
              <a:tr h="552450">
                <a:tc>
                  <a:txBody>
                    <a:bodyPr/>
                    <a:lstStyle/>
                    <a:p>
                      <a:r>
                        <a:rPr sz="1650" b="0">
                          <a:solidFill>
                            <a:srgbClr val="172F3E"/>
                          </a:solidFill>
                          <a:latin typeface="Aptos"/>
                          <a:ea typeface="Aptos"/>
                          <a:cs typeface="Aptos"/>
                        </a:rPr>
                        <a:t>Standalone control</a:t>
                      </a:r>
                    </a:p>
                  </a:txBody>
                  <a:tcPr marL="91440" marR="91440" marT="45720" marB="45720">
                    <a:solidFill>
                      <a:srgbClr val="FFFFFF"/>
                    </a:solidFill>
                  </a:tcPr>
                </a:tc>
                <a:tc>
                  <a:txBody>
                    <a:bodyPr/>
                    <a:lstStyle/>
                    <a:p>
                      <a:r>
                        <a:rPr sz="1650" b="0">
                          <a:solidFill>
                            <a:srgbClr val="172F3E"/>
                          </a:solidFill>
                          <a:latin typeface="Aptos"/>
                          <a:ea typeface="Aptos"/>
                          <a:cs typeface="Aptos"/>
                        </a:rPr>
                        <a:t>+4.61%</a:t>
                      </a:r>
                    </a:p>
                  </a:txBody>
                  <a:tcPr marL="91440" marR="91440" marT="45720" marB="45720">
                    <a:solidFill>
                      <a:srgbClr val="FFFFFF"/>
                    </a:solidFill>
                  </a:tcPr>
                </a:tc>
                <a:tc>
                  <a:txBody>
                    <a:bodyPr/>
                    <a:lstStyle/>
                    <a:p>
                      <a:r>
                        <a:rPr sz="1650" b="0">
                          <a:solidFill>
                            <a:srgbClr val="172F3E"/>
                          </a:solidFill>
                          <a:latin typeface="Aptos"/>
                          <a:ea typeface="Aptos"/>
                          <a:cs typeface="Aptos"/>
                        </a:rPr>
                        <a:t>19.14%</a:t>
                      </a:r>
                    </a:p>
                  </a:txBody>
                  <a:tcPr marL="91440" marR="91440" marT="45720" marB="45720">
                    <a:solidFill>
                      <a:srgbClr val="FFFFFF"/>
                    </a:solidFill>
                  </a:tcPr>
                </a:tc>
                <a:tc>
                  <a:txBody>
                    <a:bodyPr/>
                    <a:lstStyle/>
                    <a:p>
                      <a:r>
                        <a:rPr sz="1650" b="0">
                          <a:solidFill>
                            <a:srgbClr val="172F3E"/>
                          </a:solidFill>
                          <a:latin typeface="Aptos"/>
                          <a:ea typeface="Aptos"/>
                          <a:cs typeface="Aptos"/>
                        </a:rPr>
                        <a:t>1.91%</a:t>
                      </a:r>
                    </a:p>
                  </a:txBody>
                  <a:tcPr marL="91440" marR="91440" marT="45720" marB="45720">
                    <a:solidFill>
                      <a:srgbClr val="FFFFFF"/>
                    </a:solidFill>
                  </a:tcPr>
                </a:tc>
                <a:tc>
                  <a:txBody>
                    <a:bodyPr/>
                    <a:lstStyle/>
                    <a:p>
                      <a:r>
                        <a:rPr sz="1650" b="0">
                          <a:solidFill>
                            <a:srgbClr val="172F3E"/>
                          </a:solidFill>
                          <a:latin typeface="Aptos"/>
                          <a:ea typeface="Aptos"/>
                          <a:cs typeface="Aptos"/>
                        </a:rPr>
                        <a:t>15%</a:t>
                      </a:r>
                    </a:p>
                  </a:txBody>
                  <a:tcPr marL="91440" marR="91440" marT="45720" marB="45720">
                    <a:solidFill>
                      <a:srgbClr val="FFFFFF"/>
                    </a:solidFill>
                  </a:tcPr>
                </a:tc>
              </a:tr>
              <a:tr h="552450">
                <a:tc>
                  <a:txBody>
                    <a:bodyPr/>
                    <a:lstStyle/>
                    <a:p>
                      <a:r>
                        <a:rPr sz="1650" b="0">
                          <a:solidFill>
                            <a:srgbClr val="172F3E"/>
                          </a:solidFill>
                          <a:latin typeface="Aptos"/>
                          <a:ea typeface="Aptos"/>
                          <a:cs typeface="Aptos"/>
                        </a:rPr>
                        <a:t>CF Reward</a:t>
                      </a:r>
                    </a:p>
                  </a:txBody>
                  <a:tcPr marL="91440" marR="91440" marT="45720" marB="45720">
                    <a:solidFill>
                      <a:srgbClr val="F1F6F7"/>
                    </a:solidFill>
                  </a:tcPr>
                </a:tc>
                <a:tc>
                  <a:txBody>
                    <a:bodyPr/>
                    <a:lstStyle/>
                    <a:p>
                      <a:r>
                        <a:rPr sz="1650" b="0">
                          <a:solidFill>
                            <a:srgbClr val="172F3E"/>
                          </a:solidFill>
                          <a:latin typeface="Aptos"/>
                          <a:ea typeface="Aptos"/>
                          <a:cs typeface="Aptos"/>
                        </a:rPr>
                        <a:t>+4.61%</a:t>
                      </a:r>
                    </a:p>
                  </a:txBody>
                  <a:tcPr marL="91440" marR="91440" marT="45720" marB="45720">
                    <a:solidFill>
                      <a:srgbClr val="F1F6F7"/>
                    </a:solidFill>
                  </a:tcPr>
                </a:tc>
                <a:tc>
                  <a:txBody>
                    <a:bodyPr/>
                    <a:lstStyle/>
                    <a:p>
                      <a:r>
                        <a:rPr sz="1650" b="0">
                          <a:solidFill>
                            <a:srgbClr val="172F3E"/>
                          </a:solidFill>
                          <a:latin typeface="Aptos"/>
                          <a:ea typeface="Aptos"/>
                          <a:cs typeface="Aptos"/>
                        </a:rPr>
                        <a:t>19.20%</a:t>
                      </a:r>
                    </a:p>
                  </a:txBody>
                  <a:tcPr marL="91440" marR="91440" marT="45720" marB="45720">
                    <a:solidFill>
                      <a:srgbClr val="F1F6F7"/>
                    </a:solidFill>
                  </a:tcPr>
                </a:tc>
                <a:tc>
                  <a:txBody>
                    <a:bodyPr/>
                    <a:lstStyle/>
                    <a:p>
                      <a:r>
                        <a:rPr sz="1650" b="0">
                          <a:solidFill>
                            <a:srgbClr val="172F3E"/>
                          </a:solidFill>
                          <a:latin typeface="Aptos"/>
                          <a:ea typeface="Aptos"/>
                          <a:cs typeface="Aptos"/>
                        </a:rPr>
                        <a:t>0.96%</a:t>
                      </a:r>
                    </a:p>
                  </a:txBody>
                  <a:tcPr marL="91440" marR="91440" marT="45720" marB="45720">
                    <a:solidFill>
                      <a:srgbClr val="F1F6F7"/>
                    </a:solidFill>
                  </a:tcPr>
                </a:tc>
                <a:tc>
                  <a:txBody>
                    <a:bodyPr/>
                    <a:lstStyle/>
                    <a:p>
                      <a:r>
                        <a:rPr sz="1650" b="0">
                          <a:solidFill>
                            <a:srgbClr val="172F3E"/>
                          </a:solidFill>
                          <a:latin typeface="Aptos"/>
                          <a:ea typeface="Aptos"/>
                          <a:cs typeface="Aptos"/>
                        </a:rPr>
                        <a:t>10%</a:t>
                      </a:r>
                    </a:p>
                  </a:txBody>
                  <a:tcPr marL="91440" marR="91440" marT="45720" marB="45720">
                    <a:solidFill>
                      <a:srgbClr val="F1F6F7"/>
                    </a:solidFill>
                  </a:tcPr>
                </a:tc>
              </a:tr>
              <a:tr h="552450">
                <a:tc>
                  <a:txBody>
                    <a:bodyPr/>
                    <a:lstStyle/>
                    <a:p>
                      <a:r>
                        <a:rPr sz="1650" b="0">
                          <a:solidFill>
                            <a:srgbClr val="172F3E"/>
                          </a:solidFill>
                          <a:latin typeface="Aptos"/>
                          <a:ea typeface="Aptos"/>
                          <a:cs typeface="Aptos"/>
                        </a:rPr>
                        <a:t>CF Cost</a:t>
                      </a:r>
                    </a:p>
                  </a:txBody>
                  <a:tcPr marL="91440" marR="91440" marT="45720" marB="45720">
                    <a:solidFill>
                      <a:srgbClr val="FFFFFF"/>
                    </a:solidFill>
                  </a:tcPr>
                </a:tc>
                <a:tc>
                  <a:txBody>
                    <a:bodyPr/>
                    <a:lstStyle/>
                    <a:p>
                      <a:r>
                        <a:rPr sz="1650" b="0">
                          <a:solidFill>
                            <a:srgbClr val="172F3E"/>
                          </a:solidFill>
                          <a:latin typeface="Aptos"/>
                          <a:ea typeface="Aptos"/>
                          <a:cs typeface="Aptos"/>
                        </a:rPr>
                        <a:t>+4.97%</a:t>
                      </a:r>
                    </a:p>
                  </a:txBody>
                  <a:tcPr marL="91440" marR="91440" marT="45720" marB="45720">
                    <a:solidFill>
                      <a:srgbClr val="FFFFFF"/>
                    </a:solidFill>
                  </a:tcPr>
                </a:tc>
                <a:tc>
                  <a:txBody>
                    <a:bodyPr/>
                    <a:lstStyle/>
                    <a:p>
                      <a:r>
                        <a:rPr sz="1650" b="0">
                          <a:solidFill>
                            <a:srgbClr val="172F3E"/>
                          </a:solidFill>
                          <a:latin typeface="Aptos"/>
                          <a:ea typeface="Aptos"/>
                          <a:cs typeface="Aptos"/>
                        </a:rPr>
                        <a:t>18.03%</a:t>
                      </a:r>
                    </a:p>
                  </a:txBody>
                  <a:tcPr marL="91440" marR="91440" marT="45720" marB="45720">
                    <a:solidFill>
                      <a:srgbClr val="FFFFFF"/>
                    </a:solidFill>
                  </a:tcPr>
                </a:tc>
                <a:tc>
                  <a:txBody>
                    <a:bodyPr/>
                    <a:lstStyle/>
                    <a:p>
                      <a:r>
                        <a:rPr sz="1650" b="0">
                          <a:solidFill>
                            <a:srgbClr val="172F3E"/>
                          </a:solidFill>
                          <a:latin typeface="Aptos"/>
                          <a:ea typeface="Aptos"/>
                          <a:cs typeface="Aptos"/>
                        </a:rPr>
                        <a:t>7.22%</a:t>
                      </a:r>
                    </a:p>
                  </a:txBody>
                  <a:tcPr marL="91440" marR="91440" marT="45720" marB="45720">
                    <a:solidFill>
                      <a:srgbClr val="FFFFFF"/>
                    </a:solidFill>
                  </a:tcPr>
                </a:tc>
                <a:tc>
                  <a:txBody>
                    <a:bodyPr/>
                    <a:lstStyle/>
                    <a:p>
                      <a:r>
                        <a:rPr sz="1650" b="0">
                          <a:solidFill>
                            <a:srgbClr val="172F3E"/>
                          </a:solidFill>
                          <a:latin typeface="Aptos"/>
                          <a:ea typeface="Aptos"/>
                          <a:cs typeface="Aptos"/>
                        </a:rPr>
                        <a:t>30%</a:t>
                      </a:r>
                    </a:p>
                  </a:txBody>
                  <a:tcPr marL="91440" marR="91440" marT="45720" marB="45720">
                    <a:solidFill>
                      <a:srgbClr val="FFFFFF"/>
                    </a:solidFill>
                  </a:tcPr>
                </a:tc>
              </a:tr>
              <a:tr h="552450">
                <a:tc>
                  <a:txBody>
                    <a:bodyPr/>
                    <a:lstStyle/>
                    <a:p>
                      <a:r>
                        <a:rPr sz="1650" b="0">
                          <a:solidFill>
                            <a:srgbClr val="172F3E"/>
                          </a:solidFill>
                          <a:latin typeface="Aptos"/>
                          <a:ea typeface="Aptos"/>
                          <a:cs typeface="Aptos"/>
                        </a:rPr>
                        <a:t>CF Reward+Cost</a:t>
                      </a:r>
                    </a:p>
                  </a:txBody>
                  <a:tcPr marL="91440" marR="91440" marT="45720" marB="45720">
                    <a:solidFill>
                      <a:srgbClr val="F1F6F7"/>
                    </a:solidFill>
                  </a:tcPr>
                </a:tc>
                <a:tc>
                  <a:txBody>
                    <a:bodyPr/>
                    <a:lstStyle/>
                    <a:p>
                      <a:r>
                        <a:rPr sz="1650" b="0">
                          <a:solidFill>
                            <a:srgbClr val="172F3E"/>
                          </a:solidFill>
                          <a:latin typeface="Aptos"/>
                          <a:ea typeface="Aptos"/>
                          <a:cs typeface="Aptos"/>
                        </a:rPr>
                        <a:t>+4.13%</a:t>
                      </a:r>
                    </a:p>
                  </a:txBody>
                  <a:tcPr marL="91440" marR="91440" marT="45720" marB="45720">
                    <a:solidFill>
                      <a:srgbClr val="F1F6F7"/>
                    </a:solidFill>
                  </a:tcPr>
                </a:tc>
                <a:tc>
                  <a:txBody>
                    <a:bodyPr/>
                    <a:lstStyle/>
                    <a:p>
                      <a:r>
                        <a:rPr sz="1650" b="0">
                          <a:solidFill>
                            <a:srgbClr val="172F3E"/>
                          </a:solidFill>
                          <a:latin typeface="Aptos"/>
                          <a:ea typeface="Aptos"/>
                          <a:cs typeface="Aptos"/>
                        </a:rPr>
                        <a:t>18.66%</a:t>
                      </a:r>
                    </a:p>
                  </a:txBody>
                  <a:tcPr marL="91440" marR="91440" marT="45720" marB="45720">
                    <a:solidFill>
                      <a:srgbClr val="F1F6F7"/>
                    </a:solidFill>
                  </a:tcPr>
                </a:tc>
                <a:tc>
                  <a:txBody>
                    <a:bodyPr/>
                    <a:lstStyle/>
                    <a:p>
                      <a:r>
                        <a:rPr sz="1650" b="0">
                          <a:solidFill>
                            <a:srgbClr val="172F3E"/>
                          </a:solidFill>
                          <a:latin typeface="Aptos"/>
                          <a:ea typeface="Aptos"/>
                          <a:cs typeface="Aptos"/>
                        </a:rPr>
                        <a:t>4.25%</a:t>
                      </a:r>
                    </a:p>
                  </a:txBody>
                  <a:tcPr marL="91440" marR="91440" marT="45720" marB="45720">
                    <a:solidFill>
                      <a:srgbClr val="F1F6F7"/>
                    </a:solidFill>
                  </a:tcPr>
                </a:tc>
                <a:tc>
                  <a:txBody>
                    <a:bodyPr/>
                    <a:lstStyle/>
                    <a:p>
                      <a:r>
                        <a:rPr sz="1650" b="0">
                          <a:solidFill>
                            <a:srgbClr val="172F3E"/>
                          </a:solidFill>
                          <a:latin typeface="Aptos"/>
                          <a:ea typeface="Aptos"/>
                          <a:cs typeface="Aptos"/>
                        </a:rPr>
                        <a:t>10%</a:t>
                      </a:r>
                    </a:p>
                  </a:txBody>
                  <a:tcPr marL="91440" marR="91440" marT="45720" marB="45720">
                    <a:solidFill>
                      <a:srgbClr val="F1F6F7"/>
                    </a:solidFill>
                  </a:tcPr>
                </a:tc>
              </a:tr>
            </a:tbl>
          </a:graphicData>
        </a:graphic>
      </p:graphicFrame>
      <p:sp>
        <p:nvSpPr>
          <p:cNvPr id="5" name="">
            <a:extLst xmlns:a="http://schemas.openxmlformats.org/drawingml/2006/main">
              <a:ext uri="{FF2B5EF4-FFF2-40B4-BE49-F238E27FC236}">
                <a16:creationId xmlns:a16="http://schemas.microsoft.com/office/drawing/2014/main" id="{0BE35262-BA9D-4017-BD4B-905D70714D42}"/>
              </a:ext>
            </a:extLst>
          </p:cNvPr>
          <p:cNvSpPr>
            <a:spLocks xmlns:a="http://schemas.openxmlformats.org/drawingml/2006/main" noGrp="1"/>
          </p:cNvSpPr>
          <p:nvPr/>
        </p:nvSpPr>
        <p:spPr>
          <a:xfrm xmlns:a="http://schemas.openxmlformats.org/drawingml/2006/main">
            <a:off x="609600" y="48196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573"/>
                </a:solidFill>
                <a:latin typeface="Aptos"/>
                <a:ea typeface="Aptos"/>
                <a:cs typeface="Aptos"/>
              </a:defRPr>
            </a:pPr>
            <a:r>
              <a:rPr sz="1425" b="0">
                <a:solidFill>
                  <a:srgbClr val="526573"/>
                </a:solidFill>
                <a:latin typeface="Aptos"/>
                <a:ea typeface="Aptos"/>
                <a:cs typeface="Aptos"/>
              </a:rPr>
              <a:t>Turnover = mean full-L1 reallocation per step; not transaction-cost percentage.</a:t>
            </a:r>
          </a:p>
        </p:txBody>
      </p:sp>
      <p:sp>
        <p:nvSpPr>
          <p:cNvPr id="6" name="">
            <a:extLst xmlns:a="http://schemas.openxmlformats.org/drawingml/2006/main">
              <a:ext uri="{FF2B5EF4-FFF2-40B4-BE49-F238E27FC236}">
                <a16:creationId xmlns:a16="http://schemas.microsoft.com/office/drawing/2014/main" id="{AF188517-53F8-47BA-9BC1-401CFACA6F58}"/>
              </a:ext>
            </a:extLst>
          </p:cNvPr>
          <p:cNvSpPr>
            <a:spLocks xmlns:a="http://schemas.openxmlformats.org/drawingml/2006/main" noGrp="1"/>
          </p:cNvSpPr>
          <p:nvPr/>
        </p:nvSpPr>
        <p:spPr>
          <a:xfrm xmlns:a="http://schemas.openxmlformats.org/drawingml/2006/main">
            <a:off x="609600" y="5610225"/>
            <a:ext cx="109347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AC2DF0-F55C-431B-9A9E-FC75DC12F30C}"/>
              </a:ext>
            </a:extLst>
          </p:cNvPr>
          <p:cNvSpPr>
            <a:spLocks xmlns:a="http://schemas.openxmlformats.org/drawingml/2006/main" noGrp="1"/>
          </p:cNvSpPr>
          <p:nvPr/>
        </p:nvSpPr>
        <p:spPr>
          <a:xfrm xmlns:a="http://schemas.openxmlformats.org/drawingml/2006/main">
            <a:off x="609600" y="584835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6D83"/>
                </a:solidFill>
                <a:latin typeface="Aptos"/>
                <a:ea typeface="Aptos"/>
                <a:cs typeface="Aptos"/>
              </a:defRPr>
            </a:pPr>
            <a:r>
              <a:rPr sz="1725" b="1">
                <a:solidFill>
                  <a:srgbClr val="176D83"/>
                </a:solidFill>
                <a:latin typeface="Aptos"/>
                <a:ea typeface="Aptos"/>
                <a:cs typeface="Aptos"/>
              </a:rPr>
              <a:t>Risk improves, but 70% of test branches still miss the drawdown-cost target.</a:t>
            </a:r>
          </a:p>
        </p:txBody>
      </p:sp>
    </p:spTree>
    <p:extLst>
      <p:ext uri="{BB962C8B-B14F-4D97-AF65-F5344CB8AC3E}">
        <p14:creationId xmlns:p14="http://schemas.microsoft.com/office/powerpoint/2010/main" val="8459775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39FBB0-1CE4-4F80-835D-8E0BE77C662F}"/>
              </a:ext>
            </a:extLst>
          </p:cNvPr>
          <p:cNvSpPr>
            <a:spLocks xmlns:a="http://schemas.openxmlformats.org/drawingml/2006/main" noGrp="1"/>
          </p:cNvSpPr>
          <p:nvPr/>
        </p:nvSpPr>
        <p:spPr>
          <a:xfrm xmlns:a="http://schemas.openxmlformats.org/drawingml/2006/main">
            <a:off x="571500" y="4381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F3E"/>
                </a:solidFill>
                <a:latin typeface="Aptos"/>
                <a:ea typeface="Aptos"/>
                <a:cs typeface="Aptos"/>
              </a:defRPr>
            </a:pPr>
            <a:r>
              <a:rPr sz="2775" b="1">
                <a:solidFill>
                  <a:srgbClr val="172F3E"/>
                </a:solidFill>
                <a:latin typeface="Aptos"/>
                <a:ea typeface="Aptos"/>
                <a:cs typeface="Aptos"/>
              </a:rPr>
              <a:t>Dirichlet: highest return, only a small gain</a:t>
            </a:r>
          </a:p>
        </p:txBody>
      </p:sp>
      <p:sp>
        <p:nvSpPr>
          <p:cNvPr id="2" name="">
            <a:extLst xmlns:a="http://schemas.openxmlformats.org/drawingml/2006/main">
              <a:ext uri="{FF2B5EF4-FFF2-40B4-BE49-F238E27FC236}">
                <a16:creationId xmlns:a16="http://schemas.microsoft.com/office/drawing/2014/main" id="{6650F669-D136-4050-A9B3-ECD6F9650AE9}"/>
              </a:ext>
            </a:extLst>
          </p:cNvPr>
          <p:cNvSpPr>
            <a:spLocks xmlns:a="http://schemas.openxmlformats.org/drawingml/2006/main" noGrp="1"/>
          </p:cNvSpPr>
          <p:nvPr/>
        </p:nvSpPr>
        <p:spPr>
          <a:xfrm xmlns:a="http://schemas.openxmlformats.org/drawingml/2006/main">
            <a:off x="571500" y="1304925"/>
            <a:ext cx="110490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E717371-6412-4023-BFCA-930D89000CCB}"/>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3"/>
                </a:solidFill>
                <a:latin typeface="Aptos"/>
                <a:ea typeface="Aptos"/>
                <a:cs typeface="Aptos"/>
              </a:defRPr>
            </a:pPr>
            <a:r>
              <a:rPr sz="1050" b="0">
                <a:solidFill>
                  <a:srgbClr val="526573"/>
                </a:solidFill>
                <a:latin typeface="Aptos"/>
                <a:ea typeface="Aptos"/>
                <a:cs typeface="Aptos"/>
              </a:rPr>
              <a:t>08</a:t>
            </a:r>
          </a:p>
        </p:txBody>
      </p:sp>
      <p:graphicFrame>
        <p:nvGraphicFramePr>
          <p:cNvPr id="11" name=""/>
          <p:cNvGraphicFramePr/>
          <p:nvPr/>
        </p:nvGraphicFramePr>
        <p:xfrm>
          <a:off xmlns:a="http://schemas.openxmlformats.org/drawingml/2006/main" x="609600" y="1809750"/>
          <a:ext xmlns:a="http://schemas.openxmlformats.org/drawingml/2006/main" cx="10953750" cy="2762250"/>
        </p:xfrm>
        <a:graphic xmlns:a="http://schemas.openxmlformats.org/drawingml/2006/main">
          <a:graphicData uri="http://schemas.openxmlformats.org/drawingml/2006/table">
            <a:tbl>
              <a:tblPr/>
              <a:tblGrid>
                <a:gridCol w="3333750"/>
                <a:gridCol w="2000250"/>
                <a:gridCol w="1809750"/>
                <a:gridCol w="1905000"/>
                <a:gridCol w="1905000"/>
              </a:tblGrid>
              <a:tr h="552450">
                <a:tc>
                  <a:txBody>
                    <a:bodyPr/>
                    <a:lstStyle/>
                    <a:p>
                      <a:r>
                        <a:rPr sz="1650" b="1">
                          <a:solidFill>
                            <a:srgbClr val="FFFFFF"/>
                          </a:solidFill>
                          <a:latin typeface="Aptos"/>
                          <a:ea typeface="Aptos"/>
                          <a:cs typeface="Aptos"/>
                        </a:rPr>
                        <a:t>Credit mode</a:t>
                      </a:r>
                    </a:p>
                  </a:txBody>
                  <a:tcPr marL="91440" marR="91440" marT="45720" marB="45720">
                    <a:solidFill>
                      <a:srgbClr val="172F3E"/>
                    </a:solidFill>
                  </a:tcPr>
                </a:tc>
                <a:tc>
                  <a:txBody>
                    <a:bodyPr/>
                    <a:lstStyle/>
                    <a:p>
                      <a:r>
                        <a:rPr sz="1650" b="1">
                          <a:solidFill>
                            <a:srgbClr val="FFFFFF"/>
                          </a:solidFill>
                          <a:latin typeface="Aptos"/>
                          <a:ea typeface="Aptos"/>
                          <a:cs typeface="Aptos"/>
                        </a:rPr>
                        <a:t>Rel. wealth</a:t>
                      </a:r>
                    </a:p>
                  </a:txBody>
                  <a:tcPr marL="91440" marR="91440" marT="45720" marB="45720">
                    <a:solidFill>
                      <a:srgbClr val="172F3E"/>
                    </a:solidFill>
                  </a:tcPr>
                </a:tc>
                <a:tc>
                  <a:txBody>
                    <a:bodyPr/>
                    <a:lstStyle/>
                    <a:p>
                      <a:r>
                        <a:rPr sz="1650" b="1">
                          <a:solidFill>
                            <a:srgbClr val="FFFFFF"/>
                          </a:solidFill>
                          <a:latin typeface="Aptos"/>
                          <a:ea typeface="Aptos"/>
                          <a:cs typeface="Aptos"/>
                        </a:rPr>
                        <a:t>Mean MDD</a:t>
                      </a:r>
                    </a:p>
                  </a:txBody>
                  <a:tcPr marL="91440" marR="91440" marT="45720" marB="45720">
                    <a:solidFill>
                      <a:srgbClr val="172F3E"/>
                    </a:solidFill>
                  </a:tcPr>
                </a:tc>
                <a:tc>
                  <a:txBody>
                    <a:bodyPr/>
                    <a:lstStyle/>
                    <a:p>
                      <a:r>
                        <a:rPr sz="1650" b="1">
                          <a:solidFill>
                            <a:srgbClr val="FFFFFF"/>
                          </a:solidFill>
                          <a:latin typeface="Aptos"/>
                          <a:ea typeface="Aptos"/>
                          <a:cs typeface="Aptos"/>
                        </a:rPr>
                        <a:t>Turnover</a:t>
                      </a:r>
                    </a:p>
                  </a:txBody>
                  <a:tcPr marL="91440" marR="91440" marT="45720" marB="45720">
                    <a:solidFill>
                      <a:srgbClr val="172F3E"/>
                    </a:solidFill>
                  </a:tcPr>
                </a:tc>
                <a:tc>
                  <a:txBody>
                    <a:bodyPr/>
                    <a:lstStyle/>
                    <a:p>
                      <a:r>
                        <a:rPr sz="1650" b="1">
                          <a:solidFill>
                            <a:srgbClr val="FFFFFF"/>
                          </a:solidFill>
                          <a:latin typeface="Aptos"/>
                          <a:ea typeface="Aptos"/>
                          <a:cs typeface="Aptos"/>
                        </a:rPr>
                        <a:t>DD feasible</a:t>
                      </a:r>
                    </a:p>
                  </a:txBody>
                  <a:tcPr marL="91440" marR="91440" marT="45720" marB="45720">
                    <a:solidFill>
                      <a:srgbClr val="172F3E"/>
                    </a:solidFill>
                  </a:tcPr>
                </a:tc>
              </a:tr>
              <a:tr h="552450">
                <a:tc>
                  <a:txBody>
                    <a:bodyPr/>
                    <a:lstStyle/>
                    <a:p>
                      <a:r>
                        <a:rPr sz="1650" b="0">
                          <a:solidFill>
                            <a:srgbClr val="172F3E"/>
                          </a:solidFill>
                          <a:latin typeface="Aptos"/>
                          <a:ea typeface="Aptos"/>
                          <a:cs typeface="Aptos"/>
                        </a:rPr>
                        <a:t>Standalone control</a:t>
                      </a:r>
                    </a:p>
                  </a:txBody>
                  <a:tcPr marL="91440" marR="91440" marT="45720" marB="45720">
                    <a:solidFill>
                      <a:srgbClr val="FFFFFF"/>
                    </a:solidFill>
                  </a:tcPr>
                </a:tc>
                <a:tc>
                  <a:txBody>
                    <a:bodyPr/>
                    <a:lstStyle/>
                    <a:p>
                      <a:r>
                        <a:rPr sz="1650" b="0">
                          <a:solidFill>
                            <a:srgbClr val="172F3E"/>
                          </a:solidFill>
                          <a:latin typeface="Aptos"/>
                          <a:ea typeface="Aptos"/>
                          <a:cs typeface="Aptos"/>
                        </a:rPr>
                        <a:t>+8.06%</a:t>
                      </a:r>
                    </a:p>
                  </a:txBody>
                  <a:tcPr marL="91440" marR="91440" marT="45720" marB="45720">
                    <a:solidFill>
                      <a:srgbClr val="FFFFFF"/>
                    </a:solidFill>
                  </a:tcPr>
                </a:tc>
                <a:tc>
                  <a:txBody>
                    <a:bodyPr/>
                    <a:lstStyle/>
                    <a:p>
                      <a:r>
                        <a:rPr sz="1650" b="0">
                          <a:solidFill>
                            <a:srgbClr val="172F3E"/>
                          </a:solidFill>
                          <a:latin typeface="Aptos"/>
                          <a:ea typeface="Aptos"/>
                          <a:cs typeface="Aptos"/>
                        </a:rPr>
                        <a:t>16.73%</a:t>
                      </a:r>
                    </a:p>
                  </a:txBody>
                  <a:tcPr marL="91440" marR="91440" marT="45720" marB="45720">
                    <a:solidFill>
                      <a:srgbClr val="FFFFFF"/>
                    </a:solidFill>
                  </a:tcPr>
                </a:tc>
                <a:tc>
                  <a:txBody>
                    <a:bodyPr/>
                    <a:lstStyle/>
                    <a:p>
                      <a:r>
                        <a:rPr sz="1650" b="0">
                          <a:solidFill>
                            <a:srgbClr val="172F3E"/>
                          </a:solidFill>
                          <a:latin typeface="Aptos"/>
                          <a:ea typeface="Aptos"/>
                          <a:cs typeface="Aptos"/>
                        </a:rPr>
                        <a:t>14.27%</a:t>
                      </a:r>
                    </a:p>
                  </a:txBody>
                  <a:tcPr marL="91440" marR="91440" marT="45720" marB="45720">
                    <a:solidFill>
                      <a:srgbClr val="FFFFFF"/>
                    </a:solidFill>
                  </a:tcPr>
                </a:tc>
                <a:tc>
                  <a:txBody>
                    <a:bodyPr/>
                    <a:lstStyle/>
                    <a:p>
                      <a:r>
                        <a:rPr sz="1650" b="0">
                          <a:solidFill>
                            <a:srgbClr val="172F3E"/>
                          </a:solidFill>
                          <a:latin typeface="Aptos"/>
                          <a:ea typeface="Aptos"/>
                          <a:cs typeface="Aptos"/>
                        </a:rPr>
                        <a:t>40%</a:t>
                      </a:r>
                    </a:p>
                  </a:txBody>
                  <a:tcPr marL="91440" marR="91440" marT="45720" marB="45720">
                    <a:solidFill>
                      <a:srgbClr val="FFFFFF"/>
                    </a:solidFill>
                  </a:tcPr>
                </a:tc>
              </a:tr>
              <a:tr h="552450">
                <a:tc>
                  <a:txBody>
                    <a:bodyPr/>
                    <a:lstStyle/>
                    <a:p>
                      <a:r>
                        <a:rPr sz="1650" b="0">
                          <a:solidFill>
                            <a:srgbClr val="172F3E"/>
                          </a:solidFill>
                          <a:latin typeface="Aptos"/>
                          <a:ea typeface="Aptos"/>
                          <a:cs typeface="Aptos"/>
                        </a:rPr>
                        <a:t>CF Reward</a:t>
                      </a:r>
                    </a:p>
                  </a:txBody>
                  <a:tcPr marL="91440" marR="91440" marT="45720" marB="45720">
                    <a:solidFill>
                      <a:srgbClr val="F1F6F7"/>
                    </a:solidFill>
                  </a:tcPr>
                </a:tc>
                <a:tc>
                  <a:txBody>
                    <a:bodyPr/>
                    <a:lstStyle/>
                    <a:p>
                      <a:r>
                        <a:rPr sz="1650" b="0">
                          <a:solidFill>
                            <a:srgbClr val="172F3E"/>
                          </a:solidFill>
                          <a:latin typeface="Aptos"/>
                          <a:ea typeface="Aptos"/>
                          <a:cs typeface="Aptos"/>
                        </a:rPr>
                        <a:t>+8.18%</a:t>
                      </a:r>
                    </a:p>
                  </a:txBody>
                  <a:tcPr marL="91440" marR="91440" marT="45720" marB="45720">
                    <a:solidFill>
                      <a:srgbClr val="F1F6F7"/>
                    </a:solidFill>
                  </a:tcPr>
                </a:tc>
                <a:tc>
                  <a:txBody>
                    <a:bodyPr/>
                    <a:lstStyle/>
                    <a:p>
                      <a:r>
                        <a:rPr sz="1650" b="0">
                          <a:solidFill>
                            <a:srgbClr val="172F3E"/>
                          </a:solidFill>
                          <a:latin typeface="Aptos"/>
                          <a:ea typeface="Aptos"/>
                          <a:cs typeface="Aptos"/>
                        </a:rPr>
                        <a:t>16.52%</a:t>
                      </a:r>
                    </a:p>
                  </a:txBody>
                  <a:tcPr marL="91440" marR="91440" marT="45720" marB="45720">
                    <a:solidFill>
                      <a:srgbClr val="F1F6F7"/>
                    </a:solidFill>
                  </a:tcPr>
                </a:tc>
                <a:tc>
                  <a:txBody>
                    <a:bodyPr/>
                    <a:lstStyle/>
                    <a:p>
                      <a:r>
                        <a:rPr sz="1650" b="0">
                          <a:solidFill>
                            <a:srgbClr val="172F3E"/>
                          </a:solidFill>
                          <a:latin typeface="Aptos"/>
                          <a:ea typeface="Aptos"/>
                          <a:cs typeface="Aptos"/>
                        </a:rPr>
                        <a:t>24.00%</a:t>
                      </a:r>
                    </a:p>
                  </a:txBody>
                  <a:tcPr marL="91440" marR="91440" marT="45720" marB="45720">
                    <a:solidFill>
                      <a:srgbClr val="F1F6F7"/>
                    </a:solidFill>
                  </a:tcPr>
                </a:tc>
                <a:tc>
                  <a:txBody>
                    <a:bodyPr/>
                    <a:lstStyle/>
                    <a:p>
                      <a:r>
                        <a:rPr sz="1650" b="0">
                          <a:solidFill>
                            <a:srgbClr val="172F3E"/>
                          </a:solidFill>
                          <a:latin typeface="Aptos"/>
                          <a:ea typeface="Aptos"/>
                          <a:cs typeface="Aptos"/>
                        </a:rPr>
                        <a:t>45%</a:t>
                      </a:r>
                    </a:p>
                  </a:txBody>
                  <a:tcPr marL="91440" marR="91440" marT="45720" marB="45720">
                    <a:solidFill>
                      <a:srgbClr val="F1F6F7"/>
                    </a:solidFill>
                  </a:tcPr>
                </a:tc>
              </a:tr>
              <a:tr h="552450">
                <a:tc>
                  <a:txBody>
                    <a:bodyPr/>
                    <a:lstStyle/>
                    <a:p>
                      <a:r>
                        <a:rPr sz="1650" b="0">
                          <a:solidFill>
                            <a:srgbClr val="172F3E"/>
                          </a:solidFill>
                          <a:latin typeface="Aptos"/>
                          <a:ea typeface="Aptos"/>
                          <a:cs typeface="Aptos"/>
                        </a:rPr>
                        <a:t>CF Cost</a:t>
                      </a:r>
                    </a:p>
                  </a:txBody>
                  <a:tcPr marL="91440" marR="91440" marT="45720" marB="45720">
                    <a:solidFill>
                      <a:srgbClr val="FFFFFF"/>
                    </a:solidFill>
                  </a:tcPr>
                </a:tc>
                <a:tc>
                  <a:txBody>
                    <a:bodyPr/>
                    <a:lstStyle/>
                    <a:p>
                      <a:r>
                        <a:rPr sz="1650" b="0">
                          <a:solidFill>
                            <a:srgbClr val="172F3E"/>
                          </a:solidFill>
                          <a:latin typeface="Aptos"/>
                          <a:ea typeface="Aptos"/>
                          <a:cs typeface="Aptos"/>
                        </a:rPr>
                        <a:t>+6.18%</a:t>
                      </a:r>
                    </a:p>
                  </a:txBody>
                  <a:tcPr marL="91440" marR="91440" marT="45720" marB="45720">
                    <a:solidFill>
                      <a:srgbClr val="FFFFFF"/>
                    </a:solidFill>
                  </a:tcPr>
                </a:tc>
                <a:tc>
                  <a:txBody>
                    <a:bodyPr/>
                    <a:lstStyle/>
                    <a:p>
                      <a:r>
                        <a:rPr sz="1650" b="0">
                          <a:solidFill>
                            <a:srgbClr val="172F3E"/>
                          </a:solidFill>
                          <a:latin typeface="Aptos"/>
                          <a:ea typeface="Aptos"/>
                          <a:cs typeface="Aptos"/>
                        </a:rPr>
                        <a:t>17.00%</a:t>
                      </a:r>
                    </a:p>
                  </a:txBody>
                  <a:tcPr marL="91440" marR="91440" marT="45720" marB="45720">
                    <a:solidFill>
                      <a:srgbClr val="FFFFFF"/>
                    </a:solidFill>
                  </a:tcPr>
                </a:tc>
                <a:tc>
                  <a:txBody>
                    <a:bodyPr/>
                    <a:lstStyle/>
                    <a:p>
                      <a:r>
                        <a:rPr sz="1650" b="0">
                          <a:solidFill>
                            <a:srgbClr val="172F3E"/>
                          </a:solidFill>
                          <a:latin typeface="Aptos"/>
                          <a:ea typeface="Aptos"/>
                          <a:cs typeface="Aptos"/>
                        </a:rPr>
                        <a:t>17.14%</a:t>
                      </a:r>
                    </a:p>
                  </a:txBody>
                  <a:tcPr marL="91440" marR="91440" marT="45720" marB="45720">
                    <a:solidFill>
                      <a:srgbClr val="FFFFFF"/>
                    </a:solidFill>
                  </a:tcPr>
                </a:tc>
                <a:tc>
                  <a:txBody>
                    <a:bodyPr/>
                    <a:lstStyle/>
                    <a:p>
                      <a:r>
                        <a:rPr sz="1650" b="0">
                          <a:solidFill>
                            <a:srgbClr val="172F3E"/>
                          </a:solidFill>
                          <a:latin typeface="Aptos"/>
                          <a:ea typeface="Aptos"/>
                          <a:cs typeface="Aptos"/>
                        </a:rPr>
                        <a:t>40%</a:t>
                      </a:r>
                    </a:p>
                  </a:txBody>
                  <a:tcPr marL="91440" marR="91440" marT="45720" marB="45720">
                    <a:solidFill>
                      <a:srgbClr val="FFFFFF"/>
                    </a:solidFill>
                  </a:tcPr>
                </a:tc>
              </a:tr>
              <a:tr h="552450">
                <a:tc>
                  <a:txBody>
                    <a:bodyPr/>
                    <a:lstStyle/>
                    <a:p>
                      <a:r>
                        <a:rPr sz="1650" b="0">
                          <a:solidFill>
                            <a:srgbClr val="172F3E"/>
                          </a:solidFill>
                          <a:latin typeface="Aptos"/>
                          <a:ea typeface="Aptos"/>
                          <a:cs typeface="Aptos"/>
                        </a:rPr>
                        <a:t>CF Reward+Cost</a:t>
                      </a:r>
                    </a:p>
                  </a:txBody>
                  <a:tcPr marL="91440" marR="91440" marT="45720" marB="45720">
                    <a:solidFill>
                      <a:srgbClr val="F1F6F7"/>
                    </a:solidFill>
                  </a:tcPr>
                </a:tc>
                <a:tc>
                  <a:txBody>
                    <a:bodyPr/>
                    <a:lstStyle/>
                    <a:p>
                      <a:r>
                        <a:rPr sz="1650" b="0">
                          <a:solidFill>
                            <a:srgbClr val="172F3E"/>
                          </a:solidFill>
                          <a:latin typeface="Aptos"/>
                          <a:ea typeface="Aptos"/>
                          <a:cs typeface="Aptos"/>
                        </a:rPr>
                        <a:t>+6.49%</a:t>
                      </a:r>
                    </a:p>
                  </a:txBody>
                  <a:tcPr marL="91440" marR="91440" marT="45720" marB="45720">
                    <a:solidFill>
                      <a:srgbClr val="F1F6F7"/>
                    </a:solidFill>
                  </a:tcPr>
                </a:tc>
                <a:tc>
                  <a:txBody>
                    <a:bodyPr/>
                    <a:lstStyle/>
                    <a:p>
                      <a:r>
                        <a:rPr sz="1650" b="0">
                          <a:solidFill>
                            <a:srgbClr val="172F3E"/>
                          </a:solidFill>
                          <a:latin typeface="Aptos"/>
                          <a:ea typeface="Aptos"/>
                          <a:cs typeface="Aptos"/>
                        </a:rPr>
                        <a:t>16.85%</a:t>
                      </a:r>
                    </a:p>
                  </a:txBody>
                  <a:tcPr marL="91440" marR="91440" marT="45720" marB="45720">
                    <a:solidFill>
                      <a:srgbClr val="F1F6F7"/>
                    </a:solidFill>
                  </a:tcPr>
                </a:tc>
                <a:tc>
                  <a:txBody>
                    <a:bodyPr/>
                    <a:lstStyle/>
                    <a:p>
                      <a:r>
                        <a:rPr sz="1650" b="0">
                          <a:solidFill>
                            <a:srgbClr val="172F3E"/>
                          </a:solidFill>
                          <a:latin typeface="Aptos"/>
                          <a:ea typeface="Aptos"/>
                          <a:cs typeface="Aptos"/>
                        </a:rPr>
                        <a:t>22.89%</a:t>
                      </a:r>
                    </a:p>
                  </a:txBody>
                  <a:tcPr marL="91440" marR="91440" marT="45720" marB="45720">
                    <a:solidFill>
                      <a:srgbClr val="F1F6F7"/>
                    </a:solidFill>
                  </a:tcPr>
                </a:tc>
                <a:tc>
                  <a:txBody>
                    <a:bodyPr/>
                    <a:lstStyle/>
                    <a:p>
                      <a:r>
                        <a:rPr sz="1650" b="0">
                          <a:solidFill>
                            <a:srgbClr val="172F3E"/>
                          </a:solidFill>
                          <a:latin typeface="Aptos"/>
                          <a:ea typeface="Aptos"/>
                          <a:cs typeface="Aptos"/>
                        </a:rPr>
                        <a:t>35%</a:t>
                      </a:r>
                    </a:p>
                  </a:txBody>
                  <a:tcPr marL="91440" marR="91440" marT="45720" marB="45720">
                    <a:solidFill>
                      <a:srgbClr val="F1F6F7"/>
                    </a:solidFill>
                  </a:tcPr>
                </a:tc>
              </a:tr>
            </a:tbl>
          </a:graphicData>
        </a:graphic>
      </p:graphicFrame>
      <p:sp>
        <p:nvSpPr>
          <p:cNvPr id="5" name="">
            <a:extLst xmlns:a="http://schemas.openxmlformats.org/drawingml/2006/main">
              <a:ext uri="{FF2B5EF4-FFF2-40B4-BE49-F238E27FC236}">
                <a16:creationId xmlns:a16="http://schemas.microsoft.com/office/drawing/2014/main" id="{7D0A7AA1-BF5E-4D88-BAF6-70B5082F6716}"/>
              </a:ext>
            </a:extLst>
          </p:cNvPr>
          <p:cNvSpPr>
            <a:spLocks xmlns:a="http://schemas.openxmlformats.org/drawingml/2006/main" noGrp="1"/>
          </p:cNvSpPr>
          <p:nvPr/>
        </p:nvSpPr>
        <p:spPr>
          <a:xfrm xmlns:a="http://schemas.openxmlformats.org/drawingml/2006/main">
            <a:off x="609600" y="48196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573"/>
                </a:solidFill>
                <a:latin typeface="Aptos"/>
                <a:ea typeface="Aptos"/>
                <a:cs typeface="Aptos"/>
              </a:defRPr>
            </a:pPr>
            <a:r>
              <a:rPr sz="1500" b="0">
                <a:solidFill>
                  <a:srgbClr val="526573"/>
                </a:solidFill>
                <a:latin typeface="Aptos"/>
                <a:ea typeface="Aptos"/>
                <a:cs typeface="Aptos"/>
              </a:rPr>
              <a:t>One training seed: small differences do not establish a reliable improvement.</a:t>
            </a:r>
          </a:p>
        </p:txBody>
      </p:sp>
      <p:sp>
        <p:nvSpPr>
          <p:cNvPr id="6" name="">
            <a:extLst xmlns:a="http://schemas.openxmlformats.org/drawingml/2006/main">
              <a:ext uri="{FF2B5EF4-FFF2-40B4-BE49-F238E27FC236}">
                <a16:creationId xmlns:a16="http://schemas.microsoft.com/office/drawing/2014/main" id="{125D35DE-85C7-42CD-9B90-B7476FF12806}"/>
              </a:ext>
            </a:extLst>
          </p:cNvPr>
          <p:cNvSpPr>
            <a:spLocks xmlns:a="http://schemas.openxmlformats.org/drawingml/2006/main" noGrp="1"/>
          </p:cNvSpPr>
          <p:nvPr/>
        </p:nvSpPr>
        <p:spPr>
          <a:xfrm xmlns:a="http://schemas.openxmlformats.org/drawingml/2006/main">
            <a:off x="609600" y="5610225"/>
            <a:ext cx="109347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3B5C6CE-D74E-42A1-B195-A61B7646C71D}"/>
              </a:ext>
            </a:extLst>
          </p:cNvPr>
          <p:cNvSpPr>
            <a:spLocks xmlns:a="http://schemas.openxmlformats.org/drawingml/2006/main" noGrp="1"/>
          </p:cNvSpPr>
          <p:nvPr/>
        </p:nvSpPr>
        <p:spPr>
          <a:xfrm xmlns:a="http://schemas.openxmlformats.org/drawingml/2006/main">
            <a:off x="609600" y="584835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6D83"/>
                </a:solidFill>
                <a:latin typeface="Aptos"/>
                <a:ea typeface="Aptos"/>
                <a:cs typeface="Aptos"/>
              </a:defRPr>
            </a:pPr>
            <a:r>
              <a:rPr sz="1725" b="1">
                <a:solidFill>
                  <a:srgbClr val="176D83"/>
                </a:solidFill>
                <a:latin typeface="Aptos"/>
                <a:ea typeface="Aptos"/>
                <a:cs typeface="Aptos"/>
              </a:rPr>
              <a:t>The simpler standalone Dirichlet control remains a strong reference.</a:t>
            </a:r>
          </a:p>
        </p:txBody>
      </p:sp>
    </p:spTree>
    <p:extLst>
      <p:ext uri="{BB962C8B-B14F-4D97-AF65-F5344CB8AC3E}">
        <p14:creationId xmlns:p14="http://schemas.microsoft.com/office/powerpoint/2010/main" val="19429289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0B19E5-E6A2-4573-8B33-92DF2119D1FC}"/>
              </a:ext>
            </a:extLst>
          </p:cNvPr>
          <p:cNvSpPr>
            <a:spLocks xmlns:a="http://schemas.openxmlformats.org/drawingml/2006/main" noGrp="1"/>
          </p:cNvSpPr>
          <p:nvPr/>
        </p:nvSpPr>
        <p:spPr>
          <a:xfrm xmlns:a="http://schemas.openxmlformats.org/drawingml/2006/main">
            <a:off x="571500" y="4381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F3E"/>
                </a:solidFill>
                <a:latin typeface="Aptos"/>
                <a:ea typeface="Aptos"/>
                <a:cs typeface="Aptos"/>
              </a:defRPr>
            </a:pPr>
            <a:r>
              <a:rPr sz="2775" b="1">
                <a:solidFill>
                  <a:srgbClr val="172F3E"/>
                </a:solidFill>
                <a:latin typeface="Aptos"/>
                <a:ea typeface="Aptos"/>
                <a:cs typeface="Aptos"/>
              </a:rPr>
              <a:t>Hard constraints work; soft risk remains open</a:t>
            </a:r>
          </a:p>
        </p:txBody>
      </p:sp>
      <p:sp>
        <p:nvSpPr>
          <p:cNvPr id="2" name="">
            <a:extLst xmlns:a="http://schemas.openxmlformats.org/drawingml/2006/main">
              <a:ext uri="{FF2B5EF4-FFF2-40B4-BE49-F238E27FC236}">
                <a16:creationId xmlns:a16="http://schemas.microsoft.com/office/drawing/2014/main" id="{3530C8F6-D261-4075-98AC-49699BDC7429}"/>
              </a:ext>
            </a:extLst>
          </p:cNvPr>
          <p:cNvSpPr>
            <a:spLocks xmlns:a="http://schemas.openxmlformats.org/drawingml/2006/main" noGrp="1"/>
          </p:cNvSpPr>
          <p:nvPr/>
        </p:nvSpPr>
        <p:spPr>
          <a:xfrm xmlns:a="http://schemas.openxmlformats.org/drawingml/2006/main">
            <a:off x="571500" y="1304925"/>
            <a:ext cx="110490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AC6FCE-7BA7-4B2E-9407-62B79A7D7623}"/>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3"/>
                </a:solidFill>
                <a:latin typeface="Aptos"/>
                <a:ea typeface="Aptos"/>
                <a:cs typeface="Aptos"/>
              </a:defRPr>
            </a:pPr>
            <a:r>
              <a:rPr sz="1050" b="0">
                <a:solidFill>
                  <a:srgbClr val="526573"/>
                </a:solidFill>
                <a:latin typeface="Aptos"/>
                <a:ea typeface="Aptos"/>
                <a:cs typeface="Aptos"/>
              </a:rPr>
              <a:t>09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4f14348490447b2"/>
          <a:stretch xmlns:a="http://schemas.openxmlformats.org/drawingml/2006/main"/>
        </p:blipFill>
        <p:spPr>
          <a:xfrm xmlns:a="http://schemas.openxmlformats.org/drawingml/2006/main">
            <a:off x="2597727" y="1552575"/>
            <a:ext cx="6996545" cy="38481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B9A411C-045B-4E9F-8C92-413F82AC6FD6}"/>
              </a:ext>
            </a:extLst>
          </p:cNvPr>
          <p:cNvSpPr>
            <a:spLocks xmlns:a="http://schemas.openxmlformats.org/drawingml/2006/main" noGrp="1"/>
          </p:cNvSpPr>
          <p:nvPr/>
        </p:nvSpPr>
        <p:spPr>
          <a:xfrm xmlns:a="http://schemas.openxmlformats.org/drawingml/2006/main">
            <a:off x="609600" y="5610225"/>
            <a:ext cx="109347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747C097-7D9C-4149-8E2D-486BF6B81900}"/>
              </a:ext>
            </a:extLst>
          </p:cNvPr>
          <p:cNvSpPr>
            <a:spLocks xmlns:a="http://schemas.openxmlformats.org/drawingml/2006/main" noGrp="1"/>
          </p:cNvSpPr>
          <p:nvPr/>
        </p:nvSpPr>
        <p:spPr>
          <a:xfrm xmlns:a="http://schemas.openxmlformats.org/drawingml/2006/main">
            <a:off x="609600" y="584835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6D83"/>
                </a:solidFill>
                <a:latin typeface="Aptos"/>
                <a:ea typeface="Aptos"/>
                <a:cs typeface="Aptos"/>
              </a:defRPr>
            </a:pPr>
            <a:r>
              <a:rPr sz="1725" b="1">
                <a:solidFill>
                  <a:srgbClr val="176D83"/>
                </a:solidFill>
                <a:latin typeface="Aptos"/>
                <a:ea typeface="Aptos"/>
                <a:cs typeface="Aptos"/>
              </a:rPr>
              <a:t>Allocation feasibility: 100%. Reliable future-path drawdown feasibility: not achieved.</a:t>
            </a:r>
          </a:p>
        </p:txBody>
      </p:sp>
    </p:spTree>
    <p:extLst>
      <p:ext uri="{BB962C8B-B14F-4D97-AF65-F5344CB8AC3E}">
        <p14:creationId xmlns:p14="http://schemas.microsoft.com/office/powerpoint/2010/main" val="10041203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2E62C6-1D4F-4AE9-807D-7F4985402C3A}"/>
              </a:ext>
            </a:extLst>
          </p:cNvPr>
          <p:cNvSpPr>
            <a:spLocks xmlns:a="http://schemas.openxmlformats.org/drawingml/2006/main" noGrp="1"/>
          </p:cNvSpPr>
          <p:nvPr/>
        </p:nvSpPr>
        <p:spPr>
          <a:xfrm xmlns:a="http://schemas.openxmlformats.org/drawingml/2006/main">
            <a:off x="571500" y="4381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F3E"/>
                </a:solidFill>
                <a:latin typeface="Aptos"/>
                <a:ea typeface="Aptos"/>
                <a:cs typeface="Aptos"/>
              </a:defRPr>
            </a:pPr>
            <a:r>
              <a:rPr sz="2775" b="1">
                <a:solidFill>
                  <a:srgbClr val="172F3E"/>
                </a:solidFill>
                <a:latin typeface="Aptos"/>
                <a:ea typeface="Aptos"/>
                <a:cs typeface="Aptos"/>
              </a:rPr>
              <a:t>Checkpoint selection is part of the limitation</a:t>
            </a:r>
          </a:p>
        </p:txBody>
      </p:sp>
      <p:sp>
        <p:nvSpPr>
          <p:cNvPr id="2" name="">
            <a:extLst xmlns:a="http://schemas.openxmlformats.org/drawingml/2006/main">
              <a:ext uri="{FF2B5EF4-FFF2-40B4-BE49-F238E27FC236}">
                <a16:creationId xmlns:a16="http://schemas.microsoft.com/office/drawing/2014/main" id="{64710A42-F9DF-4173-A495-1F980AEEC192}"/>
              </a:ext>
            </a:extLst>
          </p:cNvPr>
          <p:cNvSpPr>
            <a:spLocks xmlns:a="http://schemas.openxmlformats.org/drawingml/2006/main" noGrp="1"/>
          </p:cNvSpPr>
          <p:nvPr/>
        </p:nvSpPr>
        <p:spPr>
          <a:xfrm xmlns:a="http://schemas.openxmlformats.org/drawingml/2006/main">
            <a:off x="571500" y="1304925"/>
            <a:ext cx="110490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85D4A4-26BC-4112-867B-3FC81022F2B4}"/>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3"/>
                </a:solidFill>
                <a:latin typeface="Aptos"/>
                <a:ea typeface="Aptos"/>
                <a:cs typeface="Aptos"/>
              </a:defRPr>
            </a:pPr>
            <a:r>
              <a:rPr sz="1050" b="0">
                <a:solidFill>
                  <a:srgbClr val="526573"/>
                </a:solidFill>
                <a:latin typeface="Aptos"/>
                <a:ea typeface="Aptos"/>
                <a:cs typeface="Aptos"/>
              </a:rPr>
              <a:t>10</a:t>
            </a:r>
          </a:p>
        </p:txBody>
      </p:sp>
      <p:sp>
        <p:nvSpPr>
          <p:cNvPr id="4" name="">
            <a:extLst xmlns:a="http://schemas.openxmlformats.org/drawingml/2006/main">
              <a:ext uri="{FF2B5EF4-FFF2-40B4-BE49-F238E27FC236}">
                <a16:creationId xmlns:a16="http://schemas.microsoft.com/office/drawing/2014/main" id="{832EC7F2-0A39-4223-9311-5A8E7B8747DF}"/>
              </a:ext>
            </a:extLst>
          </p:cNvPr>
          <p:cNvSpPr>
            <a:spLocks xmlns:a="http://schemas.openxmlformats.org/drawingml/2006/main" noGrp="1"/>
          </p:cNvSpPr>
          <p:nvPr/>
        </p:nvSpPr>
        <p:spPr>
          <a:xfrm xmlns:a="http://schemas.openxmlformats.org/drawingml/2006/main">
            <a:off x="609600" y="17049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38688CBE-5395-4CB3-9B4C-13BC3D4BDF46}"/>
              </a:ext>
            </a:extLst>
          </p:cNvPr>
          <p:cNvSpPr>
            <a:spLocks xmlns:a="http://schemas.openxmlformats.org/drawingml/2006/main" noGrp="1"/>
          </p:cNvSpPr>
          <p:nvPr/>
        </p:nvSpPr>
        <p:spPr>
          <a:xfrm xmlns:a="http://schemas.openxmlformats.org/drawingml/2006/main">
            <a:off x="1257300" y="170497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F3E"/>
                </a:solidFill>
                <a:latin typeface="Aptos"/>
                <a:ea typeface="Aptos"/>
                <a:cs typeface="Aptos"/>
              </a:defRPr>
            </a:pPr>
            <a:r>
              <a:rPr sz="1875" b="0">
                <a:solidFill>
                  <a:srgbClr val="172F3E"/>
                </a:solidFill>
                <a:latin typeface="Aptos"/>
                <a:ea typeface="Aptos"/>
                <a:cs typeface="Aptos"/>
              </a:rPr>
              <a:t>Return-best and feasibility-ranked checkpoints answer different questions</a:t>
            </a:r>
          </a:p>
        </p:txBody>
      </p:sp>
      <p:sp>
        <p:nvSpPr>
          <p:cNvPr id="6" name="">
            <a:extLst xmlns:a="http://schemas.openxmlformats.org/drawingml/2006/main">
              <a:ext uri="{FF2B5EF4-FFF2-40B4-BE49-F238E27FC236}">
                <a16:creationId xmlns:a16="http://schemas.microsoft.com/office/drawing/2014/main" id="{178A92F3-E34C-42B6-96CB-40ED6B1C4471}"/>
              </a:ext>
            </a:extLst>
          </p:cNvPr>
          <p:cNvSpPr>
            <a:spLocks xmlns:a="http://schemas.openxmlformats.org/drawingml/2006/main" noGrp="1"/>
          </p:cNvSpPr>
          <p:nvPr/>
        </p:nvSpPr>
        <p:spPr>
          <a:xfrm xmlns:a="http://schemas.openxmlformats.org/drawingml/2006/main">
            <a:off x="609600" y="26955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17E19D58-4B56-4E45-878A-937E18E56AC4}"/>
              </a:ext>
            </a:extLst>
          </p:cNvPr>
          <p:cNvSpPr>
            <a:spLocks xmlns:a="http://schemas.openxmlformats.org/drawingml/2006/main" noGrp="1"/>
          </p:cNvSpPr>
          <p:nvPr/>
        </p:nvSpPr>
        <p:spPr>
          <a:xfrm xmlns:a="http://schemas.openxmlformats.org/drawingml/2006/main">
            <a:off x="1257300" y="269557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F3E"/>
                </a:solidFill>
                <a:latin typeface="Aptos"/>
                <a:ea typeface="Aptos"/>
                <a:cs typeface="Aptos"/>
              </a:defRPr>
            </a:pPr>
            <a:r>
              <a:rPr sz="1875" b="0">
                <a:solidFill>
                  <a:srgbClr val="172F3E"/>
                </a:solidFill>
                <a:latin typeface="Aptos"/>
                <a:ea typeface="Aptos"/>
                <a:cs typeface="Aptos"/>
              </a:rPr>
              <a:t>Feasibility-ranked does not guarantee test feasibility</a:t>
            </a:r>
          </a:p>
        </p:txBody>
      </p:sp>
      <p:sp>
        <p:nvSpPr>
          <p:cNvPr id="8" name="">
            <a:extLst xmlns:a="http://schemas.openxmlformats.org/drawingml/2006/main">
              <a:ext uri="{FF2B5EF4-FFF2-40B4-BE49-F238E27FC236}">
                <a16:creationId xmlns:a16="http://schemas.microsoft.com/office/drawing/2014/main" id="{B97D6FD1-B4FA-44A5-8F2D-FD4E3E90FC08}"/>
              </a:ext>
            </a:extLst>
          </p:cNvPr>
          <p:cNvSpPr>
            <a:spLocks xmlns:a="http://schemas.openxmlformats.org/drawingml/2006/main" noGrp="1"/>
          </p:cNvSpPr>
          <p:nvPr/>
        </p:nvSpPr>
        <p:spPr>
          <a:xfrm xmlns:a="http://schemas.openxmlformats.org/drawingml/2006/main">
            <a:off x="609600" y="36861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44388A3B-DF8B-4FC8-A4AD-3041019876AF}"/>
              </a:ext>
            </a:extLst>
          </p:cNvPr>
          <p:cNvSpPr>
            <a:spLocks xmlns:a="http://schemas.openxmlformats.org/drawingml/2006/main" noGrp="1"/>
          </p:cNvSpPr>
          <p:nvPr/>
        </p:nvSpPr>
        <p:spPr>
          <a:xfrm xmlns:a="http://schemas.openxmlformats.org/drawingml/2006/main">
            <a:off x="1257300" y="368617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F3E"/>
                </a:solidFill>
                <a:latin typeface="Aptos"/>
                <a:ea typeface="Aptos"/>
                <a:cs typeface="Aptos"/>
              </a:defRPr>
            </a:pPr>
            <a:r>
              <a:rPr sz="1875" b="0">
                <a:solidFill>
                  <a:srgbClr val="172F3E"/>
                </a:solidFill>
                <a:latin typeface="Aptos"/>
                <a:ea typeface="Aptos"/>
                <a:cs typeface="Aptos"/>
              </a:rPr>
              <a:t>CF cost Dirichlet: return +6.18% -&gt; +0.92%, feasibility stays 40%</a:t>
            </a:r>
          </a:p>
        </p:txBody>
      </p:sp>
      <p:sp>
        <p:nvSpPr>
          <p:cNvPr id="10" name="">
            <a:extLst xmlns:a="http://schemas.openxmlformats.org/drawingml/2006/main">
              <a:ext uri="{FF2B5EF4-FFF2-40B4-BE49-F238E27FC236}">
                <a16:creationId xmlns:a16="http://schemas.microsoft.com/office/drawing/2014/main" id="{455683EE-77F2-4F39-99E7-40FB21AE1BB6}"/>
              </a:ext>
            </a:extLst>
          </p:cNvPr>
          <p:cNvSpPr>
            <a:spLocks xmlns:a="http://schemas.openxmlformats.org/drawingml/2006/main" noGrp="1"/>
          </p:cNvSpPr>
          <p:nvPr/>
        </p:nvSpPr>
        <p:spPr>
          <a:xfrm xmlns:a="http://schemas.openxmlformats.org/drawingml/2006/main">
            <a:off x="609600" y="5610225"/>
            <a:ext cx="109347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C46CAD-A4CE-4BEB-A84D-01D7DF6BF835}"/>
              </a:ext>
            </a:extLst>
          </p:cNvPr>
          <p:cNvSpPr>
            <a:spLocks xmlns:a="http://schemas.openxmlformats.org/drawingml/2006/main" noGrp="1"/>
          </p:cNvSpPr>
          <p:nvPr/>
        </p:nvSpPr>
        <p:spPr>
          <a:xfrm xmlns:a="http://schemas.openxmlformats.org/drawingml/2006/main">
            <a:off x="609600" y="584835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6D83"/>
                </a:solidFill>
                <a:latin typeface="Aptos"/>
                <a:ea typeface="Aptos"/>
                <a:cs typeface="Aptos"/>
              </a:defRPr>
            </a:pPr>
            <a:r>
              <a:rPr sz="1725" b="1">
                <a:solidFill>
                  <a:srgbClr val="176D83"/>
                </a:solidFill>
                <a:latin typeface="Aptos"/>
                <a:ea typeface="Aptos"/>
                <a:cs typeface="Aptos"/>
              </a:rPr>
              <a:t>Do not use test outcomes to choose the checkpoint retrospectively.</a:t>
            </a:r>
          </a:p>
        </p:txBody>
      </p:sp>
    </p:spTree>
    <p:extLst>
      <p:ext uri="{BB962C8B-B14F-4D97-AF65-F5344CB8AC3E}">
        <p14:creationId xmlns:p14="http://schemas.microsoft.com/office/powerpoint/2010/main" val="8656837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4B9CB23-C052-46BE-97E3-6A5B1B76BBD6}"/>
              </a:ext>
            </a:extLst>
          </p:cNvPr>
          <p:cNvSpPr>
            <a:spLocks xmlns:a="http://schemas.openxmlformats.org/drawingml/2006/main" noGrp="1"/>
          </p:cNvSpPr>
          <p:nvPr/>
        </p:nvSpPr>
        <p:spPr>
          <a:xfrm xmlns:a="http://schemas.openxmlformats.org/drawingml/2006/main">
            <a:off x="571500" y="4381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F3E"/>
                </a:solidFill>
                <a:latin typeface="Aptos"/>
                <a:ea typeface="Aptos"/>
                <a:cs typeface="Aptos"/>
              </a:defRPr>
            </a:pPr>
            <a:r>
              <a:rPr sz="2775" b="1">
                <a:solidFill>
                  <a:srgbClr val="172F3E"/>
                </a:solidFill>
                <a:latin typeface="Aptos"/>
                <a:ea typeface="Aptos"/>
                <a:cs typeface="Aptos"/>
              </a:rPr>
              <a:t>What the project demonstrates</a:t>
            </a:r>
          </a:p>
        </p:txBody>
      </p:sp>
      <p:sp>
        <p:nvSpPr>
          <p:cNvPr id="2" name="">
            <a:extLst xmlns:a="http://schemas.openxmlformats.org/drawingml/2006/main">
              <a:ext uri="{FF2B5EF4-FFF2-40B4-BE49-F238E27FC236}">
                <a16:creationId xmlns:a16="http://schemas.microsoft.com/office/drawing/2014/main" id="{196D43AA-38D4-4D84-A9FD-1DE0CCA6AA49}"/>
              </a:ext>
            </a:extLst>
          </p:cNvPr>
          <p:cNvSpPr>
            <a:spLocks xmlns:a="http://schemas.openxmlformats.org/drawingml/2006/main" noGrp="1"/>
          </p:cNvSpPr>
          <p:nvPr/>
        </p:nvSpPr>
        <p:spPr>
          <a:xfrm xmlns:a="http://schemas.openxmlformats.org/drawingml/2006/main">
            <a:off x="571500" y="1304925"/>
            <a:ext cx="110490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2EE663B-2CDB-489E-8A09-1CA3A5A88C40}"/>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3"/>
                </a:solidFill>
                <a:latin typeface="Aptos"/>
                <a:ea typeface="Aptos"/>
                <a:cs typeface="Aptos"/>
              </a:defRPr>
            </a:pPr>
            <a:r>
              <a:rPr sz="1050" b="0">
                <a:solidFill>
                  <a:srgbClr val="526573"/>
                </a:solidFill>
                <a:latin typeface="Aptos"/>
                <a:ea typeface="Aptos"/>
                <a:cs typeface="Aptos"/>
              </a:rPr>
              <a:t>11</a:t>
            </a:r>
          </a:p>
        </p:txBody>
      </p:sp>
      <p:sp>
        <p:nvSpPr>
          <p:cNvPr id="4" name="">
            <a:extLst xmlns:a="http://schemas.openxmlformats.org/drawingml/2006/main">
              <a:ext uri="{FF2B5EF4-FFF2-40B4-BE49-F238E27FC236}">
                <a16:creationId xmlns:a16="http://schemas.microsoft.com/office/drawing/2014/main" id="{995F90CA-92DA-4891-90AB-7AEDB630D884}"/>
              </a:ext>
            </a:extLst>
          </p:cNvPr>
          <p:cNvSpPr>
            <a:spLocks xmlns:a="http://schemas.openxmlformats.org/drawingml/2006/main" noGrp="1"/>
          </p:cNvSpPr>
          <p:nvPr/>
        </p:nvSpPr>
        <p:spPr>
          <a:xfrm xmlns:a="http://schemas.openxmlformats.org/drawingml/2006/main">
            <a:off x="609600" y="17526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BF6F549E-4D15-4EEB-A5B3-3E102E1B3CB5}"/>
              </a:ext>
            </a:extLst>
          </p:cNvPr>
          <p:cNvSpPr>
            <a:spLocks xmlns:a="http://schemas.openxmlformats.org/drawingml/2006/main" noGrp="1"/>
          </p:cNvSpPr>
          <p:nvPr/>
        </p:nvSpPr>
        <p:spPr>
          <a:xfrm xmlns:a="http://schemas.openxmlformats.org/drawingml/2006/main">
            <a:off x="1257300" y="1752600"/>
            <a:ext cx="10001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3E"/>
                </a:solidFill>
                <a:latin typeface="Aptos"/>
                <a:ea typeface="Aptos"/>
                <a:cs typeface="Aptos"/>
              </a:defRPr>
            </a:pPr>
            <a:r>
              <a:rPr sz="2025" b="0">
                <a:solidFill>
                  <a:srgbClr val="172F3E"/>
                </a:solidFill>
                <a:latin typeface="Aptos"/>
                <a:ea typeface="Aptos"/>
                <a:cs typeface="Aptos"/>
              </a:rPr>
              <a:t>Established: feasible action construction and reproducible evaluation</a:t>
            </a:r>
          </a:p>
        </p:txBody>
      </p:sp>
      <p:sp>
        <p:nvSpPr>
          <p:cNvPr id="6" name="">
            <a:extLst xmlns:a="http://schemas.openxmlformats.org/drawingml/2006/main">
              <a:ext uri="{FF2B5EF4-FFF2-40B4-BE49-F238E27FC236}">
                <a16:creationId xmlns:a16="http://schemas.microsoft.com/office/drawing/2014/main" id="{38524FA2-A536-4564-BE97-E7A84322A522}"/>
              </a:ext>
            </a:extLst>
          </p:cNvPr>
          <p:cNvSpPr>
            <a:spLocks xmlns:a="http://schemas.openxmlformats.org/drawingml/2006/main" noGrp="1"/>
          </p:cNvSpPr>
          <p:nvPr/>
        </p:nvSpPr>
        <p:spPr>
          <a:xfrm xmlns:a="http://schemas.openxmlformats.org/drawingml/2006/main">
            <a:off x="609600" y="26860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5A19557E-0F55-4845-88D1-DD91FF033218}"/>
              </a:ext>
            </a:extLst>
          </p:cNvPr>
          <p:cNvSpPr>
            <a:spLocks xmlns:a="http://schemas.openxmlformats.org/drawingml/2006/main" noGrp="1"/>
          </p:cNvSpPr>
          <p:nvPr/>
        </p:nvSpPr>
        <p:spPr>
          <a:xfrm xmlns:a="http://schemas.openxmlformats.org/drawingml/2006/main">
            <a:off x="1257300" y="2686050"/>
            <a:ext cx="10001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3E"/>
                </a:solidFill>
                <a:latin typeface="Aptos"/>
                <a:ea typeface="Aptos"/>
                <a:cs typeface="Aptos"/>
              </a:defRPr>
            </a:pPr>
            <a:r>
              <a:rPr sz="2025" b="0">
                <a:solidFill>
                  <a:srgbClr val="172F3E"/>
                </a:solidFill>
                <a:latin typeface="Aptos"/>
                <a:ea typeface="Aptos"/>
                <a:cs typeface="Aptos"/>
              </a:rPr>
              <a:t>Measured: architecture-dependent credit and turnover trade-offs</a:t>
            </a:r>
          </a:p>
        </p:txBody>
      </p:sp>
      <p:sp>
        <p:nvSpPr>
          <p:cNvPr id="8" name="">
            <a:extLst xmlns:a="http://schemas.openxmlformats.org/drawingml/2006/main">
              <a:ext uri="{FF2B5EF4-FFF2-40B4-BE49-F238E27FC236}">
                <a16:creationId xmlns:a16="http://schemas.microsoft.com/office/drawing/2014/main" id="{EEE0E12C-BF62-461D-9CFF-98965A68C11D}"/>
              </a:ext>
            </a:extLst>
          </p:cNvPr>
          <p:cNvSpPr>
            <a:spLocks xmlns:a="http://schemas.openxmlformats.org/drawingml/2006/main" noGrp="1"/>
          </p:cNvSpPr>
          <p:nvPr/>
        </p:nvSpPr>
        <p:spPr>
          <a:xfrm xmlns:a="http://schemas.openxmlformats.org/drawingml/2006/main">
            <a:off x="609600" y="3619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83CF7695-FB63-4A35-BFC1-6F4702457B85}"/>
              </a:ext>
            </a:extLst>
          </p:cNvPr>
          <p:cNvSpPr>
            <a:spLocks xmlns:a="http://schemas.openxmlformats.org/drawingml/2006/main" noGrp="1"/>
          </p:cNvSpPr>
          <p:nvPr/>
        </p:nvSpPr>
        <p:spPr>
          <a:xfrm xmlns:a="http://schemas.openxmlformats.org/drawingml/2006/main">
            <a:off x="1257300" y="3619500"/>
            <a:ext cx="10001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3E"/>
                </a:solidFill>
                <a:latin typeface="Aptos"/>
                <a:ea typeface="Aptos"/>
                <a:cs typeface="Aptos"/>
              </a:defRPr>
            </a:pPr>
            <a:r>
              <a:rPr sz="2025" b="0">
                <a:solidFill>
                  <a:srgbClr val="172F3E"/>
                </a:solidFill>
                <a:latin typeface="Aptos"/>
                <a:ea typeface="Aptos"/>
                <a:cs typeface="Aptos"/>
              </a:rPr>
              <a:t>Unresolved: future risk feasibility and training-seed robustness</a:t>
            </a:r>
          </a:p>
        </p:txBody>
      </p:sp>
      <p:sp>
        <p:nvSpPr>
          <p:cNvPr id="10" name="">
            <a:extLst xmlns:a="http://schemas.openxmlformats.org/drawingml/2006/main">
              <a:ext uri="{FF2B5EF4-FFF2-40B4-BE49-F238E27FC236}">
                <a16:creationId xmlns:a16="http://schemas.microsoft.com/office/drawing/2014/main" id="{AD15BC64-DFE4-40A4-A5A3-1FBAD3451954}"/>
              </a:ext>
            </a:extLst>
          </p:cNvPr>
          <p:cNvSpPr>
            <a:spLocks xmlns:a="http://schemas.openxmlformats.org/drawingml/2006/main" noGrp="1"/>
          </p:cNvSpPr>
          <p:nvPr/>
        </p:nvSpPr>
        <p:spPr>
          <a:xfrm xmlns:a="http://schemas.openxmlformats.org/drawingml/2006/main">
            <a:off x="609600" y="5610225"/>
            <a:ext cx="109347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96E39F3-7D3F-4129-A608-CA091D50FF9E}"/>
              </a:ext>
            </a:extLst>
          </p:cNvPr>
          <p:cNvSpPr>
            <a:spLocks xmlns:a="http://schemas.openxmlformats.org/drawingml/2006/main" noGrp="1"/>
          </p:cNvSpPr>
          <p:nvPr/>
        </p:nvSpPr>
        <p:spPr>
          <a:xfrm xmlns:a="http://schemas.openxmlformats.org/drawingml/2006/main">
            <a:off x="609600" y="584835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6D83"/>
                </a:solidFill>
                <a:latin typeface="Aptos"/>
                <a:ea typeface="Aptos"/>
                <a:cs typeface="Aptos"/>
              </a:defRPr>
            </a:pPr>
            <a:r>
              <a:rPr sz="1725" b="1">
                <a:solidFill>
                  <a:srgbClr val="176D83"/>
                </a:solidFill>
                <a:latin typeface="Aptos"/>
                <a:ea typeface="Aptos"/>
                <a:cs typeface="Aptos"/>
              </a:rPr>
              <a:t>The result is a qualified empirical assessment, not a blanket success claim.</a:t>
            </a:r>
          </a:p>
        </p:txBody>
      </p:sp>
    </p:spTree>
    <p:extLst>
      <p:ext uri="{BB962C8B-B14F-4D97-AF65-F5344CB8AC3E}">
        <p14:creationId xmlns:p14="http://schemas.microsoft.com/office/powerpoint/2010/main" val="9891014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F4D2CAD-B511-41DE-87F9-16E77C3BF890}"/>
              </a:ext>
            </a:extLst>
          </p:cNvPr>
          <p:cNvSpPr>
            <a:spLocks xmlns:a="http://schemas.openxmlformats.org/drawingml/2006/main" noGrp="1"/>
          </p:cNvSpPr>
          <p:nvPr/>
        </p:nvSpPr>
        <p:spPr>
          <a:xfrm xmlns:a="http://schemas.openxmlformats.org/drawingml/2006/main">
            <a:off x="571500" y="4381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F3E"/>
                </a:solidFill>
                <a:latin typeface="Aptos"/>
                <a:ea typeface="Aptos"/>
                <a:cs typeface="Aptos"/>
              </a:defRPr>
            </a:pPr>
            <a:r>
              <a:rPr sz="2775" b="1">
                <a:solidFill>
                  <a:srgbClr val="172F3E"/>
                </a:solidFill>
                <a:latin typeface="Aptos"/>
                <a:ea typeface="Aptos"/>
                <a:cs typeface="Aptos"/>
              </a:rPr>
              <a:t>Final report: a complete draft for review</a:t>
            </a:r>
          </a:p>
        </p:txBody>
      </p:sp>
      <p:sp>
        <p:nvSpPr>
          <p:cNvPr id="2" name="">
            <a:extLst xmlns:a="http://schemas.openxmlformats.org/drawingml/2006/main">
              <a:ext uri="{FF2B5EF4-FFF2-40B4-BE49-F238E27FC236}">
                <a16:creationId xmlns:a16="http://schemas.microsoft.com/office/drawing/2014/main" id="{BD3EA178-C10F-42D5-9C5A-05525EB9A9C3}"/>
              </a:ext>
            </a:extLst>
          </p:cNvPr>
          <p:cNvSpPr>
            <a:spLocks xmlns:a="http://schemas.openxmlformats.org/drawingml/2006/main" noGrp="1"/>
          </p:cNvSpPr>
          <p:nvPr/>
        </p:nvSpPr>
        <p:spPr>
          <a:xfrm xmlns:a="http://schemas.openxmlformats.org/drawingml/2006/main">
            <a:off x="571500" y="1304925"/>
            <a:ext cx="110490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FB2FE17-5AA3-47DD-A58D-BE1B66782C94}"/>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3"/>
                </a:solidFill>
                <a:latin typeface="Aptos"/>
                <a:ea typeface="Aptos"/>
                <a:cs typeface="Aptos"/>
              </a:defRPr>
            </a:pPr>
            <a:r>
              <a:rPr sz="1050" b="0">
                <a:solidFill>
                  <a:srgbClr val="526573"/>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294222AE-1F33-4B1F-8DEB-E742F29813D2}"/>
              </a:ext>
            </a:extLst>
          </p:cNvPr>
          <p:cNvSpPr>
            <a:spLocks xmlns:a="http://schemas.openxmlformats.org/drawingml/2006/main" noGrp="1"/>
          </p:cNvSpPr>
          <p:nvPr/>
        </p:nvSpPr>
        <p:spPr>
          <a:xfrm xmlns:a="http://schemas.openxmlformats.org/drawingml/2006/main">
            <a:off x="609600" y="16954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8A82798E-58C4-4D18-A49F-A88B900F176F}"/>
              </a:ext>
            </a:extLst>
          </p:cNvPr>
          <p:cNvSpPr>
            <a:spLocks xmlns:a="http://schemas.openxmlformats.org/drawingml/2006/main" noGrp="1"/>
          </p:cNvSpPr>
          <p:nvPr/>
        </p:nvSpPr>
        <p:spPr>
          <a:xfrm xmlns:a="http://schemas.openxmlformats.org/drawingml/2006/main">
            <a:off x="1257300" y="1695450"/>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Draft written: formulation, CAOSD + RCPO, open-loop credit</a:t>
            </a:r>
          </a:p>
        </p:txBody>
      </p:sp>
      <p:sp>
        <p:nvSpPr>
          <p:cNvPr id="6" name="">
            <a:extLst xmlns:a="http://schemas.openxmlformats.org/drawingml/2006/main">
              <a:ext uri="{FF2B5EF4-FFF2-40B4-BE49-F238E27FC236}">
                <a16:creationId xmlns:a16="http://schemas.microsoft.com/office/drawing/2014/main" id="{85EE9537-CDC8-4031-BE13-87A55B2D822A}"/>
              </a:ext>
            </a:extLst>
          </p:cNvPr>
          <p:cNvSpPr>
            <a:spLocks xmlns:a="http://schemas.openxmlformats.org/drawingml/2006/main" noGrp="1"/>
          </p:cNvSpPr>
          <p:nvPr/>
        </p:nvSpPr>
        <p:spPr>
          <a:xfrm xmlns:a="http://schemas.openxmlformats.org/drawingml/2006/main">
            <a:off x="609600" y="2571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81C4B15A-7E13-4974-9616-8EC863B686D1}"/>
              </a:ext>
            </a:extLst>
          </p:cNvPr>
          <p:cNvSpPr>
            <a:spLocks xmlns:a="http://schemas.openxmlformats.org/drawingml/2006/main" noGrp="1"/>
          </p:cNvSpPr>
          <p:nvPr/>
        </p:nvSpPr>
        <p:spPr>
          <a:xfrm xmlns:a="http://schemas.openxmlformats.org/drawingml/2006/main">
            <a:off x="1257300" y="2571750"/>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Completed result tables and return / drawdown figures included</a:t>
            </a:r>
          </a:p>
        </p:txBody>
      </p:sp>
      <p:sp>
        <p:nvSpPr>
          <p:cNvPr id="8" name="">
            <a:extLst xmlns:a="http://schemas.openxmlformats.org/drawingml/2006/main">
              <a:ext uri="{FF2B5EF4-FFF2-40B4-BE49-F238E27FC236}">
                <a16:creationId xmlns:a16="http://schemas.microsoft.com/office/drawing/2014/main" id="{1132392B-B39B-49DF-A739-F8E1C756E930}"/>
              </a:ext>
            </a:extLst>
          </p:cNvPr>
          <p:cNvSpPr>
            <a:spLocks xmlns:a="http://schemas.openxmlformats.org/drawingml/2006/main" noGrp="1"/>
          </p:cNvSpPr>
          <p:nvPr/>
        </p:nvSpPr>
        <p:spPr>
          <a:xfrm xmlns:a="http://schemas.openxmlformats.org/drawingml/2006/main">
            <a:off x="609600" y="34480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9D9EBF61-4A4A-4633-913E-D2520E22672F}"/>
              </a:ext>
            </a:extLst>
          </p:cNvPr>
          <p:cNvSpPr>
            <a:spLocks xmlns:a="http://schemas.openxmlformats.org/drawingml/2006/main" noGrp="1"/>
          </p:cNvSpPr>
          <p:nvPr/>
        </p:nvSpPr>
        <p:spPr>
          <a:xfrm xmlns:a="http://schemas.openxmlformats.org/drawingml/2006/main">
            <a:off x="1257300" y="3448050"/>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Discussion separates evidence, interpretation and remaining limitations</a:t>
            </a:r>
          </a:p>
        </p:txBody>
      </p:sp>
      <p:sp>
        <p:nvSpPr>
          <p:cNvPr id="10" name="">
            <a:extLst xmlns:a="http://schemas.openxmlformats.org/drawingml/2006/main">
              <a:ext uri="{FF2B5EF4-FFF2-40B4-BE49-F238E27FC236}">
                <a16:creationId xmlns:a16="http://schemas.microsoft.com/office/drawing/2014/main" id="{933BBEB7-BD05-4AFA-A2A4-1EA0AA4CB281}"/>
              </a:ext>
            </a:extLst>
          </p:cNvPr>
          <p:cNvSpPr>
            <a:spLocks xmlns:a="http://schemas.openxmlformats.org/drawingml/2006/main" noGrp="1"/>
          </p:cNvSpPr>
          <p:nvPr/>
        </p:nvSpPr>
        <p:spPr>
          <a:xfrm xmlns:a="http://schemas.openxmlformats.org/drawingml/2006/main">
            <a:off x="609600" y="4762500"/>
            <a:ext cx="1090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D83"/>
                </a:solidFill>
                <a:latin typeface="Aptos"/>
                <a:ea typeface="Aptos"/>
                <a:cs typeface="Aptos"/>
              </a:defRPr>
            </a:pPr>
            <a:r>
              <a:rPr sz="1950" b="1">
                <a:solidFill>
                  <a:srgbClr val="176D83"/>
                </a:solidFill>
                <a:latin typeface="Aptos"/>
                <a:ea typeface="Aptos"/>
                <a:cs typeface="Aptos"/>
              </a:rPr>
              <a:t>Requested review: contribution framing, experimental sufficiency, and scope.</a:t>
            </a:r>
          </a:p>
        </p:txBody>
      </p:sp>
    </p:spTree>
    <p:extLst>
      <p:ext uri="{BB962C8B-B14F-4D97-AF65-F5344CB8AC3E}">
        <p14:creationId xmlns:p14="http://schemas.microsoft.com/office/powerpoint/2010/main" val="8656136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4B51B8-51B9-4964-8214-E62ABD3E8BF5}"/>
              </a:ext>
            </a:extLst>
          </p:cNvPr>
          <p:cNvSpPr>
            <a:spLocks xmlns:a="http://schemas.openxmlformats.org/drawingml/2006/main" noGrp="1"/>
          </p:cNvSpPr>
          <p:nvPr/>
        </p:nvSpPr>
        <p:spPr>
          <a:xfrm xmlns:a="http://schemas.openxmlformats.org/drawingml/2006/main">
            <a:off x="571500" y="4381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F3E"/>
                </a:solidFill>
                <a:latin typeface="Aptos"/>
                <a:ea typeface="Aptos"/>
                <a:cs typeface="Aptos"/>
              </a:defRPr>
            </a:pPr>
            <a:r>
              <a:rPr sz="2775" b="1">
                <a:solidFill>
                  <a:srgbClr val="172F3E"/>
                </a:solidFill>
                <a:latin typeface="Aptos"/>
                <a:ea typeface="Aptos"/>
                <a:cs typeface="Aptos"/>
              </a:rPr>
              <a:t>Discussion and next decisions</a:t>
            </a:r>
          </a:p>
        </p:txBody>
      </p:sp>
      <p:sp>
        <p:nvSpPr>
          <p:cNvPr id="2" name="">
            <a:extLst xmlns:a="http://schemas.openxmlformats.org/drawingml/2006/main">
              <a:ext uri="{FF2B5EF4-FFF2-40B4-BE49-F238E27FC236}">
                <a16:creationId xmlns:a16="http://schemas.microsoft.com/office/drawing/2014/main" id="{235E7866-E0AB-4D52-8CCB-DADBF2B801A8}"/>
              </a:ext>
            </a:extLst>
          </p:cNvPr>
          <p:cNvSpPr>
            <a:spLocks xmlns:a="http://schemas.openxmlformats.org/drawingml/2006/main" noGrp="1"/>
          </p:cNvSpPr>
          <p:nvPr/>
        </p:nvSpPr>
        <p:spPr>
          <a:xfrm xmlns:a="http://schemas.openxmlformats.org/drawingml/2006/main">
            <a:off x="571500" y="1304925"/>
            <a:ext cx="110490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CC0489-CBB5-4303-A3AB-C5C50AFB52F9}"/>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3"/>
                </a:solidFill>
                <a:latin typeface="Aptos"/>
                <a:ea typeface="Aptos"/>
                <a:cs typeface="Aptos"/>
              </a:defRPr>
            </a:pPr>
            <a:r>
              <a:rPr sz="1050" b="0">
                <a:solidFill>
                  <a:srgbClr val="526573"/>
                </a:solidFill>
                <a:latin typeface="Aptos"/>
                <a:ea typeface="Aptos"/>
                <a:cs typeface="Aptos"/>
              </a:rPr>
              <a:t>13</a:t>
            </a:r>
          </a:p>
        </p:txBody>
      </p:sp>
      <p:sp>
        <p:nvSpPr>
          <p:cNvPr id="4" name="">
            <a:extLst xmlns:a="http://schemas.openxmlformats.org/drawingml/2006/main">
              <a:ext uri="{FF2B5EF4-FFF2-40B4-BE49-F238E27FC236}">
                <a16:creationId xmlns:a16="http://schemas.microsoft.com/office/drawing/2014/main" id="{B8791A17-4963-43E5-880C-EA9BCA28767D}"/>
              </a:ext>
            </a:extLst>
          </p:cNvPr>
          <p:cNvSpPr>
            <a:spLocks xmlns:a="http://schemas.openxmlformats.org/drawingml/2006/main" noGrp="1"/>
          </p:cNvSpPr>
          <p:nvPr/>
        </p:nvSpPr>
        <p:spPr>
          <a:xfrm xmlns:a="http://schemas.openxmlformats.org/drawingml/2006/main">
            <a:off x="609600" y="17335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E0CE23B6-BFAD-4D51-AA55-43F1EEA50E4D}"/>
              </a:ext>
            </a:extLst>
          </p:cNvPr>
          <p:cNvSpPr>
            <a:spLocks xmlns:a="http://schemas.openxmlformats.org/drawingml/2006/main" noGrp="1"/>
          </p:cNvSpPr>
          <p:nvPr/>
        </p:nvSpPr>
        <p:spPr>
          <a:xfrm xmlns:a="http://schemas.openxmlformats.org/drawingml/2006/main">
            <a:off x="1257300" y="1733550"/>
            <a:ext cx="10001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Is the hybrid design plus controlled credit study a sufficient core contribution?</a:t>
            </a:r>
          </a:p>
        </p:txBody>
      </p:sp>
      <p:sp>
        <p:nvSpPr>
          <p:cNvPr id="6" name="">
            <a:extLst xmlns:a="http://schemas.openxmlformats.org/drawingml/2006/main">
              <a:ext uri="{FF2B5EF4-FFF2-40B4-BE49-F238E27FC236}">
                <a16:creationId xmlns:a16="http://schemas.microsoft.com/office/drawing/2014/main" id="{D2037241-746C-4779-8D77-659C95890AE8}"/>
              </a:ext>
            </a:extLst>
          </p:cNvPr>
          <p:cNvSpPr>
            <a:spLocks xmlns:a="http://schemas.openxmlformats.org/drawingml/2006/main" noGrp="1"/>
          </p:cNvSpPr>
          <p:nvPr/>
        </p:nvSpPr>
        <p:spPr>
          <a:xfrm xmlns:a="http://schemas.openxmlformats.org/drawingml/2006/main">
            <a:off x="609600" y="27146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E07A9F9D-E53B-423A-BDD4-220616F562E2}"/>
              </a:ext>
            </a:extLst>
          </p:cNvPr>
          <p:cNvSpPr>
            <a:spLocks xmlns:a="http://schemas.openxmlformats.org/drawingml/2006/main" noGrp="1"/>
          </p:cNvSpPr>
          <p:nvPr/>
        </p:nvSpPr>
        <p:spPr>
          <a:xfrm xmlns:a="http://schemas.openxmlformats.org/drawingml/2006/main">
            <a:off x="1257300" y="2714625"/>
            <a:ext cx="10001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Prioritise more seeds and friction sensitivity, or a new risk objective?</a:t>
            </a:r>
          </a:p>
        </p:txBody>
      </p:sp>
      <p:sp>
        <p:nvSpPr>
          <p:cNvPr id="8" name="">
            <a:extLst xmlns:a="http://schemas.openxmlformats.org/drawingml/2006/main">
              <a:ext uri="{FF2B5EF4-FFF2-40B4-BE49-F238E27FC236}">
                <a16:creationId xmlns:a16="http://schemas.microsoft.com/office/drawing/2014/main" id="{FFE0457F-D745-4E22-A1DD-F6C2D36D5012}"/>
              </a:ext>
            </a:extLst>
          </p:cNvPr>
          <p:cNvSpPr>
            <a:spLocks xmlns:a="http://schemas.openxmlformats.org/drawingml/2006/main" noGrp="1"/>
          </p:cNvSpPr>
          <p:nvPr/>
        </p:nvSpPr>
        <p:spPr>
          <a:xfrm xmlns:a="http://schemas.openxmlformats.org/drawingml/2006/main">
            <a:off x="609600" y="36957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D83"/>
                </a:solidFill>
                <a:latin typeface="Aptos"/>
                <a:ea typeface="Aptos"/>
                <a:cs typeface="Aptos"/>
              </a:defRPr>
            </a:pPr>
            <a:r>
              <a:rPr sz="1575" b="1">
                <a:solidFill>
                  <a:srgbClr val="176D83"/>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730977C6-D21C-4F1B-8601-EFEB1013AC76}"/>
              </a:ext>
            </a:extLst>
          </p:cNvPr>
          <p:cNvSpPr>
            <a:spLocks xmlns:a="http://schemas.openxmlformats.org/drawingml/2006/main" noGrp="1"/>
          </p:cNvSpPr>
          <p:nvPr/>
        </p:nvSpPr>
        <p:spPr>
          <a:xfrm xmlns:a="http://schemas.openxmlformats.org/drawingml/2006/main">
            <a:off x="1257300" y="3695700"/>
            <a:ext cx="10001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3E"/>
                </a:solidFill>
                <a:latin typeface="Aptos"/>
                <a:ea typeface="Aptos"/>
                <a:cs typeface="Aptos"/>
              </a:defRPr>
            </a:pPr>
            <a:r>
              <a:rPr sz="1950" b="0">
                <a:solidFill>
                  <a:srgbClr val="172F3E"/>
                </a:solidFill>
                <a:latin typeface="Aptos"/>
                <a:ea typeface="Aptos"/>
                <a:cs typeface="Aptos"/>
              </a:rPr>
              <a:t>Keep real-market validation and reward correction as future work?</a:t>
            </a:r>
          </a:p>
        </p:txBody>
      </p:sp>
      <p:sp>
        <p:nvSpPr>
          <p:cNvPr id="10" name="">
            <a:extLst xmlns:a="http://schemas.openxmlformats.org/drawingml/2006/main">
              <a:ext uri="{FF2B5EF4-FFF2-40B4-BE49-F238E27FC236}">
                <a16:creationId xmlns:a16="http://schemas.microsoft.com/office/drawing/2014/main" id="{4263170D-A657-4325-972C-2DC64CDB5549}"/>
              </a:ext>
            </a:extLst>
          </p:cNvPr>
          <p:cNvSpPr>
            <a:spLocks xmlns:a="http://schemas.openxmlformats.org/drawingml/2006/main" noGrp="1"/>
          </p:cNvSpPr>
          <p:nvPr/>
        </p:nvSpPr>
        <p:spPr>
          <a:xfrm xmlns:a="http://schemas.openxmlformats.org/drawingml/2006/main">
            <a:off x="609600" y="5610225"/>
            <a:ext cx="10934700" cy="19050"/>
          </a:xfrm>
          <a:prstGeom xmlns:a="http://schemas.openxmlformats.org/drawingml/2006/main" prst="rect">
            <a:avLst/>
          </a:prstGeom>
          <a:solidFill xmlns:a="http://schemas.openxmlformats.org/drawingml/2006/main">
            <a:srgbClr val="CFDAD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F9E631-8D2A-4160-97F7-86465EF0A8BE}"/>
              </a:ext>
            </a:extLst>
          </p:cNvPr>
          <p:cNvSpPr>
            <a:spLocks xmlns:a="http://schemas.openxmlformats.org/drawingml/2006/main" noGrp="1"/>
          </p:cNvSpPr>
          <p:nvPr/>
        </p:nvSpPr>
        <p:spPr>
          <a:xfrm xmlns:a="http://schemas.openxmlformats.org/drawingml/2006/main">
            <a:off x="609600" y="584835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6D83"/>
                </a:solidFill>
                <a:latin typeface="Aptos"/>
                <a:ea typeface="Aptos"/>
                <a:cs typeface="Aptos"/>
              </a:defRPr>
            </a:pPr>
            <a:r>
              <a:rPr sz="1725" b="1">
                <a:solidFill>
                  <a:srgbClr val="176D83"/>
                </a:solidFill>
                <a:latin typeface="Aptos"/>
                <a:ea typeface="Aptos"/>
                <a:cs typeface="Aptos"/>
              </a:rPr>
              <a:t>Next step: strengthen evidence before enlarging the method.</a:t>
            </a:r>
          </a:p>
        </p:txBody>
      </p:sp>
    </p:spTree>
    <p:extLst>
      <p:ext uri="{BB962C8B-B14F-4D97-AF65-F5344CB8AC3E}">
        <p14:creationId xmlns:p14="http://schemas.microsoft.com/office/powerpoint/2010/main" val="17706101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2026-09-13T19:49:36.4320000Z</dcterms:created>
  <dcterms:modified xsi:type="dcterms:W3CDTF">2026-09-13T19:49:36.4320000Z</dcterms:modified>
</coreProperties>
</file>